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Світлий стиль 2 –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 smtClean="0"/>
              <a:t>Клацніть, щоб редагувати стиль зразка підзаголовка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122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’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710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3702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454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820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53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296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4350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 smtClean="0"/>
              <a:t>Редагувати стиль зразка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999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488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0230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Редагувати стиль зразка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П’ятий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532A-9542-42E7-A7DC-258F7AF78660}" type="datetimeFigureOut">
              <a:rPr lang="uk-UA" smtClean="0"/>
              <a:t>26.06.2023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9FF8D-E598-497D-9CA0-DFCBE5741148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882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9884" y="1370506"/>
            <a:ext cx="11631561" cy="2827868"/>
          </a:xfrm>
        </p:spPr>
        <p:txBody>
          <a:bodyPr>
            <a:normAutofit/>
          </a:bodyPr>
          <a:lstStyle/>
          <a:p>
            <a:r>
              <a:rPr lang="uk-UA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Бакалаврська кваліфікаційна робота на тему</a:t>
            </a:r>
            <a:r>
              <a:rPr lang="uk-UA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«</a:t>
            </a:r>
            <a:r>
              <a:rPr lang="ru-RU" sz="3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Розроблення</a:t>
            </a:r>
            <a:r>
              <a:rPr lang="ru-RU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мобільного</a:t>
            </a:r>
            <a:r>
              <a:rPr lang="ru-RU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lang="ru-RU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3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каталогу </a:t>
            </a:r>
            <a:r>
              <a:rPr lang="ru-RU" sz="3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бібліотеки</a:t>
            </a:r>
            <a:r>
              <a:rPr lang="ru-RU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sz="3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колекції</a:t>
            </a:r>
            <a:r>
              <a:rPr lang="ru-RU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рецензій</a:t>
            </a:r>
            <a:r>
              <a:rPr lang="uk-UA" sz="3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uk-UA" sz="3800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475463" y="5155533"/>
            <a:ext cx="3696930" cy="1422246"/>
          </a:xfrm>
          <a:solidFill>
            <a:schemeClr val="bg1">
              <a:alpha val="57000"/>
            </a:schemeClr>
          </a:solidFill>
          <a:effectLst>
            <a:softEdge rad="38100"/>
          </a:effectLst>
        </p:spPr>
        <p:txBody>
          <a:bodyPr/>
          <a:lstStyle/>
          <a:p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групи 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КН-409</a:t>
            </a:r>
          </a:p>
          <a:p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Мельник Павло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805" y="96716"/>
            <a:ext cx="2274056" cy="2157757"/>
          </a:xfrm>
          <a:prstGeom prst="rect">
            <a:avLst/>
          </a:prstGeom>
          <a:blipFill>
            <a:blip r:embed="rId5"/>
            <a:tile tx="0" ty="0" sx="100000" sy="100000" flip="none" algn="tl"/>
          </a:blipFill>
        </p:spPr>
      </p:pic>
      <p:sp>
        <p:nvSpPr>
          <p:cNvPr id="5" name="Підзаголовок 2"/>
          <p:cNvSpPr txBox="1">
            <a:spLocks/>
          </p:cNvSpPr>
          <p:nvPr/>
        </p:nvSpPr>
        <p:spPr>
          <a:xfrm>
            <a:off x="7423352" y="5155533"/>
            <a:ext cx="4606415" cy="1422246"/>
          </a:xfrm>
          <a:prstGeom prst="rect">
            <a:avLst/>
          </a:prstGeom>
          <a:solidFill>
            <a:schemeClr val="bg1">
              <a:alpha val="57000"/>
            </a:schemeClr>
          </a:solidFill>
          <a:effectLst>
            <a:softEdge rad="38100"/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</a:t>
            </a:r>
          </a:p>
          <a:p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систент каф. САП</a:t>
            </a:r>
          </a:p>
          <a:p>
            <a:r>
              <a:rPr lang="uk-UA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Іванина</a:t>
            </a:r>
            <a:r>
              <a:rPr lang="uk-UA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Василь Васильович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19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838200" y="2474553"/>
            <a:ext cx="10744200" cy="334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каталогу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колекції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рецензій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Об'єкт</a:t>
            </a:r>
            <a:r>
              <a:rPr lang="ru-RU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застосунок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каталогу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колекції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рецензій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</a:t>
            </a:r>
            <a:r>
              <a:rPr lang="ru-RU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функціонал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дизайн та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реалізація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мобільного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застосунку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створення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каталогу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бібліотеки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та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колекції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рецензій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33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838200" y="2936669"/>
            <a:ext cx="10744200" cy="2333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більше людей, особливо книголюбів, шукають спеціалізовані соціальні платформи та застосунки, які надають можливість обміну рецензіями на книги, створенню персонального каталогу бібліотеки та відстеженню книжкових новинок. </a:t>
            </a:r>
          </a:p>
        </p:txBody>
      </p:sp>
      <p:pic>
        <p:nvPicPr>
          <p:cNvPr id="1026" name="Picture 2" descr="Book Lover PNG, Vector, PSD, and Clipart With Transparent Background for  Free Download | Png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024" y="4404852"/>
            <a:ext cx="4361150" cy="2453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51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0813" y="24130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аналогів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я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33796"/>
              </p:ext>
            </p:extLst>
          </p:nvPr>
        </p:nvGraphicFramePr>
        <p:xfrm>
          <a:off x="1230813" y="1690688"/>
          <a:ext cx="10122987" cy="393340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{17292A2E-F333-43FB-9621-5CBBE7FDCDCB}</a:tableStyleId>
              </a:tblPr>
              <a:tblGrid>
                <a:gridCol w="1909212">
                  <a:extLst>
                    <a:ext uri="{9D8B030D-6E8A-4147-A177-3AD203B41FA5}">
                      <a16:colId xmlns:a16="http://schemas.microsoft.com/office/drawing/2014/main" val="3979460040"/>
                    </a:ext>
                  </a:extLst>
                </a:gridCol>
                <a:gridCol w="1252536">
                  <a:extLst>
                    <a:ext uri="{9D8B030D-6E8A-4147-A177-3AD203B41FA5}">
                      <a16:colId xmlns:a16="http://schemas.microsoft.com/office/drawing/2014/main" val="655844459"/>
                    </a:ext>
                  </a:extLst>
                </a:gridCol>
                <a:gridCol w="953729">
                  <a:extLst>
                    <a:ext uri="{9D8B030D-6E8A-4147-A177-3AD203B41FA5}">
                      <a16:colId xmlns:a16="http://schemas.microsoft.com/office/drawing/2014/main" val="3828228082"/>
                    </a:ext>
                  </a:extLst>
                </a:gridCol>
                <a:gridCol w="1386348">
                  <a:extLst>
                    <a:ext uri="{9D8B030D-6E8A-4147-A177-3AD203B41FA5}">
                      <a16:colId xmlns:a16="http://schemas.microsoft.com/office/drawing/2014/main" val="3936222569"/>
                    </a:ext>
                  </a:extLst>
                </a:gridCol>
                <a:gridCol w="1730478">
                  <a:extLst>
                    <a:ext uri="{9D8B030D-6E8A-4147-A177-3AD203B41FA5}">
                      <a16:colId xmlns:a16="http://schemas.microsoft.com/office/drawing/2014/main" val="2782445699"/>
                    </a:ext>
                  </a:extLst>
                </a:gridCol>
                <a:gridCol w="1558271">
                  <a:extLst>
                    <a:ext uri="{9D8B030D-6E8A-4147-A177-3AD203B41FA5}">
                      <a16:colId xmlns:a16="http://schemas.microsoft.com/office/drawing/2014/main" val="2144361184"/>
                    </a:ext>
                  </a:extLst>
                </a:gridCol>
                <a:gridCol w="1332413">
                  <a:extLst>
                    <a:ext uri="{9D8B030D-6E8A-4147-A177-3AD203B41FA5}">
                      <a16:colId xmlns:a16="http://schemas.microsoft.com/office/drawing/2014/main" val="3714845361"/>
                    </a:ext>
                  </a:extLst>
                </a:gridCol>
              </a:tblGrid>
              <a:tr h="10104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900" dirty="0">
                          <a:effectLst/>
                        </a:rPr>
                        <a:t> 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Створення каталогу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книг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Пошук </a:t>
                      </a:r>
                      <a:r>
                        <a:rPr lang="uk-UA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книг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Розрахунок статистики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Перенесення </a:t>
                      </a:r>
                      <a:r>
                        <a:rPr lang="uk-UA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даних</a:t>
                      </a:r>
                      <a:r>
                        <a:rPr lang="uk-UA" sz="16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k-UA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між</a:t>
                      </a:r>
                    </a:p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пристроями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Взаємодія між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користувачами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905" indent="-1905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Створення рецензій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24776433"/>
                  </a:ext>
                </a:extLst>
              </a:tr>
              <a:tr h="6658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Моя </a:t>
                      </a:r>
                      <a:r>
                        <a:rPr lang="uk-UA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бібліотека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05001684"/>
                  </a:ext>
                </a:extLst>
              </a:tr>
              <a:tr h="37734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spc="-1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BookLover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1910227"/>
                  </a:ext>
                </a:extLst>
              </a:tr>
              <a:tr h="86932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spc="-1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OpenLibrary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85532574"/>
                  </a:ext>
                </a:extLst>
              </a:tr>
              <a:tr h="10104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Книгарня "Старого Лева"</a:t>
                      </a:r>
                      <a:endParaRPr lang="uk-UA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uk-UA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lang="uk-UA" sz="2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6356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349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7656" y="142970"/>
            <a:ext cx="9648722" cy="1325563"/>
          </a:xfrm>
        </p:spPr>
        <p:txBody>
          <a:bodyPr>
            <a:no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Методологія і засоби розробки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t="19112" r="8449" b="14036"/>
          <a:stretch/>
        </p:blipFill>
        <p:spPr>
          <a:xfrm>
            <a:off x="2476541" y="1986763"/>
            <a:ext cx="9256790" cy="4020337"/>
          </a:xfrm>
          <a:prstGeom prst="rect">
            <a:avLst/>
          </a:prstGeom>
        </p:spPr>
      </p:pic>
      <p:sp>
        <p:nvSpPr>
          <p:cNvPr id="9" name="Прямокутник 8"/>
          <p:cNvSpPr/>
          <p:nvPr/>
        </p:nvSpPr>
        <p:spPr>
          <a:xfrm>
            <a:off x="4454013" y="1563309"/>
            <a:ext cx="50832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Rapid Application Development Model</a:t>
            </a:r>
            <a:endParaRPr lang="uk-UA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Файл:Kotlin logo.svg — Вікіпеді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40" y="4561709"/>
            <a:ext cx="1818515" cy="404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beginners guide to Gradle. I have a love hate relationship with… | by  Andrew MacMurray | Mediu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447" y="5062333"/>
            <a:ext cx="2198416" cy="887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Групувати 9"/>
          <p:cNvGrpSpPr/>
          <p:nvPr/>
        </p:nvGrpSpPr>
        <p:grpSpPr>
          <a:xfrm>
            <a:off x="1979882" y="5885290"/>
            <a:ext cx="2036839" cy="830997"/>
            <a:chOff x="1878282" y="5891796"/>
            <a:chExt cx="2036839" cy="830997"/>
          </a:xfrm>
        </p:grpSpPr>
        <p:pic>
          <p:nvPicPr>
            <p:cNvPr id="3080" name="Picture 8" descr="android studio&quot; Icon - Download for free – Iconduck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8282" y="5949767"/>
              <a:ext cx="678745" cy="715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Прямокутник 14"/>
            <p:cNvSpPr/>
            <p:nvPr/>
          </p:nvSpPr>
          <p:spPr>
            <a:xfrm>
              <a:off x="2623549" y="5891796"/>
              <a:ext cx="1291572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Android</a:t>
              </a:r>
            </a:p>
            <a:p>
              <a:r>
                <a:rPr lang="en-US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446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1490" y="3257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Архітектура розроблюваного ПЗ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кутник 5"/>
          <p:cNvSpPr/>
          <p:nvPr/>
        </p:nvSpPr>
        <p:spPr>
          <a:xfrm>
            <a:off x="4217931" y="6284308"/>
            <a:ext cx="45427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Шаблон проєктування </a:t>
            </a:r>
            <a:r>
              <a:rPr lang="en-US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MVVM </a:t>
            </a:r>
            <a:endParaRPr lang="uk-UA" sz="2400" b="1" i="1" dirty="0"/>
          </a:p>
        </p:txBody>
      </p:sp>
      <p:grpSp>
        <p:nvGrpSpPr>
          <p:cNvPr id="8" name="Групувати 7"/>
          <p:cNvGrpSpPr/>
          <p:nvPr/>
        </p:nvGrpSpPr>
        <p:grpSpPr>
          <a:xfrm>
            <a:off x="2896459" y="1828140"/>
            <a:ext cx="7185661" cy="4243705"/>
            <a:chOff x="0" y="0"/>
            <a:chExt cx="7185909" cy="4244295"/>
          </a:xfrm>
        </p:grpSpPr>
        <p:grpSp>
          <p:nvGrpSpPr>
            <p:cNvPr id="9" name="Групувати 8"/>
            <p:cNvGrpSpPr/>
            <p:nvPr/>
          </p:nvGrpSpPr>
          <p:grpSpPr>
            <a:xfrm>
              <a:off x="2262215" y="0"/>
              <a:ext cx="2345055" cy="1359535"/>
              <a:chOff x="0" y="0"/>
              <a:chExt cx="2345082" cy="1359673"/>
            </a:xfrm>
          </p:grpSpPr>
          <p:sp>
            <p:nvSpPr>
              <p:cNvPr id="44" name="Округлений прямокутник 43"/>
              <p:cNvSpPr/>
              <p:nvPr/>
            </p:nvSpPr>
            <p:spPr>
              <a:xfrm>
                <a:off x="0" y="0"/>
                <a:ext cx="2345082" cy="1359673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uk-UA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Округлений прямокутник 44"/>
              <p:cNvSpPr/>
              <p:nvPr/>
            </p:nvSpPr>
            <p:spPr>
              <a:xfrm>
                <a:off x="469123" y="532684"/>
                <a:ext cx="1351726" cy="612251"/>
              </a:xfrm>
              <a:prstGeom prst="roundRect">
                <a:avLst/>
              </a:prstGeom>
              <a:solidFill>
                <a:srgbClr val="D6AAD6"/>
              </a:solidFill>
              <a:ln>
                <a:solidFill>
                  <a:srgbClr val="AF59AF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uk-UA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Текстове поле 2"/>
              <p:cNvSpPr txBox="1">
                <a:spLocks noChangeArrowheads="1"/>
              </p:cNvSpPr>
              <p:nvPr/>
            </p:nvSpPr>
            <p:spPr bwMode="auto">
              <a:xfrm>
                <a:off x="675861" y="111319"/>
                <a:ext cx="1049020" cy="41338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ViewModel</a:t>
                </a:r>
                <a:endParaRPr lang="uk-UA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Текстове поле 2"/>
              <p:cNvSpPr txBox="1">
                <a:spLocks noChangeArrowheads="1"/>
              </p:cNvSpPr>
              <p:nvPr/>
            </p:nvSpPr>
            <p:spPr bwMode="auto">
              <a:xfrm>
                <a:off x="771277" y="675869"/>
                <a:ext cx="866140" cy="35750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LiveData</a:t>
                </a:r>
                <a:endParaRPr lang="uk-UA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grpSp>
          <p:nvGrpSpPr>
            <p:cNvPr id="10" name="Групувати 9"/>
            <p:cNvGrpSpPr/>
            <p:nvPr/>
          </p:nvGrpSpPr>
          <p:grpSpPr>
            <a:xfrm>
              <a:off x="0" y="2193502"/>
              <a:ext cx="3196424" cy="1359535"/>
              <a:chOff x="0" y="0"/>
              <a:chExt cx="3196424" cy="1359535"/>
            </a:xfrm>
          </p:grpSpPr>
          <p:sp>
            <p:nvSpPr>
              <p:cNvPr id="36" name="Округлений прямокутник 35"/>
              <p:cNvSpPr/>
              <p:nvPr/>
            </p:nvSpPr>
            <p:spPr>
              <a:xfrm>
                <a:off x="0" y="0"/>
                <a:ext cx="3196424" cy="1359535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2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uk-UA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Текстове поле 2"/>
              <p:cNvSpPr txBox="1">
                <a:spLocks noChangeArrowheads="1"/>
              </p:cNvSpPr>
              <p:nvPr/>
            </p:nvSpPr>
            <p:spPr bwMode="auto">
              <a:xfrm>
                <a:off x="1343770" y="47708"/>
                <a:ext cx="620201" cy="41338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14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View</a:t>
                </a:r>
                <a:endParaRPr lang="uk-UA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8" name="Групувати 37"/>
              <p:cNvGrpSpPr/>
              <p:nvPr/>
            </p:nvGrpSpPr>
            <p:grpSpPr>
              <a:xfrm>
                <a:off x="230588" y="500932"/>
                <a:ext cx="1510665" cy="612140"/>
                <a:chOff x="-7951" y="0"/>
                <a:chExt cx="1510748" cy="612140"/>
              </a:xfrm>
            </p:grpSpPr>
            <p:sp>
              <p:nvSpPr>
                <p:cNvPr id="42" name="Округлений прямокутник 41"/>
                <p:cNvSpPr/>
                <p:nvPr/>
              </p:nvSpPr>
              <p:spPr>
                <a:xfrm>
                  <a:off x="0" y="0"/>
                  <a:ext cx="1470992" cy="612140"/>
                </a:xfrm>
                <a:prstGeom prst="roundRect">
                  <a:avLst/>
                </a:prstGeom>
                <a:solidFill>
                  <a:srgbClr val="D6AAD6"/>
                </a:solidFill>
                <a:ln>
                  <a:solidFill>
                    <a:srgbClr val="AF59AF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2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Текстове поле 2"/>
                <p:cNvSpPr txBox="1">
                  <a:spLocks noChangeArrowheads="1"/>
                </p:cNvSpPr>
                <p:nvPr/>
              </p:nvSpPr>
              <p:spPr bwMode="auto">
                <a:xfrm>
                  <a:off x="-7951" y="127222"/>
                  <a:ext cx="1510748" cy="3575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4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Activity/Fragment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uk-UA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</p:grpSp>
          <p:grpSp>
            <p:nvGrpSpPr>
              <p:cNvPr id="39" name="Групувати 38"/>
              <p:cNvGrpSpPr/>
              <p:nvPr/>
            </p:nvGrpSpPr>
            <p:grpSpPr>
              <a:xfrm>
                <a:off x="1908313" y="500932"/>
                <a:ext cx="1073150" cy="612140"/>
                <a:chOff x="0" y="0"/>
                <a:chExt cx="1470992" cy="612140"/>
              </a:xfrm>
            </p:grpSpPr>
            <p:sp>
              <p:nvSpPr>
                <p:cNvPr id="40" name="Округлений прямокутник 39"/>
                <p:cNvSpPr/>
                <p:nvPr/>
              </p:nvSpPr>
              <p:spPr>
                <a:xfrm>
                  <a:off x="0" y="0"/>
                  <a:ext cx="1470992" cy="612140"/>
                </a:xfrm>
                <a:prstGeom prst="roundRect">
                  <a:avLst/>
                </a:prstGeom>
                <a:solidFill>
                  <a:srgbClr val="D6AAD6"/>
                </a:solidFill>
                <a:ln>
                  <a:solidFill>
                    <a:srgbClr val="AF59AF"/>
                  </a:solidFill>
                </a:ln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2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Текстове поле 2"/>
                <p:cNvSpPr txBox="1">
                  <a:spLocks noChangeArrowheads="1"/>
                </p:cNvSpPr>
                <p:nvPr/>
              </p:nvSpPr>
              <p:spPr bwMode="auto">
                <a:xfrm>
                  <a:off x="364574" y="135173"/>
                  <a:ext cx="953871" cy="3575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4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XML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1" name="Групувати 10"/>
            <p:cNvGrpSpPr/>
            <p:nvPr/>
          </p:nvGrpSpPr>
          <p:grpSpPr>
            <a:xfrm>
              <a:off x="3990589" y="1797086"/>
              <a:ext cx="3195320" cy="2447209"/>
              <a:chOff x="0" y="0"/>
              <a:chExt cx="3195320" cy="2447209"/>
            </a:xfrm>
          </p:grpSpPr>
          <p:grpSp>
            <p:nvGrpSpPr>
              <p:cNvPr id="24" name="Групувати 23"/>
              <p:cNvGrpSpPr/>
              <p:nvPr/>
            </p:nvGrpSpPr>
            <p:grpSpPr>
              <a:xfrm>
                <a:off x="0" y="0"/>
                <a:ext cx="3195320" cy="2447209"/>
                <a:chOff x="0" y="0"/>
                <a:chExt cx="3195320" cy="2447209"/>
              </a:xfrm>
            </p:grpSpPr>
            <p:sp>
              <p:nvSpPr>
                <p:cNvPr id="27" name="Округлений прямокутник 26"/>
                <p:cNvSpPr/>
                <p:nvPr/>
              </p:nvSpPr>
              <p:spPr>
                <a:xfrm>
                  <a:off x="0" y="0"/>
                  <a:ext cx="3195320" cy="2447209"/>
                </a:xfrm>
                <a:prstGeom prst="roundRect">
                  <a:avLst/>
                </a:prstGeom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200" b="1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 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Текстове поле 2"/>
                <p:cNvSpPr txBox="1">
                  <a:spLocks noChangeArrowheads="1"/>
                </p:cNvSpPr>
                <p:nvPr/>
              </p:nvSpPr>
              <p:spPr bwMode="auto">
                <a:xfrm>
                  <a:off x="1280160" y="58495"/>
                  <a:ext cx="803275" cy="41338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en-US" sz="14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Model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29" name="Групувати 28"/>
                <p:cNvGrpSpPr/>
                <p:nvPr/>
              </p:nvGrpSpPr>
              <p:grpSpPr>
                <a:xfrm>
                  <a:off x="307239" y="1068019"/>
                  <a:ext cx="1144237" cy="611887"/>
                  <a:chOff x="-34" y="0"/>
                  <a:chExt cx="1144573" cy="612140"/>
                </a:xfrm>
              </p:grpSpPr>
              <p:sp>
                <p:nvSpPr>
                  <p:cNvPr id="34" name="Округлений прямокутник 33"/>
                  <p:cNvSpPr/>
                  <p:nvPr/>
                </p:nvSpPr>
                <p:spPr>
                  <a:xfrm>
                    <a:off x="-34" y="0"/>
                    <a:ext cx="1041713" cy="612140"/>
                  </a:xfrm>
                  <a:prstGeom prst="roundRect">
                    <a:avLst/>
                  </a:prstGeom>
                  <a:ln/>
                </p:spPr>
                <p:style>
                  <a:lnRef idx="1">
                    <a:schemeClr val="accent5"/>
                  </a:lnRef>
                  <a:fillRef idx="2">
                    <a:schemeClr val="accent5"/>
                  </a:fillRef>
                  <a:effectRef idx="1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 </a:t>
                    </a:r>
                    <a:endParaRPr lang="uk-UA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" name="Текстове поле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165" y="135173"/>
                    <a:ext cx="1097374" cy="3575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en-US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Repository</a:t>
                    </a:r>
                    <a:endParaRPr lang="uk-UA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:r>
                      <a:rPr lang="uk-UA" sz="1100"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</p:grpSp>
            <p:sp>
              <p:nvSpPr>
                <p:cNvPr id="30" name="Блок-схема: магнітний диск 29"/>
                <p:cNvSpPr/>
                <p:nvPr/>
              </p:nvSpPr>
              <p:spPr>
                <a:xfrm>
                  <a:off x="2070202" y="416966"/>
                  <a:ext cx="745263" cy="882687"/>
                </a:xfrm>
                <a:prstGeom prst="flowChartMagneticDisk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uk-UA"/>
                </a:p>
              </p:txBody>
            </p:sp>
            <p:sp>
              <p:nvSpPr>
                <p:cNvPr id="31" name="Текстове поле 2"/>
                <p:cNvSpPr txBox="1">
                  <a:spLocks noChangeArrowheads="1"/>
                </p:cNvSpPr>
                <p:nvPr/>
              </p:nvSpPr>
              <p:spPr bwMode="auto">
                <a:xfrm>
                  <a:off x="2231136" y="782726"/>
                  <a:ext cx="466765" cy="35735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uk-UA" sz="14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БД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Хмара 31"/>
                <p:cNvSpPr/>
                <p:nvPr/>
              </p:nvSpPr>
              <p:spPr>
                <a:xfrm>
                  <a:off x="2011680" y="1653235"/>
                  <a:ext cx="993683" cy="623694"/>
                </a:xfrm>
                <a:prstGeom prst="cloud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uk-UA"/>
                </a:p>
              </p:txBody>
            </p:sp>
            <p:sp>
              <p:nvSpPr>
                <p:cNvPr id="33" name="Текстове поле 2"/>
                <p:cNvSpPr txBox="1">
                  <a:spLocks noChangeArrowheads="1"/>
                </p:cNvSpPr>
                <p:nvPr/>
              </p:nvSpPr>
              <p:spPr bwMode="auto">
                <a:xfrm>
                  <a:off x="2106778" y="1792224"/>
                  <a:ext cx="791210" cy="35750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>
                    <a:lnSpc>
                      <a:spcPct val="107000"/>
                    </a:lnSpc>
                    <a:spcAft>
                      <a:spcPts val="800"/>
                    </a:spcAft>
                  </a:pPr>
                  <a:r>
                    <a:rPr lang="uk-UA" sz="14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Мережа</a:t>
                  </a:r>
                  <a:endParaRPr lang="uk-UA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25" name="Заокруглена сполучна лінія 24"/>
              <p:cNvCxnSpPr/>
              <p:nvPr/>
            </p:nvCxnSpPr>
            <p:spPr>
              <a:xfrm flipV="1">
                <a:off x="1340746" y="841472"/>
                <a:ext cx="729456" cy="493664"/>
              </a:xfrm>
              <a:prstGeom prst="curvedConnector3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6" name="Заокруглена сполучна лінія 25"/>
              <p:cNvCxnSpPr/>
              <p:nvPr/>
            </p:nvCxnSpPr>
            <p:spPr>
              <a:xfrm>
                <a:off x="1357576" y="1503430"/>
                <a:ext cx="661958" cy="448786"/>
              </a:xfrm>
              <a:prstGeom prst="curvedConnector3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12" name="Пряма сполучна лінія 11"/>
            <p:cNvCxnSpPr/>
            <p:nvPr/>
          </p:nvCxnSpPr>
          <p:spPr>
            <a:xfrm>
              <a:off x="4608999" y="406987"/>
              <a:ext cx="144317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Пряма зі стрілкою 12"/>
            <p:cNvCxnSpPr/>
            <p:nvPr/>
          </p:nvCxnSpPr>
          <p:spPr>
            <a:xfrm flipH="1">
              <a:off x="6051954" y="401701"/>
              <a:ext cx="448" cy="139168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Пряма сполучна лінія 13"/>
            <p:cNvCxnSpPr/>
            <p:nvPr/>
          </p:nvCxnSpPr>
          <p:spPr>
            <a:xfrm flipV="1">
              <a:off x="5354261" y="893257"/>
              <a:ext cx="0" cy="90247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Пряма зі стрілкою 14"/>
            <p:cNvCxnSpPr/>
            <p:nvPr/>
          </p:nvCxnSpPr>
          <p:spPr>
            <a:xfrm flipH="1">
              <a:off x="4608999" y="898543"/>
              <a:ext cx="743447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6" name="Текстове поле 2"/>
            <p:cNvSpPr txBox="1">
              <a:spLocks noChangeArrowheads="1"/>
            </p:cNvSpPr>
            <p:nvPr/>
          </p:nvSpPr>
          <p:spPr bwMode="auto">
            <a:xfrm rot="19723626">
              <a:off x="1025396" y="702978"/>
              <a:ext cx="1140488" cy="2562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uk-UA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Повідомлення</a:t>
              </a:r>
              <a:endParaRPr lang="uk-UA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Текстове поле 2"/>
            <p:cNvSpPr txBox="1">
              <a:spLocks noChangeArrowheads="1"/>
            </p:cNvSpPr>
            <p:nvPr/>
          </p:nvSpPr>
          <p:spPr bwMode="auto">
            <a:xfrm rot="1916015">
              <a:off x="5237979" y="21142"/>
              <a:ext cx="1140488" cy="44212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uk-UA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Оновлення моделі</a:t>
              </a:r>
              <a:endParaRPr lang="uk-UA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Текстове поле 2"/>
            <p:cNvSpPr txBox="1">
              <a:spLocks noChangeArrowheads="1"/>
            </p:cNvSpPr>
            <p:nvPr/>
          </p:nvSpPr>
          <p:spPr bwMode="auto">
            <a:xfrm rot="19722028">
              <a:off x="206136" y="258991"/>
              <a:ext cx="1261068" cy="47227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uk-UA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Життєвий цикл і команди</a:t>
              </a:r>
              <a:endParaRPr lang="uk-UA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Текстове поле 2"/>
            <p:cNvSpPr txBox="1">
              <a:spLocks noChangeArrowheads="1"/>
            </p:cNvSpPr>
            <p:nvPr/>
          </p:nvSpPr>
          <p:spPr bwMode="auto">
            <a:xfrm rot="2090911">
              <a:off x="4852134" y="718834"/>
              <a:ext cx="1140488" cy="25623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uk-UA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Повідомлення</a:t>
              </a:r>
              <a:endParaRPr lang="uk-UA" sz="1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Пряма сполучна лінія 19"/>
            <p:cNvCxnSpPr/>
            <p:nvPr/>
          </p:nvCxnSpPr>
          <p:spPr>
            <a:xfrm flipH="1">
              <a:off x="1041253" y="375273"/>
              <a:ext cx="12209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Пряма зі стрілкою 20"/>
            <p:cNvCxnSpPr/>
            <p:nvPr/>
          </p:nvCxnSpPr>
          <p:spPr>
            <a:xfrm>
              <a:off x="1041253" y="380559"/>
              <a:ext cx="0" cy="181294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Пряма сполучна лінія 21"/>
            <p:cNvCxnSpPr/>
            <p:nvPr/>
          </p:nvCxnSpPr>
          <p:spPr>
            <a:xfrm flipV="1">
              <a:off x="1638520" y="930256"/>
              <a:ext cx="0" cy="126322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Пряма зі стрілкою 22"/>
            <p:cNvCxnSpPr/>
            <p:nvPr/>
          </p:nvCxnSpPr>
          <p:spPr>
            <a:xfrm>
              <a:off x="1633234" y="935542"/>
              <a:ext cx="639552" cy="0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480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20157" y="0"/>
            <a:ext cx="6791632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Результати</a:t>
            </a:r>
            <a:endParaRPr lang="uk-UA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746" y="1319004"/>
            <a:ext cx="2398455" cy="532990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942" y="1319004"/>
            <a:ext cx="2401407" cy="533646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286" y="1314631"/>
            <a:ext cx="2400424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4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uk-UA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Висновки</a:t>
            </a:r>
            <a:endParaRPr lang="uk-UA" sz="5400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2070920" y="1491327"/>
            <a:ext cx="8620433" cy="5047124"/>
          </a:xfrm>
        </p:spPr>
        <p:txBody>
          <a:bodyPr>
            <a:normAutofit/>
          </a:bodyPr>
          <a:lstStyle/>
          <a:p>
            <a:r>
              <a:rPr lang="uk-UA" dirty="0" smtClean="0"/>
              <a:t>Проведено </a:t>
            </a:r>
            <a:r>
              <a:rPr lang="uk-UA" dirty="0"/>
              <a:t>дослідження предметної області та аналіз існуючих </a:t>
            </a:r>
            <a:r>
              <a:rPr lang="uk-UA" dirty="0" smtClean="0"/>
              <a:t>рішень;</a:t>
            </a:r>
          </a:p>
          <a:p>
            <a:r>
              <a:rPr lang="uk-UA" dirty="0" smtClean="0"/>
              <a:t>Сформовано </a:t>
            </a:r>
            <a:r>
              <a:rPr lang="uk-UA" dirty="0"/>
              <a:t>вимоги до програмного забезпечення та обрано методологію </a:t>
            </a:r>
            <a:r>
              <a:rPr lang="uk-UA" dirty="0" smtClean="0"/>
              <a:t>розробки; </a:t>
            </a:r>
          </a:p>
          <a:p>
            <a:r>
              <a:rPr lang="uk-UA" dirty="0" smtClean="0"/>
              <a:t>Вивчено </a:t>
            </a:r>
            <a:r>
              <a:rPr lang="uk-UA" dirty="0"/>
              <a:t>засоби розробки для операційної системи </a:t>
            </a:r>
            <a:r>
              <a:rPr lang="uk-UA" dirty="0" err="1" smtClean="0"/>
              <a:t>Android</a:t>
            </a:r>
            <a:r>
              <a:rPr lang="uk-UA" dirty="0"/>
              <a:t>;</a:t>
            </a:r>
            <a:endParaRPr lang="uk-UA" dirty="0" smtClean="0"/>
          </a:p>
          <a:p>
            <a:r>
              <a:rPr lang="uk-UA" dirty="0" smtClean="0"/>
              <a:t>Розібрано </a:t>
            </a:r>
            <a:r>
              <a:rPr lang="uk-UA" dirty="0"/>
              <a:t>принцип роботи архітектури програмного </a:t>
            </a:r>
            <a:r>
              <a:rPr lang="uk-UA" dirty="0" smtClean="0"/>
              <a:t>забезпечення</a:t>
            </a:r>
            <a:r>
              <a:rPr lang="uk-UA" dirty="0"/>
              <a:t>;</a:t>
            </a:r>
            <a:endParaRPr lang="uk-UA" dirty="0" smtClean="0"/>
          </a:p>
          <a:p>
            <a:r>
              <a:rPr lang="uk-UA" dirty="0" smtClean="0"/>
              <a:t>Розроблено </a:t>
            </a:r>
            <a:r>
              <a:rPr lang="uk-UA" dirty="0"/>
              <a:t>мобільний застосунок, відповідно до поставлених вимог</a:t>
            </a:r>
            <a:r>
              <a:rPr lang="uk-UA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742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ownload Work Transparent HQ PNG Image | FreePNGIm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0269" y="970938"/>
            <a:ext cx="4594123" cy="4594123"/>
          </a:xfrm>
          <a:prstGeom prst="rect">
            <a:avLst/>
          </a:prstGeom>
          <a:noFill/>
          <a:effectLst>
            <a:outerShdw blurRad="50800" dist="127000" dir="5400000" algn="ctr" rotWithShape="0">
              <a:schemeClr val="tx1">
                <a:lumMod val="85000"/>
                <a:lumOff val="15000"/>
                <a:alpha val="94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кутник 3"/>
          <p:cNvSpPr/>
          <p:nvPr/>
        </p:nvSpPr>
        <p:spPr>
          <a:xfrm>
            <a:off x="2642025" y="1130316"/>
            <a:ext cx="6910610" cy="1200329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1">
                <a:lumMod val="65000"/>
              </a:schemeClr>
            </a:outerShdw>
          </a:effectLst>
        </p:spPr>
        <p:txBody>
          <a:bodyPr wrap="non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uk-UA" sz="7200" b="1" dirty="0" smtClean="0">
                <a:ln/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увагу!</a:t>
            </a:r>
            <a:endParaRPr lang="uk-UA" sz="7200" b="1" dirty="0">
              <a:ln/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08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241</Words>
  <Application>Microsoft Office PowerPoint</Application>
  <PresentationFormat>Широкий екран</PresentationFormat>
  <Paragraphs>89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Бакалаврська кваліфікаційна робота на тему: «Розроблення мобільного застосунку для створення каталогу бібліотеки та колекції рецензій»</vt:lpstr>
      <vt:lpstr>Мета роботи</vt:lpstr>
      <vt:lpstr>Актуальність</vt:lpstr>
      <vt:lpstr>Аналіз аналогів</vt:lpstr>
      <vt:lpstr>Методологія і засоби розробки</vt:lpstr>
      <vt:lpstr>Архітектура розроблюваного ПЗ</vt:lpstr>
      <vt:lpstr>Результати</vt:lpstr>
      <vt:lpstr>Висновки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Бакалаврська кваліфікаційна робота на тему: «Розроблення мобільного застосунку для створення каталогу бібліотеки та колекції рецензій»</dc:title>
  <dc:creator>Пользователь Windows</dc:creator>
  <cp:lastModifiedBy>Пользователь Windows</cp:lastModifiedBy>
  <cp:revision>11</cp:revision>
  <dcterms:created xsi:type="dcterms:W3CDTF">2023-06-26T16:15:44Z</dcterms:created>
  <dcterms:modified xsi:type="dcterms:W3CDTF">2023-06-26T18:12:47Z</dcterms:modified>
</cp:coreProperties>
</file>
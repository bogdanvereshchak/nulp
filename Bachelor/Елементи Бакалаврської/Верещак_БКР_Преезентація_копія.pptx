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6FC"/>
    <a:srgbClr val="1220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3656" autoAdjust="0"/>
  </p:normalViewPr>
  <p:slideViewPr>
    <p:cSldViewPr snapToGrid="0" snapToObjects="1">
      <p:cViewPr varScale="1">
        <p:scale>
          <a:sx n="75" d="100"/>
          <a:sy n="75" d="100"/>
        </p:scale>
        <p:origin x="60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0F6FC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F0F6FC"/>
                </a:solidFill>
                <a:latin typeface="Arial"/>
              </a:rPr>
              <a:t>Completion Rate, %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Rate, %</c:v>
                </c:pt>
              </c:strCache>
            </c:strRef>
          </c:tx>
          <c:spPr>
            <a:solidFill>
              <a:srgbClr val="455A6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2D5-49D3-9E2A-7F3C79CA1FC6}"/>
              </c:ext>
            </c:extLst>
          </c:dPt>
          <c:dPt>
            <c:idx val="1"/>
            <c:invertIfNegative val="0"/>
            <c:bubble3D val="0"/>
            <c:spPr>
              <a:solidFill>
                <a:srgbClr val="0E8A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2D5-49D3-9E2A-7F3C79CA1FC6}"/>
              </c:ext>
            </c:extLst>
          </c:dPt>
          <c:dPt>
            <c:idx val="2"/>
            <c:invertIfNegative val="0"/>
            <c:bubble3D val="0"/>
            <c:spPr>
              <a:solidFill>
                <a:srgbClr val="0B5F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2D5-49D3-9E2A-7F3C79CA1FC6}"/>
              </c:ext>
            </c:extLst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2D5-49D3-9E2A-7F3C79CA1FC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uk-UA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A: Baseline</c:v>
                </c:pt>
                <c:pt idx="1">
                  <c:v>B: Heuristic</c:v>
                </c:pt>
                <c:pt idx="2">
                  <c:v>C: Random Forest</c:v>
                </c:pt>
                <c:pt idx="3">
                  <c:v>D: RL Director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</c:v>
                </c:pt>
                <c:pt idx="1">
                  <c:v>74</c:v>
                </c:pt>
                <c:pt idx="2">
                  <c:v>79</c:v>
                </c:pt>
                <c:pt idx="3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2D5-49D3-9E2A-7F3C79CA1FC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0F6FC"/>
                </a:solidFill>
                <a:latin typeface="Arial"/>
              </a:defRPr>
            </a:pPr>
            <a:endParaRPr lang="uk-UA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uk-UA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A182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0F6FC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F0F6FC"/>
                </a:solidFill>
                <a:latin typeface="Arial"/>
              </a:rPr>
              <a:t>Flow Score, </a:t>
            </a:r>
            <a:r>
              <a:rPr lang="uk-UA" sz="1400" b="0" i="0" u="none" strike="noStrike">
                <a:solidFill>
                  <a:srgbClr val="F0F6FC"/>
                </a:solidFill>
                <a:latin typeface="Arial"/>
              </a:rPr>
              <a:t>балів (1-5)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Flow Score (1-5)</c:v>
                </c:pt>
              </c:strCache>
            </c:strRef>
          </c:tx>
          <c:spPr>
            <a:solidFill>
              <a:srgbClr val="455A6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D8F-48E6-9FC6-9FEDB224CD38}"/>
              </c:ext>
            </c:extLst>
          </c:dPt>
          <c:dPt>
            <c:idx val="1"/>
            <c:invertIfNegative val="0"/>
            <c:bubble3D val="0"/>
            <c:spPr>
              <a:solidFill>
                <a:srgbClr val="0E8A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D8F-48E6-9FC6-9FEDB224CD38}"/>
              </c:ext>
            </c:extLst>
          </c:dPt>
          <c:dPt>
            <c:idx val="2"/>
            <c:invertIfNegative val="0"/>
            <c:bubble3D val="0"/>
            <c:spPr>
              <a:solidFill>
                <a:srgbClr val="0B5F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D8F-48E6-9FC6-9FEDB224CD38}"/>
              </c:ext>
            </c:extLst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D8F-48E6-9FC6-9FEDB224CD3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uk-UA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A: Baseline</c:v>
                </c:pt>
                <c:pt idx="1">
                  <c:v>B: Heuristic</c:v>
                </c:pt>
                <c:pt idx="2">
                  <c:v>C: RF</c:v>
                </c:pt>
                <c:pt idx="3">
                  <c:v>D: RL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2.8</c:v>
                </c:pt>
                <c:pt idx="1">
                  <c:v>3.6</c:v>
                </c:pt>
                <c:pt idx="2">
                  <c:v>3.9</c:v>
                </c:pt>
                <c:pt idx="3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D8F-48E6-9FC6-9FEDB224CD3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0F6FC"/>
                </a:solidFill>
                <a:latin typeface="Arial"/>
              </a:defRPr>
            </a:pPr>
            <a:endParaRPr lang="uk-UA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uk-UA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A182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3930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457200"/>
            <a:ext cx="2011680" cy="2011680"/>
          </a:xfrm>
          <a:prstGeom prst="ellipse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4114800"/>
            <a:ext cx="1828800" cy="1828800"/>
          </a:xfrm>
          <a:prstGeom prst="ellipse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47472"/>
            <a:ext cx="4669436" cy="49478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24382"/>
            <a:ext cx="6560507" cy="3254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Національний університет «Львівська політехніка»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950976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Розроблення системи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динамічної адаптації складності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рівнів у ігровому середовищі</a:t>
            </a:r>
            <a:endParaRPr lang="en-US" sz="3200" dirty="0"/>
          </a:p>
        </p:txBody>
      </p:sp>
      <p:sp>
        <p:nvSpPr>
          <p:cNvPr id="8" name="Shape 10"/>
          <p:cNvSpPr/>
          <p:nvPr/>
        </p:nvSpPr>
        <p:spPr>
          <a:xfrm>
            <a:off x="457200" y="3017520"/>
            <a:ext cx="5029200" cy="36576"/>
          </a:xfrm>
          <a:prstGeom prst="rect">
            <a:avLst/>
          </a:prstGeom>
          <a:solidFill>
            <a:srgbClr val="1E4D7A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27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Бакалаврська кваліфікаційна робота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34930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Студент: </a:t>
            </a:r>
            <a:r>
              <a:rPr lang="en-US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Верещак Богдан Олегович, гр. ПП-44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3813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Керівник: </a:t>
            </a:r>
            <a:r>
              <a:rPr lang="uk-UA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к. т. н. </a:t>
            </a:r>
            <a:r>
              <a:rPr lang="en-US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асист</a:t>
            </a:r>
            <a:r>
              <a:rPr lang="en-US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каф. САП Патерега Ю. І.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" y="462586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Львів – 2026</a:t>
            </a:r>
            <a:endParaRPr lang="en-US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40F3F664-5321-0F6D-43A9-BA6E944D6872}"/>
              </a:ext>
            </a:extLst>
          </p:cNvPr>
          <p:cNvSpPr/>
          <p:nvPr/>
        </p:nvSpPr>
        <p:spPr>
          <a:xfrm>
            <a:off x="457200" y="797532"/>
            <a:ext cx="68348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6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Кафедра ”Системи автоматизованого проектування”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3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Актуальність роботи</a:t>
            </a:r>
            <a:endParaRPr lang="en-US" sz="3000" dirty="0"/>
          </a:p>
        </p:txBody>
      </p:sp>
      <p:sp>
        <p:nvSpPr>
          <p:cNvPr id="3" name="Shape 3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5"/>
          <p:cNvSpPr/>
          <p:nvPr/>
        </p:nvSpPr>
        <p:spPr>
          <a:xfrm>
            <a:off x="411480" y="822960"/>
            <a:ext cx="2651760" cy="160020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9611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E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35-40%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uk-UA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Гравців кидають гру</a:t>
            </a:r>
            <a:endParaRPr lang="uk-UA" sz="1400" dirty="0"/>
          </a:p>
          <a:p>
            <a:pPr marL="0" indent="0" algn="ctr">
              <a:buNone/>
            </a:pPr>
            <a:r>
              <a:rPr lang="uk-UA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невідповідну складність</a:t>
            </a:r>
            <a:endParaRPr lang="uk-UA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822960"/>
            <a:ext cx="2651760" cy="160020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89611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B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≈22%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337560" y="16459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uk-UA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Медіанний показник утримання гравців першого дня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822960"/>
            <a:ext cx="2651760" cy="160020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89611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4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r>
              <a:rPr lang="en-US" sz="4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4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млрд </a:t>
            </a:r>
            <a:r>
              <a:rPr lang="en-US" sz="4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263640" y="16459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uk-UA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Прогнозований обсяг світового ринку відеоігор у 2027 році </a:t>
            </a: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uk-UA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аналітична компанія </a:t>
            </a: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Newzoo)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79" y="2571750"/>
            <a:ext cx="8503921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Статична складність не враховує різноманітність гравців і динаміку навичок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Комерційні DDA обмежені примітивними лічильниками (RE4, Crash Bandicoot)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Відкрите порівняльне дослідження для 3D-платформерів практично відсутнє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Психологічні метрики (Jitter, APM, Time-to-Recover) </a:t>
            </a:r>
            <a:r>
              <a:rPr lang="en-US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раніше</a:t>
            </a:r>
            <a:r>
              <a:rPr lang="en-US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</a:t>
            </a:r>
            <a:r>
              <a:rPr lang="en-US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використовувались</a:t>
            </a:r>
            <a:r>
              <a:rPr lang="en-US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разом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Об'єкт, предмет, мета та задачі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685800"/>
            <a:ext cx="2651760" cy="1470868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731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Об'єкт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2651760" cy="11508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 управління рівнем складності комп'ютерної гри у реальному часі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685800"/>
            <a:ext cx="2651760" cy="1470868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731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37560" y="1005840"/>
            <a:ext cx="2743202" cy="1127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uk-UA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системи </a:t>
            </a: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DDA </a:t>
            </a:r>
            <a:r>
              <a:rPr lang="uk-UA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основі евристичних методів, алгоритмів </a:t>
            </a: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</a:t>
            </a:r>
            <a:r>
              <a:rPr lang="uk-UA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багатошарового перцептрону та навчання з підкріпленням.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685800"/>
            <a:ext cx="2651760" cy="1470868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731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63640" y="1005840"/>
            <a:ext cx="2651760" cy="11508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Розробити та порівняти підсистему DDA, </a:t>
            </a:r>
            <a:r>
              <a:rPr lang="uk-UA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яка</a:t>
            </a: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аналізує 8 поведінкових метрик і зберігає </a:t>
            </a:r>
            <a:r>
              <a:rPr lang="en-US" sz="14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гравця</a:t>
            </a: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 </a:t>
            </a:r>
            <a:r>
              <a:rPr lang="en-US" sz="14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стані</a:t>
            </a:r>
            <a:r>
              <a:rPr lang="uk-UA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оптимальної залученості.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2421844"/>
            <a:ext cx="3931920" cy="713232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1208" y="2476708"/>
            <a:ext cx="37124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Аналіз існуючих DDA-систем і ML-</a:t>
            </a:r>
            <a:r>
              <a:rPr lang="en-US" sz="16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методів</a:t>
            </a:r>
            <a:r>
              <a:rPr lang="uk-UA" sz="16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 ігровому контексті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1844"/>
            <a:ext cx="3931920" cy="713232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27448" y="2476708"/>
            <a:ext cx="37124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uk-UA" sz="16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Розробка</a:t>
            </a:r>
            <a:r>
              <a:rPr lang="en-US" sz="16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6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підсистеми збору поведінкової</a:t>
            </a:r>
            <a:r>
              <a:rPr lang="en-US" sz="16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6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телеметрії</a:t>
            </a:r>
            <a:endParaRPr lang="uk-UA" sz="1600" dirty="0"/>
          </a:p>
        </p:txBody>
      </p:sp>
      <p:sp>
        <p:nvSpPr>
          <p:cNvPr id="18" name="Shape 16"/>
          <p:cNvSpPr/>
          <p:nvPr/>
        </p:nvSpPr>
        <p:spPr>
          <a:xfrm>
            <a:off x="411480" y="3263092"/>
            <a:ext cx="3931920" cy="713232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1208" y="3317956"/>
            <a:ext cx="37124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Реалізація евристичної DDA з </a:t>
            </a:r>
            <a:r>
              <a:rPr lang="en-US" sz="16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кластеризацією</a:t>
            </a:r>
            <a:r>
              <a:rPr lang="uk-UA" sz="16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смертей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17720" y="3263092"/>
            <a:ext cx="3931920" cy="713232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27448" y="3317956"/>
            <a:ext cx="37124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ML-</a:t>
            </a:r>
            <a:r>
              <a:rPr lang="en-US" sz="16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конвеєр</a:t>
            </a:r>
            <a:r>
              <a:rPr lang="en-US" sz="16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uk-UA" sz="16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навчання</a:t>
            </a:r>
            <a:r>
              <a:rPr lang="en-US" sz="16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RF </a:t>
            </a:r>
            <a:r>
              <a:rPr lang="uk-UA" sz="16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</a:t>
            </a:r>
            <a:r>
              <a:rPr lang="en-US" sz="16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MLP, інтеграція у Unity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11480" y="4104340"/>
            <a:ext cx="3931920" cy="713232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1208" y="4159204"/>
            <a:ext cx="37124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RL-система: BotAgent + DirectorAgent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17720" y="4104340"/>
            <a:ext cx="3931920" cy="713232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27448" y="4159204"/>
            <a:ext cx="37124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A/B-тестування 4 </a:t>
            </a:r>
            <a:r>
              <a:rPr lang="en-US" sz="16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варіантів</a:t>
            </a:r>
            <a:r>
              <a:rPr lang="en-US" sz="16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DDA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системи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-2532136"/>
            <a:ext cx="2651760" cy="402336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-24955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Шар збору даних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-2056648"/>
            <a:ext cx="2651760" cy="530352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-2001784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GameSession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-1453144"/>
            <a:ext cx="2651760" cy="530352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-139828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PlayerTracker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-849640"/>
            <a:ext cx="2651760" cy="530352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-794776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AnalyticsManager (NDJSON)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08960" y="-1233688"/>
            <a:ext cx="274320" cy="0"/>
          </a:xfrm>
          <a:prstGeom prst="line">
            <a:avLst/>
          </a:prstGeom>
          <a:noFill/>
          <a:ln w="25400">
            <a:solidFill>
              <a:srgbClr val="12B5A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-2532136"/>
            <a:ext cx="2651760" cy="402336"/>
          </a:xfrm>
          <a:prstGeom prst="rect">
            <a:avLst/>
          </a:prstGeom>
          <a:solidFill>
            <a:srgbClr val="0B5F9E"/>
          </a:solidFill>
          <a:ln w="12700">
            <a:solidFill>
              <a:srgbClr val="0B5F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-24955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DDA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83280" y="-2056648"/>
            <a:ext cx="2651760" cy="530352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0" y="-2001784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DDAManager (реєстр)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83280" y="-1453144"/>
            <a:ext cx="2651760" cy="530352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0" y="-139828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IDDAStrategy (патерн)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83280" y="-849640"/>
            <a:ext cx="2651760" cy="530352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74720" y="-794776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режими: Baseline / Heuristic / ML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35040" y="-1233688"/>
            <a:ext cx="274320" cy="0"/>
          </a:xfrm>
          <a:prstGeom prst="line">
            <a:avLst/>
          </a:prstGeom>
          <a:noFill/>
          <a:ln w="25400">
            <a:solidFill>
              <a:srgbClr val="12B5A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-2532136"/>
            <a:ext cx="2651760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-24955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Шар виконання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09360" y="-2056648"/>
            <a:ext cx="2651760" cy="530352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0" y="-2001784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DynamicObstacleBase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09360" y="-1453144"/>
            <a:ext cx="2651760" cy="530352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0" y="-139828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IDynamicObstacle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09360" y="-849640"/>
            <a:ext cx="2651760" cy="530352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0" y="-794776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Буферизація → OnScreenDarkened</a:t>
            </a:r>
            <a:endParaRPr lang="en-US" sz="13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4AD06E1E-1336-7E07-6661-DEB03D2BF9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203" y="554529"/>
            <a:ext cx="5486400" cy="4591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Поведінкові метрики та їх психологічний зміст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713232"/>
            <a:ext cx="3931920" cy="91440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713232"/>
            <a:ext cx="109728" cy="91440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777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checkpoint_deaths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06070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Смерті від чекпоінту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28930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Локальна труднощість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713232"/>
            <a:ext cx="3931920" cy="91440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713232"/>
            <a:ext cx="109728" cy="914400"/>
          </a:xfrm>
          <a:prstGeom prst="rect">
            <a:avLst/>
          </a:prstGeom>
          <a:solidFill>
            <a:srgbClr val="0B5F9E"/>
          </a:solidFill>
          <a:ln w="12700">
            <a:solidFill>
              <a:srgbClr val="0B5F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777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cluster_deaths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06070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Смерті у кластері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128930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B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Просторова концентрація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1737360"/>
            <a:ext cx="3931920" cy="91440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1737360"/>
            <a:ext cx="109728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1801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input_rate (APM)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20848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Частота вводу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23134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Моторне навантаження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1737360"/>
            <a:ext cx="3931920" cy="91440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1737360"/>
            <a:ext cx="109728" cy="91440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801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time_to_recover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20848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 до першого руху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23134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Когнітивна фрустрація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2761488"/>
            <a:ext cx="3931920" cy="91440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2761488"/>
            <a:ext cx="109728" cy="914400"/>
          </a:xfrm>
          <a:prstGeom prst="rect">
            <a:avLst/>
          </a:prstGeom>
          <a:solidFill>
            <a:srgbClr val="0B5F9E"/>
          </a:solidFill>
          <a:ln w="12700">
            <a:solidFill>
              <a:srgbClr val="0B5F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28254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idle_time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 бездіяльності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" y="3337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B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Розгубленість / пауза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2761488"/>
            <a:ext cx="3931920" cy="91440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2761488"/>
            <a:ext cx="109728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8254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00600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Тремтіння камери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3337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Паніка / тривога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1480" y="3785616"/>
            <a:ext cx="3931920" cy="91440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11480" y="3785616"/>
            <a:ext cx="109728" cy="91440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38496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time_spent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94360" y="41330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 на рівні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" y="43616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Загальний темп гри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17720" y="3785616"/>
            <a:ext cx="3931920" cy="91440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17720" y="3785616"/>
            <a:ext cx="109728" cy="914400"/>
          </a:xfrm>
          <a:prstGeom prst="rect">
            <a:avLst/>
          </a:prstGeom>
          <a:solidFill>
            <a:srgbClr val="0B5F9E"/>
          </a:solidFill>
          <a:ln w="12700">
            <a:solidFill>
              <a:srgbClr val="0B5F9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38496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800600" y="41330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Номер рівня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00600" y="43616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B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Контекст складності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Математична модель евристичного DDA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4572000" cy="420624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6809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(3 кроки)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138428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Крок 1. Центроїд кластера: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502920" y="1453896"/>
                <a:ext cx="4297680" cy="310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</m:ctrlPr>
                        </m:sSubPr>
                        <m:e>
                          <m:r>
                            <a:rPr lang="en-US" sz="1400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𝐷</m:t>
                          </m:r>
                        </m:e>
                        <m:sub>
                          <m:r>
                            <a:rPr lang="en-US" sz="1400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𝑐</m:t>
                          </m:r>
                        </m:sub>
                      </m:sSub>
                      <m:r>
                        <a:rPr lang="en-US" sz="140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=</m:t>
                      </m:r>
                      <m:d>
                        <m:dPr>
                          <m:ctrlPr>
                            <a:rPr lang="en-US" sz="1400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</m:ctrlPr>
                            </m:fPr>
                            <m:num>
                              <m:r>
                                <a:rPr lang="en-US" sz="1400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400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US" sz="140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sz="1400" i="0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Σ</m:t>
                      </m:r>
                      <m:r>
                        <a:rPr lang="en-US" sz="1400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 </m:t>
                      </m:r>
                      <m:r>
                        <a:rPr lang="en-US" sz="1400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𝑝</m:t>
                      </m:r>
                      <m:r>
                        <a:rPr lang="en-US" sz="1400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ᵢ,   </m:t>
                      </m:r>
                      <m:r>
                        <a:rPr lang="en-US" sz="1400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𝑖</m:t>
                      </m:r>
                      <m:r>
                        <a:rPr lang="en-US" sz="1400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=1..</m:t>
                      </m:r>
                      <m:r>
                        <a:rPr lang="en-US" sz="1400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𝑛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453896"/>
                <a:ext cx="4297680" cy="310896"/>
              </a:xfrm>
              <a:prstGeom prst="rect">
                <a:avLst/>
              </a:prstGeom>
              <a:blipFill>
                <a:blip r:embed="rId3"/>
                <a:stretch>
                  <a:fillRect t="-21569" b="-27451"/>
                </a:stretch>
              </a:blipFill>
              <a:ln/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7"/>
          <p:cNvSpPr/>
          <p:nvPr/>
        </p:nvSpPr>
        <p:spPr>
          <a:xfrm>
            <a:off x="502920" y="1810512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– смерті у кластері, pᵢ – позиція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Крок 2. Вага перешкоди: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/>
              <p:nvPr/>
            </p:nvSpPr>
            <p:spPr>
              <a:xfrm>
                <a:off x="502920" y="2350008"/>
                <a:ext cx="4297680" cy="310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𝑤</m:t>
                      </m:r>
                      <m:r>
                        <a:rPr lang="en-US" sz="140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ⱼ</m:t>
                      </m:r>
                      <m:r>
                        <a:rPr lang="en-US" sz="140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=</m:t>
                      </m:r>
                      <m:func>
                        <m:funcPr>
                          <m:ctrlPr>
                            <a:rPr lang="en-US" sz="1400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i="0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1400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  <m:t>0,1 −</m:t>
                              </m:r>
                              <m:f>
                                <m:fPr>
                                  <m:ctrlPr>
                                    <a:rPr lang="en-US" sz="1400" i="1" dirty="0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  <a:ea typeface="Consolas" pitchFamily="34" charset="-122"/>
                                      <a:cs typeface="Consolas" pitchFamily="34" charset="-12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1" dirty="0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  <a:ea typeface="Consolas" pitchFamily="34" charset="-122"/>
                                      <a:cs typeface="Consolas" pitchFamily="34" charset="-120"/>
                                    </a:rPr>
                                    <m:t>𝑑</m:t>
                                  </m:r>
                                  <m:r>
                                    <a:rPr lang="en-US" sz="1400" i="1" dirty="0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  <a:ea typeface="Consolas" pitchFamily="34" charset="-122"/>
                                      <a:cs typeface="Consolas" pitchFamily="34" charset="-120"/>
                                    </a:rPr>
                                    <m:t>ⱼ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i="1" dirty="0" smtClean="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  <a:ea typeface="Consolas" pitchFamily="34" charset="-122"/>
                                          <a:cs typeface="Consolas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 dirty="0" smtClean="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  <a:ea typeface="Consolas" pitchFamily="34" charset="-122"/>
                                          <a:cs typeface="Consolas" pitchFamily="34" charset="-12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1400" i="1" dirty="0" smtClean="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  <a:ea typeface="Consolas" pitchFamily="34" charset="-122"/>
                                          <a:cs typeface="Consolas" pitchFamily="34" charset="-120"/>
                                        </a:rPr>
                                        <m:t>𝑎𝑑𝑎𝑝𝑡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2350008"/>
                <a:ext cx="4297680" cy="310896"/>
              </a:xfrm>
              <a:prstGeom prst="rect">
                <a:avLst/>
              </a:prstGeom>
              <a:blipFill>
                <a:blip r:embed="rId4"/>
                <a:stretch>
                  <a:fillRect t="-19608" b="-27451"/>
                </a:stretch>
              </a:blipFill>
              <a:ln/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10"/>
          <p:cNvSpPr/>
          <p:nvPr/>
        </p:nvSpPr>
        <p:spPr>
          <a:xfrm>
            <a:off x="502920" y="2679192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dⱼ – відстань до центроїда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999232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Крок 3. Множник полегшення: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502920" y="3246120"/>
                <a:ext cx="4297680" cy="310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𝑀</m:t>
                      </m:r>
                      <m:r>
                        <a:rPr lang="en-US" sz="140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ⱼ</m:t>
                      </m:r>
                      <m:r>
                        <a:rPr lang="en-US" sz="140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 = </m:t>
                      </m:r>
                      <m:r>
                        <a:rPr lang="en-US" sz="140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𝐿𝑒𝑟𝑝</m:t>
                      </m:r>
                      <m:d>
                        <m:dPr>
                          <m:ctrlPr>
                            <a:rPr lang="en-US" sz="1400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</m:ctrlPr>
                        </m:dPr>
                        <m:e>
                          <m:r>
                            <a:rPr lang="en-US" sz="1400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1, </m:t>
                          </m:r>
                          <m:sSub>
                            <m:sSubPr>
                              <m:ctrlPr>
                                <a:rPr lang="en-US" sz="1400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400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400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  <m:t>𝑡𝑎𝑟𝑔𝑒𝑡</m:t>
                              </m:r>
                            </m:sub>
                          </m:sSub>
                          <m:r>
                            <a:rPr lang="en-US" sz="1400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, </m:t>
                          </m:r>
                          <m:r>
                            <a:rPr lang="en-US" sz="1400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𝑤</m:t>
                          </m:r>
                          <m:r>
                            <a:rPr lang="en-US" sz="1400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ⱼ</m:t>
                          </m:r>
                          <m:r>
                            <a:rPr lang="en-US" sz="1400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 × </m:t>
                          </m:r>
                          <m:r>
                            <a:rPr lang="en-US" sz="1400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𝑤𝑒𝑖𝑔h𝑡</m:t>
                          </m:r>
                          <m:r>
                            <a:rPr lang="en-US" sz="1400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ⱼ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3246120"/>
                <a:ext cx="4297680" cy="310896"/>
              </a:xfrm>
              <a:prstGeom prst="rect">
                <a:avLst/>
              </a:prstGeom>
              <a:blipFill>
                <a:blip r:embed="rId5"/>
                <a:stretch>
                  <a:fillRect b="-5882"/>
                </a:stretch>
              </a:blipFill>
              <a:ln/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13"/>
          <p:cNvSpPr/>
          <p:nvPr/>
        </p:nvSpPr>
        <p:spPr>
          <a:xfrm>
            <a:off x="502920" y="3575304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∈ [0, 2] – власна вага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895344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Захист від відкату: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15"/>
              <p:cNvSpPr/>
              <p:nvPr/>
            </p:nvSpPr>
            <p:spPr>
              <a:xfrm>
                <a:off x="502920" y="4142232"/>
                <a:ext cx="4297680" cy="310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𝑖𝑓</m:t>
                      </m:r>
                      <m:r>
                        <a:rPr lang="en-US" sz="140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 </m:t>
                      </m:r>
                      <m:d>
                        <m:dPr>
                          <m:ctrlPr>
                            <a:rPr lang="en-US" sz="1400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</m:ctrlPr>
                        </m:dPr>
                        <m:e>
                          <m:r>
                            <a:rPr lang="en-US" sz="1400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𝑀</m:t>
                          </m:r>
                          <m:r>
                            <a:rPr lang="en-US" sz="1400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 ≥ 1 </m:t>
                          </m:r>
                          <m:r>
                            <a:rPr lang="en-US" sz="1400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𝐴𝑁𝐷</m:t>
                          </m:r>
                          <m:r>
                            <a:rPr lang="en-US" sz="1400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 </m:t>
                          </m:r>
                          <m:r>
                            <a:rPr lang="en-US" sz="1400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𝑀</m:t>
                          </m:r>
                          <m:r>
                            <a:rPr lang="en-US" sz="1400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 &lt; </m:t>
                          </m:r>
                          <m:r>
                            <a:rPr lang="en-US" sz="1400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𝑡𝑟𝑎𝑐𝑘𝑒𝑟</m:t>
                          </m:r>
                        </m:e>
                      </m:d>
                      <m:r>
                        <a:rPr lang="en-US" sz="140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→ </m:t>
                      </m:r>
                      <m:r>
                        <a:rPr lang="en-US" sz="140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𝑖𝑔𝑛𝑜𝑟𝑒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7" name="Text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4142232"/>
                <a:ext cx="4297680" cy="310896"/>
              </a:xfrm>
              <a:prstGeom prst="rect">
                <a:avLst/>
              </a:prstGeom>
              <a:blipFill>
                <a:blip r:embed="rId6"/>
                <a:stretch>
                  <a:fillRect b="-5882"/>
                </a:stretch>
              </a:blipFill>
              <a:ln/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16"/>
          <p:cNvSpPr/>
          <p:nvPr/>
        </p:nvSpPr>
        <p:spPr>
          <a:xfrm>
            <a:off x="502920" y="447141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= max досягнутий множник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20640" y="713232"/>
            <a:ext cx="3566160" cy="420624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uk-UA" dirty="0"/>
          </a:p>
        </p:txBody>
      </p:sp>
      <p:sp>
        <p:nvSpPr>
          <p:cNvPr id="20" name="Text 18"/>
          <p:cNvSpPr/>
          <p:nvPr/>
        </p:nvSpPr>
        <p:spPr>
          <a:xfrm>
            <a:off x="5212080" y="76809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 системи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12080" y="120700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r_adapt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1207008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м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06640" y="120700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Радіус полегшення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171907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r_compl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1719072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м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06640" y="171907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Радіус ускладнення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2231136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deathWindow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75120" y="2231136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с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06640" y="2231136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Часове вікно кластера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274320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clusterMin</a:t>
            </a:r>
            <a:endParaRPr lang="en-US" sz="1200" dirty="0"/>
          </a:p>
        </p:txBody>
      </p:sp>
      <p:sp>
        <p:nvSpPr>
          <p:cNvPr id="31" name="Text 29"/>
          <p:cNvSpPr>
            <a:spLocks/>
          </p:cNvSpPr>
          <p:nvPr/>
        </p:nvSpPr>
        <p:spPr>
          <a:xfrm>
            <a:off x="6675120" y="2743200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2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uk-UA" sz="1200" b="1" dirty="0">
                <a:solidFill>
                  <a:srgbClr val="12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</a:t>
            </a:r>
            <a:endParaRPr lang="en-US" sz="1200" dirty="0">
              <a:solidFill>
                <a:srgbClr val="122036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7406640" y="274320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Мін. смертей в кластері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3255264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clusterDist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75120" y="3255264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м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406640" y="3255264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Радіус кластера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12080" y="376732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easingFactor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75120" y="3767328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406640" y="376732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Цільовий M_target (ease)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12080" y="427939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compFactor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675120" y="4279392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406640" y="427939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Цільовий M_target (compl)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ML-конвеєр: від телеметрії до Unity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1508760" cy="411480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822960"/>
            <a:ext cx="411480" cy="411480"/>
          </a:xfrm>
          <a:prstGeom prst="ellipse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822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4904" y="1298448"/>
            <a:ext cx="1399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Збір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даних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4904" y="1883664"/>
            <a:ext cx="139903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NDJSON-логи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DDAMode: Baseline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Lюдина-в-контурі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0" y="2816352"/>
            <a:ext cx="210312" cy="0"/>
          </a:xfrm>
          <a:prstGeom prst="line">
            <a:avLst/>
          </a:prstGeom>
          <a:noFill/>
          <a:ln w="25400">
            <a:solidFill>
              <a:srgbClr val="12B5A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39112" y="749808"/>
            <a:ext cx="1508760" cy="411480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87752" y="822960"/>
            <a:ext cx="411480" cy="411480"/>
          </a:xfrm>
          <a:prstGeom prst="ellipse">
            <a:avLst/>
          </a:prstGeom>
          <a:solidFill>
            <a:srgbClr val="0B5F9E"/>
          </a:solidFill>
          <a:ln w="12700">
            <a:solidFill>
              <a:srgbClr val="0B5F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822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b="1" dirty="0"/>
          </a:p>
        </p:txBody>
      </p:sp>
      <p:sp>
        <p:nvSpPr>
          <p:cNvPr id="14" name="Text 12"/>
          <p:cNvSpPr/>
          <p:nvPr/>
        </p:nvSpPr>
        <p:spPr>
          <a:xfrm>
            <a:off x="2093976" y="1298448"/>
            <a:ext cx="1399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Очищення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даних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93976" y="1883664"/>
            <a:ext cx="139903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Фільтр player_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подій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80:20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47872" y="2816352"/>
            <a:ext cx="210312" cy="0"/>
          </a:xfrm>
          <a:prstGeom prst="line">
            <a:avLst/>
          </a:prstGeom>
          <a:noFill/>
          <a:ln w="25400">
            <a:solidFill>
              <a:srgbClr val="12B5A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58184" y="749808"/>
            <a:ext cx="1508760" cy="411480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06824" y="822960"/>
            <a:ext cx="411480" cy="411480"/>
          </a:xfrm>
          <a:prstGeom prst="ellipse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06824" y="822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13048" y="1298448"/>
            <a:ext cx="1399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ознак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13048" y="1883664"/>
            <a:ext cx="139903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метрик 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[level, deaths,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APM, idle...]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66944" y="2816352"/>
            <a:ext cx="210312" cy="0"/>
          </a:xfrm>
          <a:prstGeom prst="line">
            <a:avLst/>
          </a:prstGeom>
          <a:noFill/>
          <a:ln w="25400">
            <a:solidFill>
              <a:srgbClr val="12B5A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77256" y="749808"/>
            <a:ext cx="1508760" cy="411480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25896" y="822960"/>
            <a:ext cx="411480" cy="411480"/>
          </a:xfrm>
          <a:prstGeom prst="ellipse">
            <a:avLst/>
          </a:prstGeom>
          <a:solidFill>
            <a:srgbClr val="0B5F9E"/>
          </a:solidFill>
          <a:ln w="12700">
            <a:solidFill>
              <a:srgbClr val="0B5F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25896" y="822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32120" y="1298448"/>
            <a:ext cx="1399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Навчання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моделей</a:t>
            </a:r>
            <a:endParaRPr lang="en-US" sz="1300" dirty="0"/>
          </a:p>
        </p:txBody>
      </p:sp>
      <p:sp>
        <p:nvSpPr>
          <p:cNvPr id="27" name="Text 25"/>
          <p:cNvSpPr>
            <a:spLocks/>
          </p:cNvSpPr>
          <p:nvPr/>
        </p:nvSpPr>
        <p:spPr>
          <a:xfrm>
            <a:off x="5532120" y="1883664"/>
            <a:ext cx="139903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RF: n=200, d=12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 64-32-1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 5-fold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86016" y="2816352"/>
            <a:ext cx="210312" cy="0"/>
          </a:xfrm>
          <a:prstGeom prst="line">
            <a:avLst/>
          </a:prstGeom>
          <a:noFill/>
          <a:ln w="25400">
            <a:solidFill>
              <a:srgbClr val="12B5A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96328" y="749808"/>
            <a:ext cx="1508760" cy="411480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44968" y="822960"/>
            <a:ext cx="411480" cy="411480"/>
          </a:xfrm>
          <a:prstGeom prst="ellipse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44968" y="822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51192" y="1298448"/>
            <a:ext cx="1399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Експорт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Unity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51192" y="1883664"/>
            <a:ext cx="139903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→ m2cgen (C#)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→ ONNX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(Unity Sentis)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4279392"/>
            <a:ext cx="4114800" cy="621792"/>
          </a:xfrm>
          <a:prstGeom prst="rect">
            <a:avLst/>
          </a:prstGeom>
          <a:solidFill>
            <a:srgbClr val="0A3A2A"/>
          </a:solidFill>
          <a:ln w="12700">
            <a:solidFill>
              <a:srgbClr val="0A3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34340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(C# / m2cgen)  </a:t>
            </a: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MSE=0.021  R²=0.83  Інференс &lt;0.1 мс/кадр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17720" y="4279392"/>
            <a:ext cx="4114800" cy="621792"/>
          </a:xfrm>
          <a:prstGeom prst="rect">
            <a:avLst/>
          </a:prstGeom>
          <a:solidFill>
            <a:srgbClr val="0A2A3A"/>
          </a:solidFill>
          <a:ln w="12700">
            <a:solidFill>
              <a:srgbClr val="0A2A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434340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(ONNX / Unity Sentis)  </a:t>
            </a: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MSE=0.024  R²=0.81  Інференс ~0.8 мс/кадр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RL-система: Asymmetric Self-Play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2651760" cy="420624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13232"/>
            <a:ext cx="2651760" cy="3657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3152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BotAgent (агент-гравець)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17043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(~90 float):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417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14-раменний RaySensor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фізика + навігація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cognitiveLoad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99339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240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Дискр. гілка руху (5)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гілка стрибка (2)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jump via hold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81635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063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+1.0 чекпоінт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-1.0 смерть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+0.005×прогрес/крок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63931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1: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8862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Навчається сам</a:t>
            </a:r>
            <a:endParaRPr lang="en-US" sz="1100" dirty="0"/>
          </a:p>
          <a:p>
            <a:pPr marL="0" indent="0">
              <a:buNone/>
            </a:pPr>
            <a:r>
              <a:rPr lang="uk-UA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тис.</a:t>
            </a: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кроків, PPO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73552" y="1645920"/>
            <a:ext cx="2606040" cy="2377440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73552" y="21031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273552" y="2999232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+ Obstacles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+ Events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+ Deaths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Load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 flipV="1">
            <a:off x="2971800" y="1664208"/>
            <a:ext cx="301752" cy="1524"/>
          </a:xfrm>
          <a:prstGeom prst="line">
            <a:avLst/>
          </a:prstGeom>
          <a:noFill/>
          <a:ln w="25400">
            <a:solidFill>
              <a:srgbClr val="12B5A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2999232"/>
            <a:ext cx="301752" cy="0"/>
          </a:xfrm>
          <a:prstGeom prst="line">
            <a:avLst/>
          </a:prstGeom>
          <a:noFill/>
          <a:ln w="25400">
            <a:solidFill>
              <a:srgbClr val="22A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79592" y="1665732"/>
            <a:ext cx="302514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79592" y="2999232"/>
            <a:ext cx="301752" cy="0"/>
          </a:xfrm>
          <a:prstGeom prst="line">
            <a:avLst/>
          </a:prstGeom>
          <a:noFill/>
          <a:ln w="25400">
            <a:solidFill>
              <a:srgbClr val="22A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01696" y="1444752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886456" y="27934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←obs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18226" y="1441704"/>
            <a:ext cx="65836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←actions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15584" y="278587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obs→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81344" y="713232"/>
            <a:ext cx="2651760" cy="420624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81344" y="713232"/>
            <a:ext cx="265176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81344" y="73152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DirectorAgent (Режисер)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66688" y="1170432"/>
            <a:ext cx="24749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(103 float):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6688" y="1417320"/>
            <a:ext cx="2474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метрик бота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+ 10 перешкод×9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(позиція+тип+M)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6688" y="1993392"/>
            <a:ext cx="24749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(12 cont.):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6688" y="2240280"/>
            <a:ext cx="2474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дельт множників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атмосфера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аудіотензія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6688" y="2816352"/>
            <a:ext cx="24749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(Gaussian):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33"/>
              <p:cNvSpPr/>
              <p:nvPr/>
            </p:nvSpPr>
            <p:spPr>
              <a:xfrm>
                <a:off x="6266688" y="3063240"/>
                <a:ext cx="2474976" cy="5029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100" i="1" dirty="0" smtClean="0">
                          <a:solidFill>
                            <a:srgbClr val="F0F6FC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𝑟</m:t>
                      </m:r>
                      <m:r>
                        <a:rPr lang="en-US" sz="1100" i="1" dirty="0" smtClean="0">
                          <a:solidFill>
                            <a:srgbClr val="F0F6FC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=</m:t>
                      </m:r>
                      <m:sSup>
                        <m:sSupPr>
                          <m:ctrlPr>
                            <a:rPr lang="en-US" sz="1100" b="0" i="1" dirty="0" smtClean="0">
                              <a:solidFill>
                                <a:srgbClr val="F0F6FC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100" i="1" dirty="0" smtClean="0">
                              <a:solidFill>
                                <a:srgbClr val="F0F6FC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e</m:t>
                          </m:r>
                        </m:e>
                        <m:sup>
                          <m:d>
                            <m:dPr>
                              <m:begChr m:val=""/>
                              <m:endChr m:val=""/>
                              <m:ctrlPr>
                                <a:rPr lang="en-US" sz="1100" i="1" dirty="0" smtClean="0">
                                  <a:solidFill>
                                    <a:srgbClr val="F0F6FC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1100" i="1" dirty="0" smtClean="0">
                                  <a:solidFill>
                                    <a:srgbClr val="F0F6FC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100" b="0" i="1" dirty="0" smtClean="0">
                                      <a:solidFill>
                                        <a:srgbClr val="F0F6FC"/>
                                      </a:solidFill>
                                      <a:latin typeface="Cambria Math" panose="02040503050406030204" pitchFamily="18" charset="0"/>
                                      <a:ea typeface="Calibri" pitchFamily="34" charset="-122"/>
                                      <a:cs typeface="Calibri" pitchFamily="34" charset="-12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100" b="0" i="1" dirty="0" smtClean="0">
                                          <a:solidFill>
                                            <a:srgbClr val="F0F6FC"/>
                                          </a:solidFill>
                                          <a:latin typeface="Cambria Math" panose="02040503050406030204" pitchFamily="18" charset="0"/>
                                          <a:ea typeface="Calibri" pitchFamily="34" charset="-122"/>
                                          <a:cs typeface="Calibri" pitchFamily="34" charset="-12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100" b="0" i="1" dirty="0" smtClean="0">
                                              <a:solidFill>
                                                <a:srgbClr val="F0F6FC"/>
                                              </a:solidFill>
                                              <a:latin typeface="Cambria Math" panose="02040503050406030204" pitchFamily="18" charset="0"/>
                                              <a:ea typeface="Calibri" pitchFamily="34" charset="-122"/>
                                              <a:cs typeface="Calibri" pitchFamily="34" charset="-12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100" i="1" dirty="0" smtClean="0">
                                              <a:solidFill>
                                                <a:srgbClr val="F0F6FC"/>
                                              </a:solidFill>
                                              <a:latin typeface="Cambria Math" panose="02040503050406030204" pitchFamily="18" charset="0"/>
                                              <a:ea typeface="Calibri" pitchFamily="34" charset="-122"/>
                                              <a:cs typeface="Calibri" pitchFamily="34" charset="-120"/>
                                            </a:rPr>
                                            <m:t>𝑆𝑅</m:t>
                                          </m:r>
                                          <m:r>
                                            <a:rPr lang="en-US" sz="1100" i="1" dirty="0" smtClean="0">
                                              <a:solidFill>
                                                <a:srgbClr val="F0F6FC"/>
                                              </a:solidFill>
                                              <a:latin typeface="Cambria Math" panose="02040503050406030204" pitchFamily="18" charset="0"/>
                                              <a:ea typeface="Calibri" pitchFamily="34" charset="-122"/>
                                              <a:cs typeface="Calibri" pitchFamily="34" charset="-120"/>
                                            </a:rPr>
                                            <m:t>−0.8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100" i="1" dirty="0" smtClean="0">
                                          <a:solidFill>
                                            <a:srgbClr val="F0F6FC"/>
                                          </a:solidFill>
                                          <a:latin typeface="Cambria Math" panose="02040503050406030204" pitchFamily="18" charset="0"/>
                                          <a:ea typeface="Calibri" pitchFamily="34" charset="-122"/>
                                          <a:cs typeface="Calibri" pitchFamily="34" charset="-12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1100" i="1" dirty="0" smtClean="0">
                                      <a:solidFill>
                                        <a:srgbClr val="F0F6FC"/>
                                      </a:solidFill>
                                      <a:latin typeface="Cambria Math" panose="02040503050406030204" pitchFamily="18" charset="0"/>
                                      <a:ea typeface="Calibri" pitchFamily="34" charset="-122"/>
                                      <a:cs typeface="Calibri" pitchFamily="34" charset="-120"/>
                                    </a:rPr>
                                    <m:t>2×</m:t>
                                  </m:r>
                                  <m:sSup>
                                    <m:sSupPr>
                                      <m:ctrlPr>
                                        <a:rPr lang="en-US" sz="1100" i="1" dirty="0" smtClean="0">
                                          <a:solidFill>
                                            <a:srgbClr val="F0F6FC"/>
                                          </a:solidFill>
                                          <a:latin typeface="Cambria Math" panose="02040503050406030204" pitchFamily="18" charset="0"/>
                                          <a:ea typeface="Calibri" pitchFamily="34" charset="-122"/>
                                          <a:cs typeface="Calibri" pitchFamily="34" charset="-12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100" i="1" dirty="0" smtClean="0">
                                          <a:solidFill>
                                            <a:srgbClr val="F0F6FC"/>
                                          </a:solidFill>
                                          <a:latin typeface="Cambria Math" panose="02040503050406030204" pitchFamily="18" charset="0"/>
                                          <a:ea typeface="Calibri" pitchFamily="34" charset="-122"/>
                                          <a:cs typeface="Calibri" pitchFamily="34" charset="-120"/>
                                        </a:rPr>
                                        <m:t>0.12</m:t>
                                      </m:r>
                                    </m:e>
                                    <m:sup>
                                      <m:r>
                                        <a:rPr lang="en-US" sz="1100" i="1" dirty="0" smtClean="0">
                                          <a:solidFill>
                                            <a:srgbClr val="F0F6FC"/>
                                          </a:solidFill>
                                          <a:latin typeface="Cambria Math" panose="02040503050406030204" pitchFamily="18" charset="0"/>
                                          <a:ea typeface="Calibri" pitchFamily="34" charset="-122"/>
                                          <a:cs typeface="Calibri" pitchFamily="34" charset="-12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sz="1100" dirty="0"/>
              </a:p>
              <a:p>
                <a:pPr marL="0" indent="0">
                  <a:buNone/>
                </a:pPr>
                <a:r>
                  <a:rPr lang="en-US" sz="1100" dirty="0">
                    <a:solidFill>
                      <a:srgbClr val="F0F6F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Max при SR=80%</a:t>
                </a:r>
                <a:endParaRPr lang="en-US" sz="1100" dirty="0"/>
              </a:p>
            </p:txBody>
          </p:sp>
        </mc:Choice>
        <mc:Fallback xmlns="">
          <p:sp>
            <p:nvSpPr>
              <p:cNvPr id="35" name="Text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6688" y="3063240"/>
                <a:ext cx="2474976" cy="502920"/>
              </a:xfrm>
              <a:prstGeom prst="rect">
                <a:avLst/>
              </a:prstGeom>
              <a:blipFill>
                <a:blip r:embed="rId3"/>
                <a:stretch>
                  <a:fillRect b="-12195"/>
                </a:stretch>
              </a:blipFill>
              <a:ln/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 34"/>
          <p:cNvSpPr/>
          <p:nvPr/>
        </p:nvSpPr>
        <p:spPr>
          <a:xfrm>
            <a:off x="6266688" y="3639312"/>
            <a:ext cx="24749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2: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66688" y="3886200"/>
            <a:ext cx="2474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заморожено (.onnx)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Директор навчається</a:t>
            </a:r>
            <a:endParaRPr lang="en-US" sz="1100" dirty="0"/>
          </a:p>
          <a:p>
            <a:pPr marL="0" indent="0">
              <a:buNone/>
            </a:pPr>
            <a:r>
              <a:rPr lang="uk-UA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тис. </a:t>
            </a:r>
            <a:r>
              <a:rPr lang="en-US" sz="11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кроків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Обґрунтування вибору технологій і засобів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4069080" cy="128016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13232"/>
            <a:ext cx="128016" cy="12801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80467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Engine 2023 LTS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21208" y="1188720"/>
            <a:ext cx="3794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Крос-платф., URP, ML-Agents, Sentis, C# SOLID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713232"/>
            <a:ext cx="4069080" cy="128016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13232"/>
            <a:ext cx="128016" cy="1280160"/>
          </a:xfrm>
          <a:prstGeom prst="rect">
            <a:avLst/>
          </a:prstGeom>
          <a:solidFill>
            <a:srgbClr val="0B5F9E"/>
          </a:solidFill>
          <a:ln w="12700">
            <a:solidFill>
              <a:srgbClr val="0B5F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80467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SOLID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64608" y="1188720"/>
            <a:ext cx="3794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Статична типізація, патерни Strategy/Observer/Registry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130552"/>
            <a:ext cx="4069080" cy="128016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130552"/>
            <a:ext cx="128016" cy="1280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222199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(Python)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1208" y="2606040"/>
            <a:ext cx="3794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RF: n=200, d=12. MLPRegressor. 5-fold cross-val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130552"/>
            <a:ext cx="4069080" cy="128016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130552"/>
            <a:ext cx="128016" cy="12801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222199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ML-Agents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64608" y="2606040"/>
            <a:ext cx="3794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PPO-навчання у рушії, паралельні env, .onnx-export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547872"/>
            <a:ext cx="4069080" cy="128016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547872"/>
            <a:ext cx="128016" cy="1280160"/>
          </a:xfrm>
          <a:prstGeom prst="rect">
            <a:avLst/>
          </a:prstGeom>
          <a:solidFill>
            <a:srgbClr val="0B5F9E"/>
          </a:solidFill>
          <a:ln w="12700">
            <a:solidFill>
              <a:srgbClr val="0B5F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363931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Sentis (ONNX)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1208" y="4023360"/>
            <a:ext cx="3794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Runtime-інференс MLP без Python, CPU/GPU backend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3547872"/>
            <a:ext cx="4069080" cy="128016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547872"/>
            <a:ext cx="128016" cy="1280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363931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m2cgen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64608" y="4023360"/>
            <a:ext cx="3794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→ чистий C#, нуль GC-алокацій, &lt;0.1 мс/кадр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Реалізація ігрового середовища та телеметрія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4206240" cy="1828800"/>
          </a:xfrm>
          <a:prstGeom prst="rect">
            <a:avLst/>
          </a:prstGeom>
          <a:solidFill>
            <a:srgbClr val="0A1A2A"/>
          </a:solidFill>
          <a:ln w="12700">
            <a:solidFill>
              <a:srgbClr val="0A1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70432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E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[Скриншот Unity]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2084832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Рис. 1. Рівень у Unity (URP освітлення,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PROBuilder геометрія, 4 типи перешкод)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713232"/>
            <a:ext cx="4206240" cy="1828800"/>
          </a:xfrm>
          <a:prstGeom prst="rect">
            <a:avLst/>
          </a:prstGeom>
          <a:solidFill>
            <a:srgbClr val="0A1A2A"/>
          </a:solidFill>
          <a:ln w="12700">
            <a:solidFill>
              <a:srgbClr val="0A1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170432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E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[Скриншот Unity]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00600" y="2084832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Рис. 2. Inspector компоненту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SpikyPlatform: поля DDA Min/Max/Weight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743200"/>
            <a:ext cx="4206240" cy="1828800"/>
          </a:xfrm>
          <a:prstGeom prst="rect">
            <a:avLst/>
          </a:prstGeom>
          <a:solidFill>
            <a:srgbClr val="0A1A2A"/>
          </a:solidFill>
          <a:ln w="12700">
            <a:solidFill>
              <a:srgbClr val="0A1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320040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E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[Скриншот Unity]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" y="4114800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Рис. 3. Скриншот до застосування DDA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(початкові параметри платформ)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2743200"/>
            <a:ext cx="4206240" cy="1828800"/>
          </a:xfrm>
          <a:prstGeom prst="rect">
            <a:avLst/>
          </a:prstGeom>
          <a:solidFill>
            <a:srgbClr val="0A1A2A"/>
          </a:solidFill>
          <a:ln w="12700">
            <a:solidFill>
              <a:srgbClr val="0A1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320040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E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[Скриншот Unity]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0600" y="4114800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Рис. 4. Скриншот після DDA: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полегшення — платформа ширша на 24%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Блок-схема алгоритму евристичного DDA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2377440" cy="420624"/>
          </a:xfrm>
          <a:prstGeom prst="rect">
            <a:avLst/>
          </a:prstGeom>
          <a:solidFill>
            <a:srgbClr val="0E8A7A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" y="713232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Гравець помирає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(RegisterDeath)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08760" y="1133856"/>
            <a:ext cx="0" cy="320040"/>
          </a:xfrm>
          <a:prstGeom prst="line">
            <a:avLst/>
          </a:prstGeom>
          <a:noFill/>
          <a:ln w="19050">
            <a:solidFill>
              <a:srgbClr val="12B5A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453896"/>
            <a:ext cx="2377440" cy="420624"/>
          </a:xfrm>
          <a:prstGeom prst="rect">
            <a:avLst/>
          </a:prstGeom>
          <a:solidFill>
            <a:srgbClr val="122036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" y="1453896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Додаємо DeathRecord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 + timestamp)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08760" y="1874520"/>
            <a:ext cx="0" cy="320040"/>
          </a:xfrm>
          <a:prstGeom prst="line">
            <a:avLst/>
          </a:prstGeom>
          <a:noFill/>
          <a:ln w="19050">
            <a:solidFill>
              <a:srgbClr val="12B5A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194560"/>
            <a:ext cx="2377440" cy="420624"/>
          </a:xfrm>
          <a:prstGeom prst="rect">
            <a:avLst/>
          </a:prstGeom>
          <a:solidFill>
            <a:srgbClr val="1A3055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" y="2194560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 знайдено?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(≥5 у радіусі 10 м)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97480" y="2404872"/>
            <a:ext cx="457200" cy="0"/>
          </a:xfrm>
          <a:prstGeom prst="line">
            <a:avLst/>
          </a:prstGeom>
          <a:noFill/>
          <a:ln w="19050">
            <a:solidFill>
              <a:srgbClr val="12B5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15768" y="22860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508760" y="2615184"/>
            <a:ext cx="0" cy="320040"/>
          </a:xfrm>
          <a:prstGeom prst="line">
            <a:avLst/>
          </a:prstGeom>
          <a:noFill/>
          <a:ln w="19050">
            <a:solidFill>
              <a:srgbClr val="12B5A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935224"/>
            <a:ext cx="2377440" cy="420624"/>
          </a:xfrm>
          <a:prstGeom prst="rect">
            <a:avLst/>
          </a:prstGeom>
          <a:solidFill>
            <a:srgbClr val="122036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" y="2935224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Обчислюємо центроїд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D_c = (1/n)×Σpᵢ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508760" y="3355848"/>
            <a:ext cx="0" cy="320040"/>
          </a:xfrm>
          <a:prstGeom prst="line">
            <a:avLst/>
          </a:prstGeom>
          <a:noFill/>
          <a:ln w="19050">
            <a:solidFill>
              <a:srgbClr val="12B5A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675888"/>
            <a:ext cx="2377440" cy="420624"/>
          </a:xfrm>
          <a:prstGeom prst="rect">
            <a:avLst/>
          </a:prstGeom>
          <a:solidFill>
            <a:srgbClr val="122036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" y="3675888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wⱼ = max(0, 1 − dⱼ/r)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Mⱼ = Lerp(1, M_target, wⱼ×weightⱼ)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508760" y="4096512"/>
            <a:ext cx="0" cy="320040"/>
          </a:xfrm>
          <a:prstGeom prst="line">
            <a:avLst/>
          </a:prstGeom>
          <a:noFill/>
          <a:ln w="19050">
            <a:solidFill>
              <a:srgbClr val="12B5A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4416552"/>
            <a:ext cx="2377440" cy="420624"/>
          </a:xfrm>
          <a:prstGeom prst="rect">
            <a:avLst/>
          </a:prstGeom>
          <a:solidFill>
            <a:srgbClr val="0E8A7A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" y="4416552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AdjustDifficulty(Mⱼ, Buffered)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29000" y="713232"/>
            <a:ext cx="2377440" cy="420624"/>
          </a:xfrm>
          <a:prstGeom prst="rect">
            <a:avLst/>
          </a:prstGeom>
          <a:solidFill>
            <a:srgbClr val="D97706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65576" y="713232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Гравець на чекпоінті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(RegisterCheckpoint)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1133856"/>
            <a:ext cx="0" cy="320040"/>
          </a:xfrm>
          <a:prstGeom prst="line">
            <a:avLst/>
          </a:prstGeom>
          <a:noFill/>
          <a:ln w="19050">
            <a:solidFill>
              <a:srgbClr val="12B5A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29000" y="1453896"/>
            <a:ext cx="2377440" cy="420624"/>
          </a:xfrm>
          <a:prstGeom prst="rect">
            <a:avLst/>
          </a:prstGeom>
          <a:solidFill>
            <a:srgbClr val="1A3055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65576" y="1453896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Deaths==0 від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останнього чекпоінту?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17720" y="1874520"/>
            <a:ext cx="0" cy="320040"/>
          </a:xfrm>
          <a:prstGeom prst="line">
            <a:avLst/>
          </a:prstGeom>
          <a:noFill/>
          <a:ln w="19050">
            <a:solidFill>
              <a:srgbClr val="12B5A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29000" y="2194560"/>
            <a:ext cx="2377440" cy="420624"/>
          </a:xfrm>
          <a:prstGeom prst="rect">
            <a:avLst/>
          </a:prstGeom>
          <a:solidFill>
            <a:srgbClr val="122036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65576" y="2194560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Генерується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OnPlayerDominating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17720" y="2615184"/>
            <a:ext cx="0" cy="320040"/>
          </a:xfrm>
          <a:prstGeom prst="line">
            <a:avLst/>
          </a:prstGeom>
          <a:noFill/>
          <a:ln w="19050">
            <a:solidFill>
              <a:srgbClr val="12B5A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29000" y="2935224"/>
            <a:ext cx="2377440" cy="420624"/>
          </a:xfrm>
          <a:prstGeom prst="rect">
            <a:avLst/>
          </a:prstGeom>
          <a:solidFill>
            <a:srgbClr val="122036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65576" y="2935224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Складність ↑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радіусі r_compl=20 м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17720" y="3355848"/>
            <a:ext cx="0" cy="320040"/>
          </a:xfrm>
          <a:prstGeom prst="line">
            <a:avLst/>
          </a:prstGeom>
          <a:noFill/>
          <a:ln w="19050">
            <a:solidFill>
              <a:srgbClr val="12B5A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29000" y="3675888"/>
            <a:ext cx="2377440" cy="420624"/>
          </a:xfrm>
          <a:prstGeom prst="rect">
            <a:avLst/>
          </a:prstGeom>
          <a:solidFill>
            <a:srgbClr val="D97706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65576" y="3675888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AdjustDifficulty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(M_compl, Buffered)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92240" y="2194560"/>
            <a:ext cx="2331720" cy="420624"/>
          </a:xfrm>
          <a:prstGeom prst="rect">
            <a:avLst/>
          </a:prstGeom>
          <a:solidFill>
            <a:srgbClr val="122036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28816" y="2194560"/>
            <a:ext cx="2258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Очікуємо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OnScreenDarkened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662672" y="2615184"/>
            <a:ext cx="0" cy="320040"/>
          </a:xfrm>
          <a:prstGeom prst="line">
            <a:avLst/>
          </a:prstGeom>
          <a:noFill/>
          <a:ln w="19050">
            <a:solidFill>
              <a:srgbClr val="12B5A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92240" y="2935224"/>
            <a:ext cx="2331720" cy="420624"/>
          </a:xfrm>
          <a:prstGeom prst="rect">
            <a:avLst/>
          </a:prstGeom>
          <a:solidFill>
            <a:srgbClr val="122036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28816" y="2935224"/>
            <a:ext cx="2258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Викликаємо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ApplyDDA(multiplier)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662672" y="3355848"/>
            <a:ext cx="0" cy="320040"/>
          </a:xfrm>
          <a:prstGeom prst="line">
            <a:avLst/>
          </a:prstGeom>
          <a:noFill/>
          <a:ln w="19050">
            <a:solidFill>
              <a:srgbClr val="12B5A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92240" y="3675888"/>
            <a:ext cx="2331720" cy="420624"/>
          </a:xfrm>
          <a:prstGeom prst="rect">
            <a:avLst/>
          </a:prstGeom>
          <a:solidFill>
            <a:srgbClr val="0E8A7A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28816" y="3675888"/>
            <a:ext cx="2258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Зміни застосовані,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гравець не помітив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651760" y="240487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→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806440" y="3145536"/>
            <a:ext cx="685800" cy="0"/>
          </a:xfrm>
          <a:prstGeom prst="line">
            <a:avLst/>
          </a:prstGeom>
          <a:noFill/>
          <a:ln w="19050">
            <a:solidFill>
              <a:srgbClr val="12B5A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06440" y="301752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Результати порівняльного A/B-тестування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713232"/>
          <a:ext cx="47548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212080" y="713232"/>
          <a:ext cx="35661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657600"/>
          <a:ext cx="8412480" cy="13716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33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Група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CR, 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Смерті (сер.)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IS, бали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FS, бали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A: Baseline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61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22.4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2.8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B: Heuristic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B5A1"/>
                          </a:solidFill>
                        </a:rPr>
                        <a:t>74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15.1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4.2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3.6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C: RF / MLP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B5A1"/>
                          </a:solidFill>
                        </a:rPr>
                        <a:t>79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12.8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4.5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3.9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</a:rPr>
                        <a:t>D: RL Director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</a:rPr>
                        <a:t>82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</a:rPr>
                        <a:t>11.2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</a:rPr>
                        <a:t>4.7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</a:rPr>
                        <a:t>4.3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отриманих результатів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4069080" cy="210312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11880" y="786384"/>
            <a:ext cx="685800" cy="64008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1880" y="786384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261872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зріс від 61% (Baseline) до 82% (RL) – навіть евристика дає +13 п.п. без ML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713232"/>
            <a:ext cx="4069080" cy="210312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955280" y="786384"/>
            <a:ext cx="685800" cy="640080"/>
          </a:xfrm>
          <a:prstGeom prst="rect">
            <a:avLst/>
          </a:prstGeom>
          <a:solidFill>
            <a:srgbClr val="0B5F9E"/>
          </a:solidFill>
          <a:ln w="12700">
            <a:solidFill>
              <a:srgbClr val="0B5F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786384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00600" y="8046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Зниження смертей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00600" y="1261872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Середня кількість смертей скоротилась з 22.4 до 11.2 — у 2 рази без зміни геймплею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2999232"/>
            <a:ext cx="4069080" cy="210312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11880" y="3072384"/>
            <a:ext cx="685800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3072384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30906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Invisibility Score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3547872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RL-Директор отримав найвищу оцінку непомітності (4.7/5) — гравці не відчули адаптацію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999232"/>
            <a:ext cx="4069080" cy="210312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955280" y="3072384"/>
            <a:ext cx="685800" cy="64008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3072384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R²=0.83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00600" y="30906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vs MLP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00600" y="3547872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незначно точніший за MLP і в 8 разів швидший в інференсі (0.04 vs 0.8 мс)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Порівняння з існуючими DDA-системами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13232"/>
          <a:ext cx="8503920" cy="4041648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Критерій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RE4 / L4D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4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Crash Bandicoot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4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Ця робота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Алгоритм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Ручні евристики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Лічильник смертей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B5A1"/>
                          </a:solidFill>
                        </a:rPr>
                        <a:t>Hybrid: Heuristic+RF+MLP+RL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Метрики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1-2 (здоров'я, kill)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1 (death count)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B5A1"/>
                          </a:solidFill>
                        </a:rPr>
                        <a:t>8 поведінкових метрик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3D-платформер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Ні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Частково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B5A1"/>
                          </a:solidFill>
                        </a:rPr>
                        <a:t>Так (Unity 3D)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ML / RL компонент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Ні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Ні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B5A1"/>
                          </a:solidFill>
                        </a:rPr>
                        <a:t>Так (RF, MLP, PPO RL)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Просторовий аналіз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Ні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Ні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B5A1"/>
                          </a:solidFill>
                        </a:rPr>
                        <a:t>Кластеризація + Last Safe Pos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Непомітність змін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Частково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Ні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B5A1"/>
                          </a:solidFill>
                        </a:rPr>
                        <a:t>Так (OnScreenDarkened)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Відкрите порівняння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Ні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Ні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B5A1"/>
                          </a:solidFill>
                        </a:rPr>
                        <a:t>Так (A/B, 4 групи, 5 метрик)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055"/>
          </a:solidFill>
          <a:ln w="12700">
            <a:solidFill>
              <a:srgbClr val="1A30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69848"/>
            <a:ext cx="411480" cy="411480"/>
          </a:xfrm>
          <a:prstGeom prst="ellipse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698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06984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і огляд: 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1069848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Виявлено обмеження комерційних DDA; обґрунтовано унікальність 3D-платформерного контексту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737360"/>
            <a:ext cx="411480" cy="411480"/>
          </a:xfrm>
          <a:prstGeom prst="ellipse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Телеметрія: 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1737360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Реалізовано збір 8 поведінкових метрик (NDJSON), включаючи психологічні індикатори фрустрації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404872"/>
            <a:ext cx="411480" cy="411480"/>
          </a:xfrm>
          <a:prstGeom prst="ellipse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4048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240487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Евристичний DDA: 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2404872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CR: 61→74%, Invisibility Score 4.2/5; кластеризація + захист від відкату через OnScreenDarkened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072384"/>
            <a:ext cx="411480" cy="411480"/>
          </a:xfrm>
          <a:prstGeom prst="ellipse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  <p:txBody>
          <a:bodyPr/>
          <a:lstStyle/>
          <a:p>
            <a:endParaRPr lang="uk-UA" dirty="0"/>
          </a:p>
        </p:txBody>
      </p:sp>
      <p:sp>
        <p:nvSpPr>
          <p:cNvPr id="17" name="Text 15"/>
          <p:cNvSpPr/>
          <p:nvPr/>
        </p:nvSpPr>
        <p:spPr>
          <a:xfrm>
            <a:off x="320040" y="30723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3072384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ML-конвеєр: 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86000" y="3072384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(R²=0.83, &lt;0.1 мс) і MLP (R²=0.81, ~0.8 мс) інтегровані в Unity без зовнішніх залежностей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3739896"/>
            <a:ext cx="411480" cy="411480"/>
          </a:xfrm>
          <a:prstGeom prst="ellipse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7398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3739896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RL-система: 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286000" y="3739896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Self-Play: BotAgent (84% CR), DirectorAgent (SR≈80%). CR: 61→82%, FS: 2.8→4.3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4407408"/>
            <a:ext cx="411480" cy="411480"/>
          </a:xfrm>
          <a:prstGeom prst="ellipse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4074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44074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A/B-аналіз: 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286000" y="4407408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Всі 4 підходи порівняно за 5 метриками; RL є найефективнішим але всі варіанти перевищують Baseline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554480"/>
            <a:ext cx="3931920" cy="64008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66928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Дякую за увагу!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Верещак Богдан Олегович, гр. ПП-44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Науковий керівник: </a:t>
            </a:r>
            <a:r>
              <a:rPr lang="uk-UA" sz="15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к. т. н., </a:t>
            </a:r>
            <a:r>
              <a:rPr lang="en-US" sz="1500" dirty="0" err="1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асист</a:t>
            </a:r>
            <a:r>
              <a:rPr lang="en-US" sz="15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каф. САП Патерега Юрій Ігорович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2186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Національний університет «Львівська політехніка» — кафедра САП —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023360"/>
            <a:ext cx="1828800" cy="914400"/>
          </a:xfrm>
          <a:prstGeom prst="rect">
            <a:avLst/>
          </a:prstGeom>
          <a:solidFill>
            <a:srgbClr val="122036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0507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RL Director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4023360"/>
            <a:ext cx="1828800" cy="914400"/>
          </a:xfrm>
          <a:prstGeom prst="rect">
            <a:avLst/>
          </a:prstGeom>
          <a:solidFill>
            <a:srgbClr val="122036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40507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60320" y="44805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Score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(з 5.0 можливих)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4023360"/>
            <a:ext cx="1828800" cy="914400"/>
          </a:xfrm>
          <a:prstGeom prst="rect">
            <a:avLst/>
          </a:prstGeom>
          <a:solidFill>
            <a:srgbClr val="122036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40507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uk-UA" sz="26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2600" b="1" dirty="0">
                <a:solidFill>
                  <a:srgbClr val="12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600" dirty="0">
              <a:solidFill>
                <a:srgbClr val="122036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663440" y="44805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підходи DDA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порівняно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4023360"/>
            <a:ext cx="1828800" cy="914400"/>
          </a:xfrm>
          <a:prstGeom prst="rect">
            <a:avLst/>
          </a:prstGeom>
          <a:solidFill>
            <a:srgbClr val="122036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40507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766560" y="44805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наукових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Верещак_Бакалаврська_Презентація</Template>
  <TotalTime>0</TotalTime>
  <Words>1514</Words>
  <Application>Microsoft Office PowerPoint</Application>
  <PresentationFormat>On-screen Show (16:9)</PresentationFormat>
  <Paragraphs>379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 Math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Богдан Верещак</dc:creator>
  <cp:lastModifiedBy>Богдан Верещак</cp:lastModifiedBy>
  <cp:revision>1</cp:revision>
  <dcterms:created xsi:type="dcterms:W3CDTF">2026-06-11T07:44:23Z</dcterms:created>
  <dcterms:modified xsi:type="dcterms:W3CDTF">2026-06-11T07:44:48Z</dcterms:modified>
</cp:coreProperties>
</file>
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DDF1"/>
    <a:srgbClr val="DEEBF7"/>
    <a:srgbClr val="BDD7EE"/>
    <a:srgbClr val="0E8A7A"/>
    <a:srgbClr val="C2DFE3"/>
    <a:srgbClr val="E3E6EB"/>
    <a:srgbClr val="D97706"/>
    <a:srgbClr val="0B5F9E"/>
    <a:srgbClr val="000000"/>
    <a:srgbClr val="2393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8" autoAdjust="0"/>
    <p:restoredTop sz="95033" autoAdjust="0"/>
  </p:normalViewPr>
  <p:slideViewPr>
    <p:cSldViewPr snapToGrid="0" snapToObjects="1">
      <p:cViewPr>
        <p:scale>
          <a:sx n="75" d="100"/>
          <a:sy n="75" d="100"/>
        </p:scale>
        <p:origin x="898" y="54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36508FFC0C5F033/&#1044;&#1086;&#1082;&#1091;&#1084;&#1077;&#1085;&#1090;&#1080;/ABResul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36508FFC0C5F033/&#1044;&#1086;&#1082;&#1091;&#1084;&#1077;&#1085;&#1090;&#1080;/ABResult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uk-UA" sz="1400" b="0" i="0" u="none" strike="noStrike" baseline="0" dirty="0"/>
              <a:t>Частка успішно подоланих перешкод(</a:t>
            </a:r>
            <a:r>
              <a:rPr lang="en-US" sz="1400" b="0" i="0" u="none" strike="noStrike" baseline="0" dirty="0"/>
              <a:t>CR)</a:t>
            </a:r>
            <a:r>
              <a:rPr lang="en-US" dirty="0"/>
              <a:t>, %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uk-UA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CR, 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A: Baseline</c:v>
                </c:pt>
                <c:pt idx="1">
                  <c:v>B: Heuristic</c:v>
                </c:pt>
                <c:pt idx="2">
                  <c:v>C: Random Forest</c:v>
                </c:pt>
                <c:pt idx="3">
                  <c:v>D: RL (Director)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61</c:v>
                </c:pt>
                <c:pt idx="1">
                  <c:v>86</c:v>
                </c:pt>
                <c:pt idx="2">
                  <c:v>82</c:v>
                </c:pt>
                <c:pt idx="3">
                  <c:v>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C0-4082-AF85-EAC4443542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60493503"/>
        <c:axId val="2060493983"/>
      </c:barChart>
      <c:catAx>
        <c:axId val="20604935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2060493983"/>
        <c:crosses val="autoZero"/>
        <c:auto val="1"/>
        <c:lblAlgn val="ctr"/>
        <c:lblOffset val="100"/>
        <c:noMultiLvlLbl val="0"/>
      </c:catAx>
      <c:valAx>
        <c:axId val="2060493983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20604935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uk-UA" sz="1400" b="0" i="0" u="none" strike="noStrike" baseline="0"/>
              <a:t>Тривалість ігрової сесії (</a:t>
            </a:r>
            <a:r>
              <a:rPr lang="en-US" sz="1400" b="0" i="0" u="none" strike="noStrike" baseline="0"/>
              <a:t>ST)</a:t>
            </a:r>
            <a:r>
              <a:rPr lang="en-US"/>
              <a:t>, </a:t>
            </a:r>
            <a:r>
              <a:rPr lang="uk-UA"/>
              <a:t>хв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uk-UA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ST, хв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A: Baseline</c:v>
                </c:pt>
                <c:pt idx="1">
                  <c:v>B: Heuristic</c:v>
                </c:pt>
                <c:pt idx="2">
                  <c:v>C: Random Forest</c:v>
                </c:pt>
                <c:pt idx="3">
                  <c:v>D: RL (Director)</c:v>
                </c:pt>
              </c:strCache>
            </c:strRef>
          </c:cat>
          <c:val>
            <c:numRef>
              <c:f>Sheet1!$D$2:$D$5</c:f>
              <c:numCache>
                <c:formatCode>0.00</c:formatCode>
                <c:ptCount val="4"/>
                <c:pt idx="0">
                  <c:v>18.2</c:v>
                </c:pt>
                <c:pt idx="1">
                  <c:v>15.3</c:v>
                </c:pt>
                <c:pt idx="2">
                  <c:v>21.5</c:v>
                </c:pt>
                <c:pt idx="3">
                  <c:v>23.8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1F-4269-A301-70095B4F17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02454655"/>
        <c:axId val="1402456575"/>
      </c:barChart>
      <c:catAx>
        <c:axId val="14024546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1402456575"/>
        <c:crosses val="autoZero"/>
        <c:auto val="1"/>
        <c:lblAlgn val="ctr"/>
        <c:lblOffset val="100"/>
        <c:noMultiLvlLbl val="0"/>
      </c:catAx>
      <c:valAx>
        <c:axId val="14024565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14024546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3930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8352"/>
            <a:ext cx="3200400" cy="3200400"/>
          </a:xfrm>
          <a:prstGeom prst="ellipse">
            <a:avLst/>
          </a:prstGeom>
          <a:solidFill>
            <a:srgbClr val="DEEBF7"/>
          </a:solidFill>
          <a:ln w="12700">
            <a:noFill/>
            <a:prstDash val="solid"/>
          </a:ln>
        </p:spPr>
        <p:txBody>
          <a:bodyPr/>
          <a:lstStyle/>
          <a:p>
            <a:endParaRPr lang="uk-UA" dirty="0"/>
          </a:p>
        </p:txBody>
      </p:sp>
      <p:sp>
        <p:nvSpPr>
          <p:cNvPr id="3" name="Shape 1"/>
          <p:cNvSpPr/>
          <p:nvPr/>
        </p:nvSpPr>
        <p:spPr>
          <a:xfrm>
            <a:off x="7143906" y="184520"/>
            <a:ext cx="2011680" cy="201168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noFill/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4114800"/>
            <a:ext cx="1828800" cy="18288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noFill/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47472"/>
            <a:ext cx="4669436" cy="49478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24382"/>
            <a:ext cx="6560507" cy="3254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Національний університет «Львівська політехніка»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950976"/>
            <a:ext cx="7772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Розроблення системи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динамічної адаптації складності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рівнів у ігровому середовищі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3127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Бакалаврська</a:t>
            </a:r>
            <a:r>
              <a:rPr lang="en-US" sz="2200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кваліфікаційна робота</a:t>
            </a:r>
            <a:endParaRPr lang="en-US" sz="2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34930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Студент: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Верещак Богдан Олегович, гр. ПП-44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" y="3813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Керівник: </a:t>
            </a:r>
            <a:r>
              <a:rPr lang="uk-UA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к. т. н.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асист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 каф. САП Патерега Ю. І.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200" y="462586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Львів – 2026</a:t>
            </a:r>
            <a:endParaRPr lang="en-US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40F3F664-5321-0F6D-43A9-BA6E944D6872}"/>
              </a:ext>
            </a:extLst>
          </p:cNvPr>
          <p:cNvSpPr/>
          <p:nvPr/>
        </p:nvSpPr>
        <p:spPr>
          <a:xfrm>
            <a:off x="457200" y="797532"/>
            <a:ext cx="68348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Кафедра ”Системи автоматизованого проектування”</a:t>
            </a:r>
          </a:p>
        </p:txBody>
      </p:sp>
      <p:sp>
        <p:nvSpPr>
          <p:cNvPr id="14" name="Shape 10"/>
          <p:cNvSpPr/>
          <p:nvPr/>
        </p:nvSpPr>
        <p:spPr>
          <a:xfrm>
            <a:off x="457200" y="3017520"/>
            <a:ext cx="5029200" cy="36576"/>
          </a:xfrm>
          <a:prstGeom prst="rect">
            <a:avLst/>
          </a:prstGeom>
          <a:solidFill>
            <a:srgbClr val="1E4D7A"/>
          </a:solidFill>
          <a:ln w="12700">
            <a:solidFill>
              <a:srgbClr val="1E4D7A"/>
            </a:solidFill>
            <a:prstDash val="solid"/>
          </a:ln>
        </p:spPr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CA95C2E-6E18-887E-F786-DD6CB398B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3613" y="434090"/>
            <a:ext cx="1594703" cy="1512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Актуальність роботи</a:t>
            </a:r>
            <a:endParaRPr lang="en-US" sz="3000" dirty="0"/>
          </a:p>
        </p:txBody>
      </p:sp>
      <p:sp>
        <p:nvSpPr>
          <p:cNvPr id="3" name="Shape 3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Shape 5"/>
          <p:cNvSpPr/>
          <p:nvPr/>
        </p:nvSpPr>
        <p:spPr>
          <a:xfrm>
            <a:off x="411480" y="822960"/>
            <a:ext cx="2651760" cy="1600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896112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E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35-40%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uk-UA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Гравців кидають гру</a:t>
            </a:r>
            <a:endParaRPr lang="uk-UA" sz="1400" dirty="0"/>
          </a:p>
          <a:p>
            <a:pPr marL="0" indent="0" algn="ctr">
              <a:buNone/>
            </a:pPr>
            <a:r>
              <a:rPr lang="uk-UA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невідповідну складність</a:t>
            </a:r>
            <a:endParaRPr lang="uk-UA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822960"/>
            <a:ext cx="2651760" cy="1600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896112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B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≈22%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337560" y="16459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uk-UA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Медіанний показник утримання гравців першого дня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822960"/>
            <a:ext cx="2651760" cy="1600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896112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4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r>
              <a:rPr lang="en-US" sz="4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4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млрд </a:t>
            </a:r>
            <a:r>
              <a:rPr lang="en-US" sz="4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263640" y="16459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uk-UA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Прогнозований обсяг світового ринку відеоігор у 2027 році 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uk-UA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аналітична компанія 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Newzoo)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79" y="2571750"/>
            <a:ext cx="8503921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Статична складність не враховує різноманітність гравців і динаміку навичок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Комерційні DDA обмежені примітивними лічильниками (RE4, Crash Bandicoot)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Відкрите порівняльне дослідження для 3D-платформерів практично відсутнє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Психологічні метрики (Jitter, APM, Time-to-Recover)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раніше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не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використовувались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разом</a:t>
            </a:r>
            <a:endParaRPr lang="en-US" dirty="0"/>
          </a:p>
        </p:txBody>
      </p:sp>
      <p:sp>
        <p:nvSpPr>
          <p:cNvPr id="15" name="Shape 0">
            <a:extLst>
              <a:ext uri="{FF2B5EF4-FFF2-40B4-BE49-F238E27FC236}">
                <a16:creationId xmlns:a16="http://schemas.microsoft.com/office/drawing/2014/main" id="{5D6C219F-0D8D-0004-CE09-21B13C9B5844}"/>
              </a:ext>
            </a:extLst>
          </p:cNvPr>
          <p:cNvSpPr/>
          <p:nvPr/>
        </p:nvSpPr>
        <p:spPr>
          <a:xfrm>
            <a:off x="9144000" y="-2188542"/>
            <a:ext cx="3200400" cy="32004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noFill/>
            <a:prstDash val="solid"/>
          </a:ln>
        </p:spPr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82A523E9-43DF-C944-8279-B9A08F9AB3A9}"/>
              </a:ext>
            </a:extLst>
          </p:cNvPr>
          <p:cNvSpPr/>
          <p:nvPr/>
        </p:nvSpPr>
        <p:spPr>
          <a:xfrm>
            <a:off x="9875520" y="-999822"/>
            <a:ext cx="2011680" cy="201168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noFill/>
            <a:prstDash val="solid"/>
          </a:ln>
        </p:spPr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E05DFAB8-FAC2-7CDC-4108-F9479BD86FAC}"/>
              </a:ext>
            </a:extLst>
          </p:cNvPr>
          <p:cNvSpPr/>
          <p:nvPr/>
        </p:nvSpPr>
        <p:spPr>
          <a:xfrm>
            <a:off x="-1724628" y="4857750"/>
            <a:ext cx="1828800" cy="18288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noFill/>
            <a:prstDash val="solid"/>
          </a:ln>
        </p:spPr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B445999E-EE5A-FE5D-3232-2E4462D64AF5}"/>
              </a:ext>
            </a:extLst>
          </p:cNvPr>
          <p:cNvSpPr/>
          <p:nvPr/>
        </p:nvSpPr>
        <p:spPr>
          <a:xfrm>
            <a:off x="-5334000" y="3057378"/>
            <a:ext cx="5029200" cy="36576"/>
          </a:xfrm>
          <a:prstGeom prst="rect">
            <a:avLst/>
          </a:prstGeom>
          <a:solidFill>
            <a:srgbClr val="1E4D7A"/>
          </a:solidFill>
          <a:ln w="12700">
            <a:solidFill>
              <a:srgbClr val="1E4D7A"/>
            </a:solidFill>
            <a:prstDash val="solid"/>
          </a:ln>
        </p:spPr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92987898-7112-971F-BD58-6006D24CA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4008" y="-756270"/>
            <a:ext cx="1594703" cy="1512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Об'єкт, предмет, мета та задачі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685800"/>
            <a:ext cx="2651760" cy="14708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731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Об'єкт</a:t>
            </a:r>
            <a:endParaRPr lang="en-US" dirty="0">
              <a:solidFill>
                <a:srgbClr val="0B5F9E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2651760" cy="11508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 управління рівнем складності комп'ютерної гри у реальному часі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685800"/>
            <a:ext cx="2651760" cy="14708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731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</a:t>
            </a:r>
            <a:endParaRPr lang="en-US" dirty="0">
              <a:solidFill>
                <a:srgbClr val="0B5F9E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337560" y="1005840"/>
            <a:ext cx="2743202" cy="1127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uk-UA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системи 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DDA </a:t>
            </a:r>
            <a:r>
              <a:rPr lang="uk-UA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на основі евристичних методів, алгоритмів 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</a:t>
            </a:r>
            <a:r>
              <a:rPr lang="uk-UA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багатошарового перцептрону та навчання з підкріпленням.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685800"/>
            <a:ext cx="2651760" cy="14708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731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</a:t>
            </a:r>
            <a:endParaRPr lang="en-US" dirty="0">
              <a:solidFill>
                <a:srgbClr val="0B5F9E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63640" y="1005840"/>
            <a:ext cx="2651760" cy="11508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Розробити та порівняти підсистему DDA, </a:t>
            </a:r>
            <a:r>
              <a:rPr lang="uk-UA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яка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аналізує 8 поведінкових метрик і зберігає </a:t>
            </a:r>
            <a:r>
              <a:rPr lang="en-US" sz="14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гравця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у </a:t>
            </a:r>
            <a:r>
              <a:rPr lang="en-US" sz="14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стані</a:t>
            </a:r>
            <a:r>
              <a:rPr lang="uk-UA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оптимальної залученості.</a:t>
            </a:r>
            <a:endParaRPr lang="en-US" sz="1400" dirty="0"/>
          </a:p>
        </p:txBody>
      </p:sp>
      <p:sp>
        <p:nvSpPr>
          <p:cNvPr id="14" name="Shape 25"/>
          <p:cNvSpPr/>
          <p:nvPr/>
        </p:nvSpPr>
        <p:spPr>
          <a:xfrm>
            <a:off x="411480" y="2421844"/>
            <a:ext cx="3931920" cy="7132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1208" y="2476708"/>
            <a:ext cx="37124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1. Аналіз існуючих DDA-систем і ML-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методів</a:t>
            </a:r>
            <a:r>
              <a:rPr lang="uk-UA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у ігровому контексті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1844"/>
            <a:ext cx="3931920" cy="7132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27448" y="2476708"/>
            <a:ext cx="37124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uk-UA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Розробка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підсистеми збору поведінкової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телеметрії</a:t>
            </a:r>
            <a:endParaRPr lang="uk-UA" sz="1600" dirty="0"/>
          </a:p>
        </p:txBody>
      </p:sp>
      <p:sp>
        <p:nvSpPr>
          <p:cNvPr id="18" name="Shape 16"/>
          <p:cNvSpPr/>
          <p:nvPr/>
        </p:nvSpPr>
        <p:spPr>
          <a:xfrm>
            <a:off x="411480" y="3263092"/>
            <a:ext cx="3931920" cy="7132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1208" y="3317956"/>
            <a:ext cx="37124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3. Реалізація евристичної DDA з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кластеризацією</a:t>
            </a:r>
            <a:r>
              <a:rPr lang="uk-UA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смертей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17720" y="3263092"/>
            <a:ext cx="3931920" cy="7132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27448" y="3317956"/>
            <a:ext cx="37124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4. ML-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конвеєр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uk-UA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навчання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RF </a:t>
            </a:r>
            <a:r>
              <a:rPr lang="uk-UA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і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MLP, інтеграція у Unity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11480" y="4104340"/>
            <a:ext cx="3931920" cy="7132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21208" y="4159204"/>
            <a:ext cx="37124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5. RL-система: BotAgent + DirectorAgent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617720" y="4104340"/>
            <a:ext cx="3931920" cy="7132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27448" y="4159204"/>
            <a:ext cx="37124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6. A/B-тестування 4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варіантів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DDA</a:t>
            </a:r>
            <a:endParaRPr lang="en-US" sz="1600" dirty="0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E68B7F03-F3C8-4B87-BD30-4D64D23BB750}"/>
              </a:ext>
            </a:extLst>
          </p:cNvPr>
          <p:cNvSpPr/>
          <p:nvPr/>
        </p:nvSpPr>
        <p:spPr>
          <a:xfrm>
            <a:off x="-5334000" y="3057378"/>
            <a:ext cx="5029200" cy="36576"/>
          </a:xfrm>
          <a:prstGeom prst="rect">
            <a:avLst/>
          </a:prstGeom>
          <a:solidFill>
            <a:srgbClr val="1E4D7A"/>
          </a:solidFill>
          <a:ln w="12700">
            <a:solidFill>
              <a:srgbClr val="1E4D7A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 системи </a:t>
            </a: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-8625840" y="1647074"/>
            <a:ext cx="2651760" cy="402336"/>
          </a:xfrm>
          <a:prstGeom prst="rect">
            <a:avLst/>
          </a:prstGeom>
          <a:solidFill>
            <a:srgbClr val="EAF2FA"/>
          </a:solidFill>
          <a:ln w="12700">
            <a:noFill/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-8625840" y="1683650"/>
            <a:ext cx="2651760" cy="347472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Шар збору даних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-8625840" y="2122562"/>
            <a:ext cx="2651760" cy="530352"/>
          </a:xfrm>
          <a:prstGeom prst="rect">
            <a:avLst/>
          </a:prstGeom>
          <a:solidFill>
            <a:srgbClr val="EAF2FA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-8534400" y="2177426"/>
            <a:ext cx="2468880" cy="420624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GameSession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-8625840" y="2726066"/>
            <a:ext cx="2651760" cy="530352"/>
          </a:xfrm>
          <a:prstGeom prst="rect">
            <a:avLst/>
          </a:prstGeom>
          <a:solidFill>
            <a:srgbClr val="EAF2FA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-8534400" y="2780930"/>
            <a:ext cx="2468880" cy="420624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PlayerTracker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-8625840" y="3329570"/>
            <a:ext cx="2651760" cy="530352"/>
          </a:xfrm>
          <a:prstGeom prst="rect">
            <a:avLst/>
          </a:prstGeom>
          <a:solidFill>
            <a:srgbClr val="EAF2FA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-8534400" y="3384434"/>
            <a:ext cx="2468880" cy="420624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AnalyticsManager (NDJSON)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-5974080" y="2945522"/>
            <a:ext cx="274320" cy="0"/>
          </a:xfrm>
          <a:prstGeom prst="line">
            <a:avLst/>
          </a:prstGeom>
          <a:noFill/>
          <a:ln w="25400">
            <a:noFill/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-5699760" y="1647074"/>
            <a:ext cx="2651760" cy="402336"/>
          </a:xfrm>
          <a:prstGeom prst="rect">
            <a:avLst/>
          </a:prstGeom>
          <a:solidFill>
            <a:srgbClr val="EAF2FA"/>
          </a:solidFill>
          <a:ln w="12700">
            <a:noFill/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-5699760" y="1683650"/>
            <a:ext cx="2651760" cy="347472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Ядро DDA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-5699760" y="2122562"/>
            <a:ext cx="2651760" cy="530352"/>
          </a:xfrm>
          <a:prstGeom prst="rect">
            <a:avLst/>
          </a:prstGeom>
          <a:solidFill>
            <a:srgbClr val="EAF2FA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-5608320" y="2177426"/>
            <a:ext cx="2468880" cy="420624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DDAManager (реєстр)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-5699760" y="2726066"/>
            <a:ext cx="2651760" cy="530352"/>
          </a:xfrm>
          <a:prstGeom prst="rect">
            <a:avLst/>
          </a:prstGeom>
          <a:solidFill>
            <a:srgbClr val="EAF2FA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-5608320" y="2780930"/>
            <a:ext cx="2468880" cy="420624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IDDAStrategy (патерн)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-5699760" y="3329570"/>
            <a:ext cx="2651760" cy="530352"/>
          </a:xfrm>
          <a:prstGeom prst="rect">
            <a:avLst/>
          </a:prstGeom>
          <a:solidFill>
            <a:srgbClr val="EAF2FA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-5608320" y="3384434"/>
            <a:ext cx="2468880" cy="420624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 режими: Baseline / Heuristic / ML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-3048000" y="2945522"/>
            <a:ext cx="274320" cy="0"/>
          </a:xfrm>
          <a:prstGeom prst="line">
            <a:avLst/>
          </a:prstGeom>
          <a:noFill/>
          <a:ln w="25400">
            <a:noFill/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-2773680" y="1647074"/>
            <a:ext cx="2651760" cy="402336"/>
          </a:xfrm>
          <a:prstGeom prst="rect">
            <a:avLst/>
          </a:prstGeom>
          <a:solidFill>
            <a:srgbClr val="EAF2FA"/>
          </a:solidFill>
          <a:ln w="12700">
            <a:noFill/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-2773680" y="1683650"/>
            <a:ext cx="2651760" cy="347472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Шар виконання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-2773680" y="2122562"/>
            <a:ext cx="2651760" cy="530352"/>
          </a:xfrm>
          <a:prstGeom prst="rect">
            <a:avLst/>
          </a:prstGeom>
          <a:solidFill>
            <a:srgbClr val="EAF2FA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-2682240" y="2177426"/>
            <a:ext cx="2468880" cy="420624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DynamicObstacleBase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-2773680" y="2726066"/>
            <a:ext cx="2651760" cy="530352"/>
          </a:xfrm>
          <a:prstGeom prst="rect">
            <a:avLst/>
          </a:prstGeom>
          <a:solidFill>
            <a:srgbClr val="EAF2FA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-2682240" y="2780930"/>
            <a:ext cx="2468880" cy="420624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IDynamicObstacle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-2773680" y="3329570"/>
            <a:ext cx="2651760" cy="530352"/>
          </a:xfrm>
          <a:prstGeom prst="rect">
            <a:avLst/>
          </a:prstGeom>
          <a:solidFill>
            <a:srgbClr val="EAF2FA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-2682240" y="3384434"/>
            <a:ext cx="2468880" cy="420624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Буферизація → OnScreenDarkened</a:t>
            </a:r>
            <a:endParaRPr lang="en-US" sz="13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4AD06E1E-1336-7E07-6661-DEB03D2BF9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203" y="554529"/>
            <a:ext cx="5486400" cy="4591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Поведінкові метрики та їх психологічний зміст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47000EE-1CA9-C235-1A41-D9376D3F41E3}"/>
              </a:ext>
            </a:extLst>
          </p:cNvPr>
          <p:cNvGrpSpPr/>
          <p:nvPr/>
        </p:nvGrpSpPr>
        <p:grpSpPr>
          <a:xfrm>
            <a:off x="411480" y="713232"/>
            <a:ext cx="3931920" cy="914400"/>
            <a:chOff x="411480" y="713232"/>
            <a:chExt cx="3931920" cy="914400"/>
          </a:xfrm>
        </p:grpSpPr>
        <p:sp>
          <p:nvSpPr>
            <p:cNvPr id="5" name="Shape 3"/>
            <p:cNvSpPr/>
            <p:nvPr/>
          </p:nvSpPr>
          <p:spPr>
            <a:xfrm>
              <a:off x="411480" y="713232"/>
              <a:ext cx="3931920" cy="9144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noFill/>
              <a:prstDash val="solid"/>
            </a:ln>
            <a:effectLst>
              <a:outerShdw blurRad="101600" dist="381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6" name="Shape 4"/>
            <p:cNvSpPr/>
            <p:nvPr/>
          </p:nvSpPr>
          <p:spPr>
            <a:xfrm>
              <a:off x="411480" y="713232"/>
              <a:ext cx="109728" cy="914400"/>
            </a:xfrm>
            <a:prstGeom prst="rect">
              <a:avLst/>
            </a:prstGeom>
            <a:solidFill>
              <a:srgbClr val="239386">
                <a:alpha val="20000"/>
              </a:srgbClr>
            </a:solidFill>
            <a:ln w="12700">
              <a:noFill/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594360" y="77724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checkpoint_deaths</a:t>
              </a:r>
              <a:endParaRPr lang="en-US" sz="16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94360" y="1060704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Смерті від чекпоінту</a:t>
              </a:r>
              <a:endParaRPr lang="en-US" sz="14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94360" y="1289304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i="1" dirty="0">
                  <a:solidFill>
                    <a:srgbClr val="0E8A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</a:t>
              </a:r>
              <a:r>
                <a:rPr lang="uk-UA" sz="1400" i="1" dirty="0">
                  <a:solidFill>
                    <a:srgbClr val="0E8A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Локальні труднощі</a:t>
              </a:r>
              <a:endParaRPr lang="en-US" sz="1400" dirty="0">
                <a:solidFill>
                  <a:srgbClr val="0E8A7A"/>
                </a:solidFill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AC64578-00C5-680E-9EF9-A0E8EC78CAD3}"/>
              </a:ext>
            </a:extLst>
          </p:cNvPr>
          <p:cNvGrpSpPr/>
          <p:nvPr/>
        </p:nvGrpSpPr>
        <p:grpSpPr>
          <a:xfrm>
            <a:off x="4617720" y="2757497"/>
            <a:ext cx="3931920" cy="914400"/>
            <a:chOff x="4617720" y="713232"/>
            <a:chExt cx="3931920" cy="914400"/>
          </a:xfrm>
        </p:grpSpPr>
        <p:sp>
          <p:nvSpPr>
            <p:cNvPr id="10" name="Shape 8"/>
            <p:cNvSpPr/>
            <p:nvPr/>
          </p:nvSpPr>
          <p:spPr>
            <a:xfrm>
              <a:off x="4617720" y="713232"/>
              <a:ext cx="3931920" cy="914400"/>
            </a:xfrm>
            <a:prstGeom prst="rect">
              <a:avLst/>
            </a:prstGeom>
            <a:solidFill>
              <a:srgbClr val="DEEBF7"/>
            </a:solidFill>
            <a:ln w="12700">
              <a:noFill/>
              <a:prstDash val="solid"/>
            </a:ln>
            <a:effectLst>
              <a:outerShdw blurRad="101600" dist="381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11" name="Shape 9"/>
            <p:cNvSpPr/>
            <p:nvPr/>
          </p:nvSpPr>
          <p:spPr>
            <a:xfrm>
              <a:off x="4617720" y="713232"/>
              <a:ext cx="109728" cy="9144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noFill/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4800600" y="77724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cluster_deaths</a:t>
              </a:r>
              <a:endParaRPr lang="en-US" sz="16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4800600" y="1060704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Смерті у кластері</a:t>
              </a:r>
              <a:endParaRPr lang="en-US" sz="14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800600" y="1289304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i="1" dirty="0">
                  <a:solidFill>
                    <a:srgbClr val="0B5F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Просторова концентрація</a:t>
              </a:r>
              <a:endParaRPr lang="en-US" sz="1400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F2433DA-665F-A222-986B-D062EAFF0E83}"/>
              </a:ext>
            </a:extLst>
          </p:cNvPr>
          <p:cNvGrpSpPr/>
          <p:nvPr/>
        </p:nvGrpSpPr>
        <p:grpSpPr>
          <a:xfrm>
            <a:off x="411480" y="3785616"/>
            <a:ext cx="3931920" cy="914400"/>
            <a:chOff x="411480" y="1737360"/>
            <a:chExt cx="3931920" cy="914400"/>
          </a:xfrm>
        </p:grpSpPr>
        <p:sp>
          <p:nvSpPr>
            <p:cNvPr id="15" name="Shape 13"/>
            <p:cNvSpPr/>
            <p:nvPr/>
          </p:nvSpPr>
          <p:spPr>
            <a:xfrm>
              <a:off x="411480" y="1737360"/>
              <a:ext cx="3931920" cy="9144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noFill/>
              <a:prstDash val="solid"/>
            </a:ln>
            <a:effectLst>
              <a:outerShdw blurRad="101600" dist="381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16" name="Shape 14"/>
            <p:cNvSpPr/>
            <p:nvPr/>
          </p:nvSpPr>
          <p:spPr>
            <a:xfrm>
              <a:off x="411480" y="1737360"/>
              <a:ext cx="109728" cy="9144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noFill/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594360" y="1801368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input_rate (APM)</a:t>
              </a:r>
              <a:endParaRPr lang="en-US" sz="16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594360" y="208483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Частота вводу</a:t>
              </a:r>
              <a:endParaRPr lang="en-US" sz="14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94360" y="231343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i="1" dirty="0">
                  <a:solidFill>
                    <a:srgbClr val="D9770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Моторне навантаження</a:t>
              </a:r>
              <a:endParaRPr lang="en-US" sz="1400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977325D-C0B2-5C58-F99C-76A733B9F935}"/>
              </a:ext>
            </a:extLst>
          </p:cNvPr>
          <p:cNvGrpSpPr/>
          <p:nvPr/>
        </p:nvGrpSpPr>
        <p:grpSpPr>
          <a:xfrm>
            <a:off x="411480" y="1737360"/>
            <a:ext cx="3931920" cy="914400"/>
            <a:chOff x="4617720" y="1737360"/>
            <a:chExt cx="3931920" cy="914400"/>
          </a:xfrm>
        </p:grpSpPr>
        <p:sp>
          <p:nvSpPr>
            <p:cNvPr id="20" name="Shape 18"/>
            <p:cNvSpPr/>
            <p:nvPr/>
          </p:nvSpPr>
          <p:spPr>
            <a:xfrm>
              <a:off x="4617720" y="1737360"/>
              <a:ext cx="3931920" cy="9144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noFill/>
              <a:prstDash val="solid"/>
            </a:ln>
            <a:effectLst>
              <a:outerShdw blurRad="101600" dist="381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21" name="Shape 19"/>
            <p:cNvSpPr/>
            <p:nvPr/>
          </p:nvSpPr>
          <p:spPr>
            <a:xfrm>
              <a:off x="4617720" y="1737360"/>
              <a:ext cx="109728" cy="914400"/>
            </a:xfrm>
            <a:prstGeom prst="rect">
              <a:avLst/>
            </a:prstGeom>
            <a:solidFill>
              <a:srgbClr val="239386">
                <a:alpha val="20000"/>
              </a:srgbClr>
            </a:solidFill>
            <a:ln w="12700">
              <a:noFill/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4800600" y="1801368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time_to_recover</a:t>
              </a:r>
              <a:endParaRPr lang="en-US" sz="16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4800600" y="208483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Час до першого руху</a:t>
              </a:r>
              <a:endParaRPr lang="en-US" sz="14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4800600" y="231343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i="1" dirty="0">
                  <a:solidFill>
                    <a:srgbClr val="0E8A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Когнітивна фрустрація</a:t>
              </a:r>
              <a:endParaRPr lang="en-US" sz="1400" dirty="0">
                <a:solidFill>
                  <a:srgbClr val="0E8A7A"/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1304426-95BD-35F9-A2C6-FA2967458848}"/>
              </a:ext>
            </a:extLst>
          </p:cNvPr>
          <p:cNvGrpSpPr/>
          <p:nvPr/>
        </p:nvGrpSpPr>
        <p:grpSpPr>
          <a:xfrm>
            <a:off x="411480" y="2761488"/>
            <a:ext cx="3931920" cy="914400"/>
            <a:chOff x="411480" y="2761488"/>
            <a:chExt cx="3931920" cy="914400"/>
          </a:xfrm>
        </p:grpSpPr>
        <p:sp>
          <p:nvSpPr>
            <p:cNvPr id="25" name="Shape 23"/>
            <p:cNvSpPr/>
            <p:nvPr/>
          </p:nvSpPr>
          <p:spPr>
            <a:xfrm>
              <a:off x="411480" y="2761488"/>
              <a:ext cx="3931920" cy="9144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noFill/>
              <a:prstDash val="solid"/>
            </a:ln>
            <a:effectLst>
              <a:outerShdw blurRad="101600" dist="381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26" name="Shape 24"/>
            <p:cNvSpPr/>
            <p:nvPr/>
          </p:nvSpPr>
          <p:spPr>
            <a:xfrm>
              <a:off x="411480" y="2761488"/>
              <a:ext cx="109728" cy="9144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noFill/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594360" y="2825496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idle_time</a:t>
              </a:r>
              <a:endParaRPr lang="en-US" sz="16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94360" y="310896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Час бездіяльності</a:t>
              </a:r>
              <a:endParaRPr lang="en-US" sz="14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594360" y="333756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i="1" dirty="0">
                  <a:solidFill>
                    <a:srgbClr val="0B5F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Розгубленість / пауза</a:t>
              </a:r>
              <a:endParaRPr lang="en-US" sz="1400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950DC9A-55E1-C020-6C7D-104FB4ABA567}"/>
              </a:ext>
            </a:extLst>
          </p:cNvPr>
          <p:cNvGrpSpPr/>
          <p:nvPr/>
        </p:nvGrpSpPr>
        <p:grpSpPr>
          <a:xfrm>
            <a:off x="4617720" y="3783003"/>
            <a:ext cx="3931920" cy="914400"/>
            <a:chOff x="4617720" y="2761488"/>
            <a:chExt cx="3931920" cy="914400"/>
          </a:xfrm>
        </p:grpSpPr>
        <p:sp>
          <p:nvSpPr>
            <p:cNvPr id="30" name="Shape 28"/>
            <p:cNvSpPr/>
            <p:nvPr/>
          </p:nvSpPr>
          <p:spPr>
            <a:xfrm>
              <a:off x="4617720" y="2761488"/>
              <a:ext cx="3931920" cy="9144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noFill/>
              <a:prstDash val="solid"/>
            </a:ln>
            <a:effectLst>
              <a:outerShdw blurRad="101600" dist="381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31" name="Shape 29"/>
            <p:cNvSpPr/>
            <p:nvPr/>
          </p:nvSpPr>
          <p:spPr>
            <a:xfrm>
              <a:off x="4617720" y="2761488"/>
              <a:ext cx="109728" cy="914400"/>
            </a:xfrm>
            <a:prstGeom prst="rect">
              <a:avLst/>
            </a:prstGeom>
            <a:solidFill>
              <a:srgbClr val="F8CBAD"/>
            </a:solidFill>
            <a:ln w="12700">
              <a:noFill/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4800600" y="2825496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jitter</a:t>
              </a:r>
              <a:endParaRPr lang="en-US" sz="16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4800600" y="310896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Тремтіння камери</a:t>
              </a:r>
              <a:endParaRPr lang="en-US" sz="14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4800600" y="333756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i="1" dirty="0">
                  <a:solidFill>
                    <a:srgbClr val="D9770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Паніка / тривога</a:t>
              </a:r>
              <a:endParaRPr lang="en-US" sz="1400" dirty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5308238-C6E3-D96E-5E6A-992076539324}"/>
              </a:ext>
            </a:extLst>
          </p:cNvPr>
          <p:cNvGrpSpPr/>
          <p:nvPr/>
        </p:nvGrpSpPr>
        <p:grpSpPr>
          <a:xfrm>
            <a:off x="4617720" y="717223"/>
            <a:ext cx="3931920" cy="914400"/>
            <a:chOff x="411480" y="3785616"/>
            <a:chExt cx="3931920" cy="914400"/>
          </a:xfrm>
        </p:grpSpPr>
        <p:sp>
          <p:nvSpPr>
            <p:cNvPr id="35" name="Shape 33"/>
            <p:cNvSpPr/>
            <p:nvPr/>
          </p:nvSpPr>
          <p:spPr>
            <a:xfrm>
              <a:off x="411480" y="3785616"/>
              <a:ext cx="3931920" cy="9144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noFill/>
              <a:prstDash val="solid"/>
            </a:ln>
            <a:effectLst>
              <a:outerShdw blurRad="101600" dist="381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36" name="Shape 34"/>
            <p:cNvSpPr/>
            <p:nvPr/>
          </p:nvSpPr>
          <p:spPr>
            <a:xfrm>
              <a:off x="411480" y="3785616"/>
              <a:ext cx="109728" cy="914400"/>
            </a:xfrm>
            <a:prstGeom prst="rect">
              <a:avLst/>
            </a:prstGeom>
            <a:solidFill>
              <a:srgbClr val="239386">
                <a:alpha val="20000"/>
              </a:srgbClr>
            </a:solidFill>
            <a:ln w="12700">
              <a:noFill/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594360" y="3849624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time_spent</a:t>
              </a:r>
              <a:endParaRPr lang="en-US" sz="16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594360" y="4133088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Час на рівні</a:t>
              </a:r>
              <a:endParaRPr lang="en-US" sz="14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594360" y="4361688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i="1" dirty="0">
                  <a:solidFill>
                    <a:srgbClr val="0E8A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Загальний темп гри</a:t>
              </a:r>
              <a:endParaRPr lang="en-US" sz="1400" dirty="0">
                <a:solidFill>
                  <a:srgbClr val="0E8A7A"/>
                </a:solidFill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1E29F5F-D1D4-0320-CF4B-4505803FDC38}"/>
              </a:ext>
            </a:extLst>
          </p:cNvPr>
          <p:cNvGrpSpPr/>
          <p:nvPr/>
        </p:nvGrpSpPr>
        <p:grpSpPr>
          <a:xfrm>
            <a:off x="4617720" y="1737360"/>
            <a:ext cx="3931920" cy="914400"/>
            <a:chOff x="4617720" y="3785616"/>
            <a:chExt cx="3931920" cy="914400"/>
          </a:xfrm>
        </p:grpSpPr>
        <p:sp>
          <p:nvSpPr>
            <p:cNvPr id="40" name="Shape 38"/>
            <p:cNvSpPr/>
            <p:nvPr/>
          </p:nvSpPr>
          <p:spPr>
            <a:xfrm>
              <a:off x="4617720" y="3785616"/>
              <a:ext cx="3931920" cy="9144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noFill/>
              <a:prstDash val="solid"/>
            </a:ln>
            <a:effectLst>
              <a:outerShdw blurRad="101600" dist="381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41" name="Shape 39"/>
            <p:cNvSpPr/>
            <p:nvPr/>
          </p:nvSpPr>
          <p:spPr>
            <a:xfrm>
              <a:off x="4617720" y="3785616"/>
              <a:ext cx="109728" cy="914400"/>
            </a:xfrm>
            <a:prstGeom prst="rect">
              <a:avLst/>
            </a:prstGeom>
            <a:solidFill>
              <a:srgbClr val="BDD7EE"/>
            </a:solidFill>
            <a:ln w="12700">
              <a:noFill/>
              <a:prstDash val="solid"/>
            </a:ln>
          </p:spPr>
        </p:sp>
        <p:sp>
          <p:nvSpPr>
            <p:cNvPr id="42" name="Text 40"/>
            <p:cNvSpPr/>
            <p:nvPr/>
          </p:nvSpPr>
          <p:spPr>
            <a:xfrm>
              <a:off x="4800600" y="3849624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level</a:t>
              </a:r>
              <a:endParaRPr lang="en-US" sz="16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4800600" y="4133088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Номер рівня</a:t>
              </a:r>
              <a:endParaRPr lang="en-US" sz="14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4800600" y="4361688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i="1" dirty="0">
                  <a:solidFill>
                    <a:srgbClr val="0B5F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Контекст складності</a:t>
              </a:r>
              <a:endParaRPr lang="en-US" sz="1400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Математична модель евристичного DDA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2E2AF09F-4730-386C-2B17-C224610BB0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35" y="1044701"/>
            <a:ext cx="5158841" cy="2546605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Shape 5">
            <a:extLst>
              <a:ext uri="{FF2B5EF4-FFF2-40B4-BE49-F238E27FC236}">
                <a16:creationId xmlns:a16="http://schemas.microsoft.com/office/drawing/2014/main" id="{C582EA6D-C7C5-1D7C-DAB7-0C3CD8242FEF}"/>
              </a:ext>
            </a:extLst>
          </p:cNvPr>
          <p:cNvSpPr/>
          <p:nvPr/>
        </p:nvSpPr>
        <p:spPr>
          <a:xfrm>
            <a:off x="182880" y="3947479"/>
            <a:ext cx="8783905" cy="950976"/>
          </a:xfrm>
          <a:prstGeom prst="rect">
            <a:avLst/>
          </a:prstGeom>
          <a:solidFill>
            <a:srgbClr val="DEEBF7"/>
          </a:solidFill>
          <a:ln w="6350">
            <a:solidFill>
              <a:srgbClr val="BDD7EE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uk-UA" dirty="0"/>
          </a:p>
        </p:txBody>
      </p:sp>
      <p:sp>
        <p:nvSpPr>
          <p:cNvPr id="44" name="Shape 6">
            <a:extLst>
              <a:ext uri="{FF2B5EF4-FFF2-40B4-BE49-F238E27FC236}">
                <a16:creationId xmlns:a16="http://schemas.microsoft.com/office/drawing/2014/main" id="{E3F2B550-7BDB-EF82-5B08-861F028CEA6A}"/>
              </a:ext>
            </a:extLst>
          </p:cNvPr>
          <p:cNvSpPr/>
          <p:nvPr/>
        </p:nvSpPr>
        <p:spPr>
          <a:xfrm>
            <a:off x="256032" y="4148647"/>
            <a:ext cx="502920" cy="502920"/>
          </a:xfrm>
          <a:prstGeom prst="ellipse">
            <a:avLst/>
          </a:prstGeom>
          <a:solidFill>
            <a:srgbClr val="BDD7EE"/>
          </a:solidFill>
          <a:ln w="12700">
            <a:noFill/>
            <a:prstDash val="solid"/>
          </a:ln>
        </p:spPr>
      </p:sp>
      <p:sp>
        <p:nvSpPr>
          <p:cNvPr id="45" name="Text 7">
            <a:extLst>
              <a:ext uri="{FF2B5EF4-FFF2-40B4-BE49-F238E27FC236}">
                <a16:creationId xmlns:a16="http://schemas.microsoft.com/office/drawing/2014/main" id="{66950CE1-1C0C-587D-0136-B8393249A26A}"/>
              </a:ext>
            </a:extLst>
          </p:cNvPr>
          <p:cNvSpPr/>
          <p:nvPr/>
        </p:nvSpPr>
        <p:spPr>
          <a:xfrm>
            <a:off x="256032" y="414864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6" name="Text 8">
            <a:extLst>
              <a:ext uri="{FF2B5EF4-FFF2-40B4-BE49-F238E27FC236}">
                <a16:creationId xmlns:a16="http://schemas.microsoft.com/office/drawing/2014/main" id="{A30FBE6E-5E54-852E-EF1A-531B4D9B972B}"/>
              </a:ext>
            </a:extLst>
          </p:cNvPr>
          <p:cNvSpPr/>
          <p:nvPr/>
        </p:nvSpPr>
        <p:spPr>
          <a:xfrm>
            <a:off x="841248" y="4002343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Виявлення кластера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 9">
                <a:extLst>
                  <a:ext uri="{FF2B5EF4-FFF2-40B4-BE49-F238E27FC236}">
                    <a16:creationId xmlns:a16="http://schemas.microsoft.com/office/drawing/2014/main" id="{00EE7EEA-0CFC-C01C-6E93-CEDACAC753AD}"/>
                  </a:ext>
                </a:extLst>
              </p:cNvPr>
              <p:cNvSpPr/>
              <p:nvPr/>
            </p:nvSpPr>
            <p:spPr>
              <a:xfrm>
                <a:off x="841248" y="4313239"/>
                <a:ext cx="3840480" cy="51206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l-PL" sz="1400" i="1" dirty="0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𝑑</m:t>
                      </m:r>
                      <m:d>
                        <m:dPr>
                          <m:ctrlPr>
                            <a:rPr lang="pl-PL" sz="1400" i="1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sz="1400" i="1" dirty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</m:ctrlPr>
                            </m:sSubPr>
                            <m:e>
                              <m:r>
                                <a:rPr lang="pl-PL" sz="1400" i="1" dirty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pl-PL" sz="1400" i="1" dirty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  <m:t>𝑖</m:t>
                              </m:r>
                            </m:sub>
                          </m:sSub>
                          <m:r>
                            <a:rPr lang="pl-PL" sz="1400" i="1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,</m:t>
                          </m:r>
                          <m:sSub>
                            <m:sSubPr>
                              <m:ctrlPr>
                                <a:rPr lang="pl-PL" sz="1400" i="1" dirty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</m:ctrlPr>
                            </m:sSubPr>
                            <m:e>
                              <m:r>
                                <a:rPr lang="pl-PL" sz="1400" i="1" dirty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pl-PL" sz="1400" i="1" dirty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pl-PL" sz="1400" i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l-PL" sz="1400" i="1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pl-PL" sz="1400" i="1" dirty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l-PL" sz="1400" i="1" dirty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  <a:ea typeface="Consolas" pitchFamily="34" charset="-122"/>
                                      <a:cs typeface="Consolas" pitchFamily="34" charset="-12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l-PL" sz="1400" i="1" dirty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  <a:ea typeface="Consolas" pitchFamily="34" charset="-122"/>
                                          <a:cs typeface="Consolas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l-PL" sz="1400" i="1" dirty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  <a:ea typeface="Consolas" pitchFamily="34" charset="-122"/>
                                          <a:cs typeface="Consolas" pitchFamily="34" charset="-12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l-PL" sz="1400" i="1" dirty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  <a:ea typeface="Consolas" pitchFamily="34" charset="-122"/>
                                          <a:cs typeface="Consolas" pitchFamily="34" charset="-12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l-PL" sz="1400" i="1" dirty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  <a:ea typeface="Consolas" pitchFamily="34" charset="-122"/>
                                      <a:cs typeface="Consolas" pitchFamily="34" charset="-12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pl-PL" sz="1400" i="1" dirty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  <a:ea typeface="Consolas" pitchFamily="34" charset="-122"/>
                                          <a:cs typeface="Consolas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l-PL" sz="1400" i="1" dirty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  <a:ea typeface="Consolas" pitchFamily="34" charset="-122"/>
                                          <a:cs typeface="Consolas" pitchFamily="34" charset="-12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l-PL" sz="1400" i="1" dirty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  <a:ea typeface="Consolas" pitchFamily="34" charset="-122"/>
                                          <a:cs typeface="Consolas" pitchFamily="34" charset="-12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pl-PL" sz="1400" i="1" dirty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  <m:t>2</m:t>
                              </m:r>
                            </m:sup>
                          </m:sSup>
                          <m:r>
                            <a:rPr lang="pl-PL" sz="1400" i="1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+</m:t>
                          </m:r>
                          <m:sSup>
                            <m:sSupPr>
                              <m:ctrlPr>
                                <a:rPr lang="pl-PL" sz="1400" i="1" dirty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l-PL" sz="1400" i="1" dirty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  <a:ea typeface="Consolas" pitchFamily="34" charset="-122"/>
                                      <a:cs typeface="Consolas" pitchFamily="34" charset="-12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l-PL" sz="1400" i="1" dirty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  <a:ea typeface="Consolas" pitchFamily="34" charset="-122"/>
                                          <a:cs typeface="Consolas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l-PL" sz="1400" i="1" dirty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  <a:ea typeface="Consolas" pitchFamily="34" charset="-122"/>
                                          <a:cs typeface="Consolas" pitchFamily="34" charset="-12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pl-PL" sz="1400" i="1" dirty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  <a:ea typeface="Consolas" pitchFamily="34" charset="-122"/>
                                          <a:cs typeface="Consolas" pitchFamily="34" charset="-12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l-PL" sz="1400" i="1" dirty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  <a:ea typeface="Consolas" pitchFamily="34" charset="-122"/>
                                      <a:cs typeface="Consolas" pitchFamily="34" charset="-12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pl-PL" sz="1400" i="1" dirty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  <a:ea typeface="Consolas" pitchFamily="34" charset="-122"/>
                                          <a:cs typeface="Consolas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l-PL" sz="1400" i="1" dirty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  <a:ea typeface="Consolas" pitchFamily="34" charset="-122"/>
                                          <a:cs typeface="Consolas" pitchFamily="34" charset="-12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pl-PL" sz="1400" i="1" dirty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  <a:ea typeface="Consolas" pitchFamily="34" charset="-122"/>
                                          <a:cs typeface="Consolas" pitchFamily="34" charset="-12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pl-PL" sz="1400" i="1" dirty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  <m:t>2</m:t>
                              </m:r>
                            </m:sup>
                          </m:sSup>
                          <m:r>
                            <a:rPr lang="pl-PL" sz="1400" i="1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+</m:t>
                          </m:r>
                          <m:sSup>
                            <m:sSupPr>
                              <m:ctrlPr>
                                <a:rPr lang="pl-PL" sz="1400" i="1" dirty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l-PL" sz="1400" i="1" dirty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  <a:ea typeface="Consolas" pitchFamily="34" charset="-122"/>
                                      <a:cs typeface="Consolas" pitchFamily="34" charset="-12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l-PL" sz="1400" i="1" dirty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  <a:ea typeface="Consolas" pitchFamily="34" charset="-122"/>
                                          <a:cs typeface="Consolas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l-PL" sz="1400" i="1" dirty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  <a:ea typeface="Consolas" pitchFamily="34" charset="-122"/>
                                          <a:cs typeface="Consolas" pitchFamily="34" charset="-12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pl-PL" sz="1400" i="1" dirty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  <a:ea typeface="Consolas" pitchFamily="34" charset="-122"/>
                                          <a:cs typeface="Consolas" pitchFamily="34" charset="-12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l-PL" sz="1400" i="1" dirty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  <a:ea typeface="Consolas" pitchFamily="34" charset="-122"/>
                                      <a:cs typeface="Consolas" pitchFamily="34" charset="-12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pl-PL" sz="1400" i="1" dirty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  <a:ea typeface="Consolas" pitchFamily="34" charset="-122"/>
                                          <a:cs typeface="Consolas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l-PL" sz="1400" i="1" dirty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  <a:ea typeface="Consolas" pitchFamily="34" charset="-122"/>
                                          <a:cs typeface="Consolas" pitchFamily="34" charset="-12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pl-PL" sz="1400" i="1" dirty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  <a:ea typeface="Consolas" pitchFamily="34" charset="-122"/>
                                          <a:cs typeface="Consolas" pitchFamily="34" charset="-12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pl-PL" sz="1400" i="1" dirty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4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47" name="Text 9">
                <a:extLst>
                  <a:ext uri="{FF2B5EF4-FFF2-40B4-BE49-F238E27FC236}">
                    <a16:creationId xmlns:a16="http://schemas.microsoft.com/office/drawing/2014/main" id="{00EE7EEA-0CFC-C01C-6E93-CEDACAC753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48" y="4313239"/>
                <a:ext cx="3840480" cy="5120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 10">
            <a:extLst>
              <a:ext uri="{FF2B5EF4-FFF2-40B4-BE49-F238E27FC236}">
                <a16:creationId xmlns:a16="http://schemas.microsoft.com/office/drawing/2014/main" id="{46C13CAC-B7A6-969D-1C7F-27C73C295BB0}"/>
              </a:ext>
            </a:extLst>
          </p:cNvPr>
          <p:cNvSpPr/>
          <p:nvPr/>
        </p:nvSpPr>
        <p:spPr>
          <a:xfrm>
            <a:off x="4764024" y="4180651"/>
            <a:ext cx="40614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Перевіряємо ≥ 2 смерті у сфері rclust = 10 м за вікно Tw = 30 с</a:t>
            </a:r>
            <a:endParaRPr lang="en-US" sz="1400" dirty="0"/>
          </a:p>
        </p:txBody>
      </p:sp>
      <p:sp>
        <p:nvSpPr>
          <p:cNvPr id="49" name="Text 10">
            <a:extLst>
              <a:ext uri="{FF2B5EF4-FFF2-40B4-BE49-F238E27FC236}">
                <a16:creationId xmlns:a16="http://schemas.microsoft.com/office/drawing/2014/main" id="{6D3E2DC9-657C-ECF1-43EF-B3B49FED1BB0}"/>
              </a:ext>
            </a:extLst>
          </p:cNvPr>
          <p:cNvSpPr/>
          <p:nvPr/>
        </p:nvSpPr>
        <p:spPr>
          <a:xfrm>
            <a:off x="4720921" y="4649031"/>
            <a:ext cx="35905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400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pᵢ – </a:t>
            </a:r>
            <a:r>
              <a:rPr lang="uk-UA" sz="1400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позиція</a:t>
            </a:r>
          </a:p>
        </p:txBody>
      </p:sp>
      <p:sp>
        <p:nvSpPr>
          <p:cNvPr id="50" name="Shape 5">
            <a:extLst>
              <a:ext uri="{FF2B5EF4-FFF2-40B4-BE49-F238E27FC236}">
                <a16:creationId xmlns:a16="http://schemas.microsoft.com/office/drawing/2014/main" id="{5D98F0D6-38D8-CDD6-7CE6-82DC4143CF85}"/>
              </a:ext>
            </a:extLst>
          </p:cNvPr>
          <p:cNvSpPr/>
          <p:nvPr/>
        </p:nvSpPr>
        <p:spPr>
          <a:xfrm>
            <a:off x="5303520" y="715012"/>
            <a:ext cx="3663265" cy="1390900"/>
          </a:xfrm>
          <a:prstGeom prst="rect">
            <a:avLst/>
          </a:prstGeom>
          <a:solidFill>
            <a:srgbClr val="DEEBF7"/>
          </a:solidFill>
          <a:ln w="6350">
            <a:solidFill>
              <a:srgbClr val="BDD7EE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uk-UA" dirty="0"/>
          </a:p>
        </p:txBody>
      </p:sp>
      <p:sp>
        <p:nvSpPr>
          <p:cNvPr id="51" name="Shape 6">
            <a:extLst>
              <a:ext uri="{FF2B5EF4-FFF2-40B4-BE49-F238E27FC236}">
                <a16:creationId xmlns:a16="http://schemas.microsoft.com/office/drawing/2014/main" id="{F95BC0B5-3D23-9055-D6E7-FBC78AED1896}"/>
              </a:ext>
            </a:extLst>
          </p:cNvPr>
          <p:cNvSpPr/>
          <p:nvPr/>
        </p:nvSpPr>
        <p:spPr>
          <a:xfrm>
            <a:off x="5376672" y="916180"/>
            <a:ext cx="502920" cy="502920"/>
          </a:xfrm>
          <a:prstGeom prst="ellipse">
            <a:avLst/>
          </a:prstGeom>
          <a:solidFill>
            <a:srgbClr val="BDD7EE"/>
          </a:solidFill>
          <a:ln w="12700">
            <a:noFill/>
            <a:prstDash val="solid"/>
          </a:ln>
        </p:spPr>
      </p:sp>
      <p:sp>
        <p:nvSpPr>
          <p:cNvPr id="52" name="Text 7">
            <a:extLst>
              <a:ext uri="{FF2B5EF4-FFF2-40B4-BE49-F238E27FC236}">
                <a16:creationId xmlns:a16="http://schemas.microsoft.com/office/drawing/2014/main" id="{481339B6-644A-7273-080B-AEA4308F6795}"/>
              </a:ext>
            </a:extLst>
          </p:cNvPr>
          <p:cNvSpPr/>
          <p:nvPr/>
        </p:nvSpPr>
        <p:spPr>
          <a:xfrm>
            <a:off x="5376672" y="9161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17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53" name="Text 8">
            <a:extLst>
              <a:ext uri="{FF2B5EF4-FFF2-40B4-BE49-F238E27FC236}">
                <a16:creationId xmlns:a16="http://schemas.microsoft.com/office/drawing/2014/main" id="{45C8F9E1-6A6E-4BDF-7476-C74075704513}"/>
              </a:ext>
            </a:extLst>
          </p:cNvPr>
          <p:cNvSpPr/>
          <p:nvPr/>
        </p:nvSpPr>
        <p:spPr>
          <a:xfrm>
            <a:off x="5961888" y="7698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Обчислення центроїда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 9">
                <a:extLst>
                  <a:ext uri="{FF2B5EF4-FFF2-40B4-BE49-F238E27FC236}">
                    <a16:creationId xmlns:a16="http://schemas.microsoft.com/office/drawing/2014/main" id="{9F450325-AA5D-E141-EAA4-50CF1596F8FB}"/>
                  </a:ext>
                </a:extLst>
              </p:cNvPr>
              <p:cNvSpPr/>
              <p:nvPr/>
            </p:nvSpPr>
            <p:spPr>
              <a:xfrm>
                <a:off x="5961888" y="1080772"/>
                <a:ext cx="2336555" cy="49745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/>
                        <m:t>𝐶</m:t>
                      </m:r>
                      <m:r>
                        <a:rPr lang="en-US" i="1"/>
                        <m:t>=</m:t>
                      </m:r>
                      <m:f>
                        <m:fPr>
                          <m:ctrlPr>
                            <a:rPr lang="uk-UA" i="1"/>
                          </m:ctrlPr>
                        </m:fPr>
                        <m:num>
                          <m:r>
                            <a:rPr lang="en-US" i="1"/>
                            <m:t>1</m:t>
                          </m:r>
                        </m:num>
                        <m:den>
                          <m:r>
                            <a:rPr lang="en-US" i="1"/>
                            <m:t>𝑘</m:t>
                          </m:r>
                        </m:den>
                      </m:f>
                      <m:r>
                        <a:rPr lang="en-US" i="1"/>
                        <m:t>∗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uk-UA" i="1"/>
                          </m:ctrlPr>
                        </m:naryPr>
                        <m:sub/>
                        <m:sup/>
                        <m:e>
                          <m:eqArr>
                            <m:eqArrPr>
                              <m:ctrlPr>
                                <a:rPr lang="uk-UA" i="1"/>
                              </m:ctrlPr>
                            </m:eqArrPr>
                            <m:e>
                              <m:r>
                                <a:rPr lang="en-US" i="1"/>
                                <m:t>𝑘</m:t>
                              </m:r>
                            </m:e>
                            <m:e>
                              <m:r>
                                <a:rPr lang="en-US" i="1"/>
                                <m:t>𝑖</m:t>
                              </m:r>
                              <m:r>
                                <a:rPr lang="en-US" i="1"/>
                                <m:t>=1</m:t>
                              </m:r>
                            </m:e>
                          </m:eqArr>
                        </m:e>
                      </m:nary>
                      <m:sSub>
                        <m:sSubPr>
                          <m:ctrlPr>
                            <a:rPr lang="uk-UA" i="1"/>
                          </m:ctrlPr>
                        </m:sSubPr>
                        <m:e>
                          <m:r>
                            <a:rPr lang="en-US" i="1"/>
                            <m:t>𝑝</m:t>
                          </m:r>
                        </m:e>
                        <m:sub>
                          <m:r>
                            <a:rPr lang="en-US" i="1"/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2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54" name="Text 9">
                <a:extLst>
                  <a:ext uri="{FF2B5EF4-FFF2-40B4-BE49-F238E27FC236}">
                    <a16:creationId xmlns:a16="http://schemas.microsoft.com/office/drawing/2014/main" id="{9F450325-AA5D-E141-EAA4-50CF1596F8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1888" y="1080772"/>
                <a:ext cx="2336555" cy="497459"/>
              </a:xfrm>
              <a:prstGeom prst="rect">
                <a:avLst/>
              </a:prstGeom>
              <a:blipFill>
                <a:blip r:embed="rId5"/>
                <a:stretch>
                  <a:fillRect t="-9756"/>
                </a:stretch>
              </a:blipFill>
              <a:ln/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 10">
            <a:extLst>
              <a:ext uri="{FF2B5EF4-FFF2-40B4-BE49-F238E27FC236}">
                <a16:creationId xmlns:a16="http://schemas.microsoft.com/office/drawing/2014/main" id="{7F944C39-680E-F6B3-8042-6C540125A1AA}"/>
              </a:ext>
            </a:extLst>
          </p:cNvPr>
          <p:cNvSpPr/>
          <p:nvPr/>
        </p:nvSpPr>
        <p:spPr>
          <a:xfrm>
            <a:off x="5370576" y="1583565"/>
            <a:ext cx="3454908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Використовується остання безпечна позиція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68A3B982-7418-344D-8690-0B77B29FCD90}"/>
              </a:ext>
            </a:extLst>
          </p:cNvPr>
          <p:cNvSpPr/>
          <p:nvPr/>
        </p:nvSpPr>
        <p:spPr>
          <a:xfrm>
            <a:off x="5303520" y="1861696"/>
            <a:ext cx="35905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400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– </a:t>
            </a:r>
            <a:r>
              <a:rPr lang="uk-UA" sz="1400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кількість смертей у кластері</a:t>
            </a:r>
          </a:p>
        </p:txBody>
      </p:sp>
      <p:sp>
        <p:nvSpPr>
          <p:cNvPr id="57" name="Shape 5">
            <a:extLst>
              <a:ext uri="{FF2B5EF4-FFF2-40B4-BE49-F238E27FC236}">
                <a16:creationId xmlns:a16="http://schemas.microsoft.com/office/drawing/2014/main" id="{B0255A9A-62BC-DB5F-21D7-17D1D897B259}"/>
              </a:ext>
            </a:extLst>
          </p:cNvPr>
          <p:cNvSpPr/>
          <p:nvPr/>
        </p:nvSpPr>
        <p:spPr>
          <a:xfrm>
            <a:off x="5294376" y="2322833"/>
            <a:ext cx="3663265" cy="1429512"/>
          </a:xfrm>
          <a:prstGeom prst="rect">
            <a:avLst/>
          </a:prstGeom>
          <a:solidFill>
            <a:srgbClr val="DEEBF7"/>
          </a:solidFill>
          <a:ln w="6350">
            <a:solidFill>
              <a:srgbClr val="BDD7EE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uk-UA" dirty="0"/>
          </a:p>
        </p:txBody>
      </p:sp>
      <p:sp>
        <p:nvSpPr>
          <p:cNvPr id="58" name="Shape 6">
            <a:extLst>
              <a:ext uri="{FF2B5EF4-FFF2-40B4-BE49-F238E27FC236}">
                <a16:creationId xmlns:a16="http://schemas.microsoft.com/office/drawing/2014/main" id="{97771617-EEF4-6D74-394B-8D5E7D9D4694}"/>
              </a:ext>
            </a:extLst>
          </p:cNvPr>
          <p:cNvSpPr/>
          <p:nvPr/>
        </p:nvSpPr>
        <p:spPr>
          <a:xfrm>
            <a:off x="5367528" y="2524001"/>
            <a:ext cx="502920" cy="502920"/>
          </a:xfrm>
          <a:prstGeom prst="ellipse">
            <a:avLst/>
          </a:prstGeom>
          <a:solidFill>
            <a:srgbClr val="BDD7EE"/>
          </a:solidFill>
          <a:ln w="12700">
            <a:noFill/>
            <a:prstDash val="solid"/>
          </a:ln>
        </p:spPr>
      </p:sp>
      <p:sp>
        <p:nvSpPr>
          <p:cNvPr id="59" name="Text 7">
            <a:extLst>
              <a:ext uri="{FF2B5EF4-FFF2-40B4-BE49-F238E27FC236}">
                <a16:creationId xmlns:a16="http://schemas.microsoft.com/office/drawing/2014/main" id="{97B7ACAF-5F45-8582-16C2-107704DD2C96}"/>
              </a:ext>
            </a:extLst>
          </p:cNvPr>
          <p:cNvSpPr/>
          <p:nvPr/>
        </p:nvSpPr>
        <p:spPr>
          <a:xfrm>
            <a:off x="5367528" y="2524001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17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60" name="Text 8">
            <a:extLst>
              <a:ext uri="{FF2B5EF4-FFF2-40B4-BE49-F238E27FC236}">
                <a16:creationId xmlns:a16="http://schemas.microsoft.com/office/drawing/2014/main" id="{7FBFC077-3D85-678E-AB1C-05D63A38E2FB}"/>
              </a:ext>
            </a:extLst>
          </p:cNvPr>
          <p:cNvSpPr/>
          <p:nvPr/>
        </p:nvSpPr>
        <p:spPr>
          <a:xfrm>
            <a:off x="5952744" y="2377697"/>
            <a:ext cx="30522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Обчислення зваженого множника</a:t>
            </a:r>
            <a:endParaRPr lang="en-US" sz="15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 9">
                <a:extLst>
                  <a:ext uri="{FF2B5EF4-FFF2-40B4-BE49-F238E27FC236}">
                    <a16:creationId xmlns:a16="http://schemas.microsoft.com/office/drawing/2014/main" id="{65508931-36CB-7E2A-9F15-C2C8AE04E67C}"/>
                  </a:ext>
                </a:extLst>
              </p:cNvPr>
              <p:cNvSpPr/>
              <p:nvPr/>
            </p:nvSpPr>
            <p:spPr>
              <a:xfrm>
                <a:off x="5952744" y="2688593"/>
                <a:ext cx="2565985" cy="49745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uk-UA" i="1"/>
                          </m:ctrlPr>
                        </m:sSubPr>
                        <m:e>
                          <m:r>
                            <a:rPr lang="en-US" i="1"/>
                            <m:t>𝑤</m:t>
                          </m:r>
                        </m:e>
                        <m:sub>
                          <m:r>
                            <a:rPr lang="en-US" i="1"/>
                            <m:t>𝑗</m:t>
                          </m:r>
                        </m:sub>
                      </m:sSub>
                      <m:r>
                        <a:rPr lang="en-US" i="1"/>
                        <m:t>=</m:t>
                      </m:r>
                      <m:func>
                        <m:funcPr>
                          <m:ctrlPr>
                            <a:rPr lang="uk-UA" i="1"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/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uk-UA" i="1"/>
                              </m:ctrlPr>
                            </m:dPr>
                            <m:e>
                              <m:r>
                                <a:rPr lang="en-US" i="1"/>
                                <m:t>0, 1−</m:t>
                              </m:r>
                              <m:f>
                                <m:fPr>
                                  <m:ctrlPr>
                                    <a:rPr lang="uk-UA" i="1"/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uk-UA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uk-UA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𝑎𝑑𝑎𝑝𝑡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12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61" name="Text 9">
                <a:extLst>
                  <a:ext uri="{FF2B5EF4-FFF2-40B4-BE49-F238E27FC236}">
                    <a16:creationId xmlns:a16="http://schemas.microsoft.com/office/drawing/2014/main" id="{65508931-36CB-7E2A-9F15-C2C8AE04E6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2744" y="2688593"/>
                <a:ext cx="2565985" cy="497459"/>
              </a:xfrm>
              <a:prstGeom prst="rect">
                <a:avLst/>
              </a:prstGeom>
              <a:blipFill>
                <a:blip r:embed="rId6"/>
                <a:stretch>
                  <a:fillRect t="-7317" b="-13415"/>
                </a:stretch>
              </a:blipFill>
              <a:ln/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 10">
            <a:extLst>
              <a:ext uri="{FF2B5EF4-FFF2-40B4-BE49-F238E27FC236}">
                <a16:creationId xmlns:a16="http://schemas.microsoft.com/office/drawing/2014/main" id="{9ADD13FD-F4FE-19A3-C5BC-0513F246DE9A}"/>
              </a:ext>
            </a:extLst>
          </p:cNvPr>
          <p:cNvSpPr/>
          <p:nvPr/>
        </p:nvSpPr>
        <p:spPr>
          <a:xfrm>
            <a:off x="5357953" y="3276999"/>
            <a:ext cx="3717468" cy="3839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noProof="1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400" baseline="-25000" noProof="1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</a:t>
            </a:r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400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 радіусом адаптації, </a:t>
            </a:r>
            <a:br>
              <a:rPr lang="en-US" sz="1400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 err="1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n-US" sz="1400" baseline="-25000" dirty="0" err="1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400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нормалізована</a:t>
            </a:r>
            <a:r>
              <a:rPr lang="ru-RU" sz="1400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400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відстань до центра кластера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ML-конвеєр: </a:t>
            </a:r>
            <a:r>
              <a:rPr lang="uk-UA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навчання та розгортання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5FC11072-988D-6511-8C17-ADF995B87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22225"/>
            <a:ext cx="9144000" cy="1916577"/>
          </a:xfrm>
          <a:prstGeom prst="rect">
            <a:avLst/>
          </a:prstGeom>
        </p:spPr>
      </p:pic>
      <p:graphicFrame>
        <p:nvGraphicFramePr>
          <p:cNvPr id="56" name="Table 0">
            <a:extLst>
              <a:ext uri="{FF2B5EF4-FFF2-40B4-BE49-F238E27FC236}">
                <a16:creationId xmlns:a16="http://schemas.microsoft.com/office/drawing/2014/main" id="{CEBD72EA-C434-89F9-52F5-35783287C0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385350"/>
              </p:ext>
            </p:extLst>
          </p:nvPr>
        </p:nvGraphicFramePr>
        <p:xfrm>
          <a:off x="214377" y="3589528"/>
          <a:ext cx="8479845" cy="100584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9632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8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4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8962">
                  <a:extLst>
                    <a:ext uri="{9D8B030D-6E8A-4147-A177-3AD203B41FA5}">
                      <a16:colId xmlns:a16="http://schemas.microsoft.com/office/drawing/2014/main" val="994518698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Модель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D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Формат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D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Час мс/кадр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D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MSE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D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R</a:t>
                      </a:r>
                      <a:r>
                        <a:rPr lang="en-US" sz="1600" b="1" baseline="3000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Random Forest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C# (m2cgen)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0.04 мс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0.133</a:t>
                      </a:r>
                    </a:p>
                  </a:txBody>
                  <a:tcPr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0.</a:t>
                      </a:r>
                      <a:r>
                        <a:rPr lang="uk-UA" sz="160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770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MLP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ONNX / Sentis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0.8 мс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0.</a:t>
                      </a:r>
                      <a:r>
                        <a:rPr lang="uk-UA" sz="160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150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0.734</a:t>
                      </a:r>
                    </a:p>
                  </a:txBody>
                  <a:tcPr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RL-</a:t>
            </a:r>
            <a:r>
              <a:rPr lang="uk-UA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</a:t>
            </a: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 Asymmetric Self-Play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9CBE71E9-C2F7-5001-FD3E-5536B4BBA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72084"/>
            <a:ext cx="5564373" cy="4471416"/>
          </a:xfrm>
          <a:prstGeom prst="rect">
            <a:avLst/>
          </a:prstGeom>
        </p:spPr>
      </p:pic>
      <p:sp>
        <p:nvSpPr>
          <p:cNvPr id="48" name="Shape 23">
            <a:extLst>
              <a:ext uri="{FF2B5EF4-FFF2-40B4-BE49-F238E27FC236}">
                <a16:creationId xmlns:a16="http://schemas.microsoft.com/office/drawing/2014/main" id="{C8F02288-EBF9-E3DD-BA12-EE89D700FA22}"/>
              </a:ext>
            </a:extLst>
          </p:cNvPr>
          <p:cNvSpPr/>
          <p:nvPr/>
        </p:nvSpPr>
        <p:spPr>
          <a:xfrm>
            <a:off x="6154058" y="1333908"/>
            <a:ext cx="2823027" cy="1460092"/>
          </a:xfrm>
          <a:prstGeom prst="rect">
            <a:avLst/>
          </a:prstGeom>
          <a:solidFill>
            <a:srgbClr val="EAF2FA"/>
          </a:solidFill>
          <a:ln w="6350">
            <a:noFill/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9" name="Text 39">
            <a:extLst>
              <a:ext uri="{FF2B5EF4-FFF2-40B4-BE49-F238E27FC236}">
                <a16:creationId xmlns:a16="http://schemas.microsoft.com/office/drawing/2014/main" id="{11C41805-2B09-A08A-BBEE-5B1DA3B3A793}"/>
              </a:ext>
            </a:extLst>
          </p:cNvPr>
          <p:cNvSpPr/>
          <p:nvPr/>
        </p:nvSpPr>
        <p:spPr>
          <a:xfrm>
            <a:off x="6273428" y="1397915"/>
            <a:ext cx="2564431" cy="1338028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Фаза 1:  </a:t>
            </a:r>
            <a:r>
              <a:rPr lang="uk-UA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PPO</a:t>
            </a:r>
            <a:r>
              <a:rPr lang="uk-UA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у середовищі зі статичною складністю. Цільовим показником є досягнення ботом стабільного проходження рівня.</a:t>
            </a:r>
            <a:endParaRPr lang="uk-UA" sz="1400" dirty="0"/>
          </a:p>
        </p:txBody>
      </p:sp>
      <p:sp>
        <p:nvSpPr>
          <p:cNvPr id="50" name="Shape 7">
            <a:extLst>
              <a:ext uri="{FF2B5EF4-FFF2-40B4-BE49-F238E27FC236}">
                <a16:creationId xmlns:a16="http://schemas.microsoft.com/office/drawing/2014/main" id="{9E5E1313-5AFE-349E-D1DB-47488010EA35}"/>
              </a:ext>
            </a:extLst>
          </p:cNvPr>
          <p:cNvSpPr/>
          <p:nvPr/>
        </p:nvSpPr>
        <p:spPr>
          <a:xfrm>
            <a:off x="6154058" y="3101518"/>
            <a:ext cx="2823028" cy="1460092"/>
          </a:xfrm>
          <a:prstGeom prst="rect">
            <a:avLst/>
          </a:prstGeom>
          <a:solidFill>
            <a:srgbClr val="EAF2FA"/>
          </a:solidFill>
          <a:ln w="6350">
            <a:noFill/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1F68A44C-5257-2232-8ECF-0A6E0894D8ED}"/>
              </a:ext>
            </a:extLst>
          </p:cNvPr>
          <p:cNvSpPr/>
          <p:nvPr/>
        </p:nvSpPr>
        <p:spPr>
          <a:xfrm>
            <a:off x="6270284" y="3165526"/>
            <a:ext cx="2648745" cy="1283104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Фаза 2:  </a:t>
            </a:r>
            <a:r>
              <a:rPr lang="uk-UA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бота   заморожена. Застосовується 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PPO</a:t>
            </a:r>
            <a:r>
              <a:rPr lang="ru-RU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uk-UA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орієнтуючись на максимізацію функції залученості шляхом ускладнення чи полегшення середовища для бота.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Обґрунтування вибору технологій і засобів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4069080" cy="1280160"/>
          </a:xfrm>
          <a:prstGeom prst="rect">
            <a:avLst/>
          </a:prstGeom>
          <a:solidFill>
            <a:srgbClr val="EAF2FA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13232"/>
            <a:ext cx="128016" cy="1280160"/>
          </a:xfrm>
          <a:prstGeom prst="rect">
            <a:avLst/>
          </a:prstGeom>
          <a:solidFill>
            <a:srgbClr val="C2DFE3"/>
          </a:solidFill>
          <a:ln w="12700">
            <a:noFill/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804672"/>
            <a:ext cx="3794760" cy="347472"/>
          </a:xfrm>
          <a:prstGeom prst="rect">
            <a:avLst/>
          </a:prstGeom>
          <a:solidFill>
            <a:srgbClr val="EAF2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Unity 6.3 LTS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21208" y="1188720"/>
            <a:ext cx="3867912" cy="694944"/>
          </a:xfrm>
          <a:prstGeom prst="rect">
            <a:avLst/>
          </a:prstGeom>
          <a:solidFill>
            <a:srgbClr val="EAF2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Багатоплатформний рушій із вбудованою 3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D-</a:t>
            </a:r>
            <a:r>
              <a:rPr lang="uk-UA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фізикою та рендерингу. Підтримка 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ML-</a:t>
            </a:r>
            <a:r>
              <a:rPr lang="uk-UA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інструментів та гнучка 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C#-</a:t>
            </a:r>
            <a:r>
              <a:rPr lang="uk-UA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архітектура.</a:t>
            </a:r>
          </a:p>
        </p:txBody>
      </p:sp>
      <p:sp>
        <p:nvSpPr>
          <p:cNvPr id="9" name="Shape 7"/>
          <p:cNvSpPr/>
          <p:nvPr/>
        </p:nvSpPr>
        <p:spPr>
          <a:xfrm>
            <a:off x="4754880" y="2130552"/>
            <a:ext cx="4069080" cy="1280160"/>
          </a:xfrm>
          <a:prstGeom prst="rect">
            <a:avLst/>
          </a:prstGeom>
          <a:solidFill>
            <a:srgbClr val="EAF2FA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2130552"/>
            <a:ext cx="128016" cy="1280160"/>
          </a:xfrm>
          <a:prstGeom prst="rect">
            <a:avLst/>
          </a:prstGeom>
          <a:solidFill>
            <a:srgbClr val="BDD7EE"/>
          </a:solidFill>
          <a:ln w="12700">
            <a:noFill/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222199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C# / SOLID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956048" y="2606040"/>
            <a:ext cx="38679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Статична типізація та строге дотримання принципів об'єктно-орієнтованого дизайну</a:t>
            </a:r>
            <a:r>
              <a:rPr lang="ru-RU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uk-UA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Незалежність</a:t>
            </a:r>
            <a:r>
              <a:rPr lang="ru-RU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DDA-</a:t>
            </a:r>
            <a:r>
              <a:rPr lang="uk-UA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системи від ігрової логіки.</a:t>
            </a:r>
            <a:endParaRPr lang="uk-UA" sz="1500" dirty="0"/>
          </a:p>
        </p:txBody>
      </p:sp>
      <p:sp>
        <p:nvSpPr>
          <p:cNvPr id="13" name="Shape 11"/>
          <p:cNvSpPr/>
          <p:nvPr/>
        </p:nvSpPr>
        <p:spPr>
          <a:xfrm>
            <a:off x="320040" y="3547872"/>
            <a:ext cx="4069080" cy="1280160"/>
          </a:xfrm>
          <a:prstGeom prst="rect">
            <a:avLst/>
          </a:prstGeom>
          <a:solidFill>
            <a:srgbClr val="EAF2FA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547872"/>
            <a:ext cx="128016" cy="1280160"/>
          </a:xfrm>
          <a:prstGeom prst="rect">
            <a:avLst/>
          </a:prstGeom>
          <a:solidFill>
            <a:srgbClr val="F8CBAD"/>
          </a:solidFill>
          <a:ln w="12700">
            <a:noFill/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363931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(Python)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21208" y="4023360"/>
            <a:ext cx="3794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600" dirty="0"/>
              <a:t>Основна бібліотека для тренування регресійних моделей (</a:t>
            </a:r>
            <a:r>
              <a:rPr lang="en-US" sz="1600" dirty="0"/>
              <a:t>Random Forest</a:t>
            </a:r>
            <a:r>
              <a:rPr lang="uk-UA" sz="1600" dirty="0"/>
              <a:t>, MLP).</a:t>
            </a:r>
            <a:endParaRPr lang="uk-UA" sz="1500" dirty="0"/>
          </a:p>
        </p:txBody>
      </p:sp>
      <p:sp>
        <p:nvSpPr>
          <p:cNvPr id="17" name="Shape 15"/>
          <p:cNvSpPr/>
          <p:nvPr/>
        </p:nvSpPr>
        <p:spPr>
          <a:xfrm>
            <a:off x="4754880" y="710946"/>
            <a:ext cx="4069080" cy="1280160"/>
          </a:xfrm>
          <a:prstGeom prst="rect">
            <a:avLst/>
          </a:prstGeom>
          <a:solidFill>
            <a:srgbClr val="EAF2FA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710946"/>
            <a:ext cx="128016" cy="1280160"/>
          </a:xfrm>
          <a:prstGeom prst="rect">
            <a:avLst/>
          </a:prstGeom>
          <a:solidFill>
            <a:srgbClr val="239386">
              <a:alpha val="20000"/>
            </a:srgbClr>
          </a:solidFill>
          <a:ln w="12700">
            <a:noFill/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802386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Unity ML-Agents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956048" y="1186434"/>
            <a:ext cx="3794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600" dirty="0"/>
              <a:t>Тренування агентів за алгоритмом PPO безпосередньо в ігровому середовищі</a:t>
            </a:r>
            <a:r>
              <a:rPr lang="ru-RU" sz="1600" dirty="0"/>
              <a:t>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20040" y="2130552"/>
            <a:ext cx="4069080" cy="1280160"/>
          </a:xfrm>
          <a:prstGeom prst="rect">
            <a:avLst/>
          </a:prstGeom>
          <a:solidFill>
            <a:srgbClr val="EAF2FA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130552"/>
            <a:ext cx="128016" cy="1280160"/>
          </a:xfrm>
          <a:prstGeom prst="rect">
            <a:avLst/>
          </a:prstGeom>
          <a:solidFill>
            <a:srgbClr val="BDD7EE"/>
          </a:solidFill>
          <a:ln w="12700">
            <a:noFill/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222199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Unity Sentis (ONNX)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21208" y="2606040"/>
            <a:ext cx="3794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Виконання багатошарового </a:t>
            </a:r>
            <a:r>
              <a:rPr lang="uk-UA" sz="15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перцептрона</a:t>
            </a:r>
            <a:r>
              <a:rPr lang="uk-UA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(MLP) у реальному часі. Робота без </a:t>
            </a:r>
            <a:r>
              <a:rPr lang="uk-UA" sz="15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r>
              <a:rPr lang="uk-UA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-залежностей із апаратним прискоренням.</a:t>
            </a:r>
            <a:endParaRPr lang="uk-UA" sz="1500" dirty="0"/>
          </a:p>
        </p:txBody>
      </p:sp>
      <p:sp>
        <p:nvSpPr>
          <p:cNvPr id="25" name="Shape 23"/>
          <p:cNvSpPr/>
          <p:nvPr/>
        </p:nvSpPr>
        <p:spPr>
          <a:xfrm>
            <a:off x="4754880" y="3547872"/>
            <a:ext cx="4069080" cy="1280160"/>
          </a:xfrm>
          <a:prstGeom prst="rect">
            <a:avLst/>
          </a:prstGeom>
          <a:solidFill>
            <a:srgbClr val="EAF2FA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547872"/>
            <a:ext cx="128016" cy="1280160"/>
          </a:xfrm>
          <a:prstGeom prst="rect">
            <a:avLst/>
          </a:prstGeom>
          <a:solidFill>
            <a:srgbClr val="F8CBAD"/>
          </a:solidFill>
          <a:ln w="12700">
            <a:noFill/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363931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m2cgen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956048" y="4023360"/>
            <a:ext cx="38679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600" dirty="0"/>
              <a:t>Конвертація моделі </a:t>
            </a:r>
            <a:r>
              <a:rPr lang="uk-UA" sz="1600" dirty="0" err="1"/>
              <a:t>Random</a:t>
            </a:r>
            <a:r>
              <a:rPr lang="uk-UA" sz="1600" dirty="0"/>
              <a:t> </a:t>
            </a:r>
            <a:r>
              <a:rPr lang="uk-UA" sz="1600" dirty="0" err="1"/>
              <a:t>Forest</a:t>
            </a:r>
            <a:r>
              <a:rPr lang="uk-UA" sz="1600" dirty="0"/>
              <a:t> у </a:t>
            </a:r>
            <a:r>
              <a:rPr lang="uk-UA" sz="1600" dirty="0" err="1"/>
              <a:t>нативний</a:t>
            </a:r>
            <a:r>
              <a:rPr lang="uk-UA" sz="1600" dirty="0"/>
              <a:t>, незалежний C#-код. Швидке виконання та відсутність виділень пам’яті.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uk-UA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Реалізація ігрового середовища</a:t>
            </a:r>
            <a:endParaRPr lang="uk-UA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34856"/>
            <a:ext cx="8229600" cy="2114996"/>
          </a:xfrm>
          <a:prstGeom prst="rect">
            <a:avLst/>
          </a:prstGeom>
          <a:solidFill>
            <a:srgbClr val="EAF2FA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499725" y="2552973"/>
            <a:ext cx="4206240" cy="1968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Фрагмент рівня 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у Unity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0756" y="2779775"/>
            <a:ext cx="2866934" cy="2078737"/>
          </a:xfrm>
          <a:prstGeom prst="rect">
            <a:avLst/>
          </a:prstGeom>
          <a:solidFill>
            <a:srgbClr val="EAF2FA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B56F50EB-CEA7-55A2-0F58-247014741186}"/>
              </a:ext>
            </a:extLst>
          </p:cNvPr>
          <p:cNvSpPr/>
          <p:nvPr/>
        </p:nvSpPr>
        <p:spPr>
          <a:xfrm>
            <a:off x="3169378" y="2779775"/>
            <a:ext cx="2866934" cy="2078737"/>
          </a:xfrm>
          <a:prstGeom prst="rect">
            <a:avLst/>
          </a:prstGeom>
          <a:solidFill>
            <a:srgbClr val="EAF2FA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C3D367E9-DD26-C8D6-003A-D4D639A130A3}"/>
              </a:ext>
            </a:extLst>
          </p:cNvPr>
          <p:cNvSpPr/>
          <p:nvPr/>
        </p:nvSpPr>
        <p:spPr>
          <a:xfrm>
            <a:off x="6098000" y="2779775"/>
            <a:ext cx="2866934" cy="2078737"/>
          </a:xfrm>
          <a:prstGeom prst="rect">
            <a:avLst/>
          </a:prstGeom>
          <a:solidFill>
            <a:srgbClr val="EAF2FA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3449" y="4858512"/>
            <a:ext cx="8017101" cy="2512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Перешкода до і після адаптації (візуалізація станів при множниках 0.65, 1.0 та 1.35)</a:t>
            </a:r>
            <a:endParaRPr lang="uk-UA" sz="14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4341CA9-5924-B2EB-13DD-509E6A3FD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89" y="2831404"/>
            <a:ext cx="2146268" cy="196375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C189750-B786-EC96-A5B8-EAD492F6F1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9218" y="2813686"/>
            <a:ext cx="2354399" cy="198147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8A01F06-FD48-403F-56E9-C851CFDCCB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6152" y="2813685"/>
            <a:ext cx="2515594" cy="186024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879A6AE-1204-C92E-7969-7A7530AD0C1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461" y="668577"/>
            <a:ext cx="6028767" cy="1914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uk-UA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Функціональна схема застосування адаптації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306D118-F2E4-7F42-6097-D0EC1891F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0884"/>
            <a:ext cx="9144000" cy="2406989"/>
          </a:xfrm>
          <a:prstGeom prst="rect">
            <a:avLst/>
          </a:prstGeom>
        </p:spPr>
      </p:pic>
      <p:sp>
        <p:nvSpPr>
          <p:cNvPr id="57" name="Shape 38">
            <a:extLst>
              <a:ext uri="{FF2B5EF4-FFF2-40B4-BE49-F238E27FC236}">
                <a16:creationId xmlns:a16="http://schemas.microsoft.com/office/drawing/2014/main" id="{1D7D9BDC-7834-5101-C708-B534B05CBED9}"/>
              </a:ext>
            </a:extLst>
          </p:cNvPr>
          <p:cNvSpPr/>
          <p:nvPr/>
        </p:nvSpPr>
        <p:spPr>
          <a:xfrm>
            <a:off x="335861" y="3591968"/>
            <a:ext cx="4236139" cy="1460092"/>
          </a:xfrm>
          <a:prstGeom prst="rect">
            <a:avLst/>
          </a:prstGeom>
          <a:solidFill>
            <a:srgbClr val="EAF2FA"/>
          </a:solidFill>
          <a:ln w="6350">
            <a:noFill/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8" name="Text 39">
            <a:extLst>
              <a:ext uri="{FF2B5EF4-FFF2-40B4-BE49-F238E27FC236}">
                <a16:creationId xmlns:a16="http://schemas.microsoft.com/office/drawing/2014/main" id="{2E7CA96A-A433-BDCE-6B2F-9BC2FD1E2581}"/>
              </a:ext>
            </a:extLst>
          </p:cNvPr>
          <p:cNvSpPr/>
          <p:nvPr/>
        </p:nvSpPr>
        <p:spPr>
          <a:xfrm>
            <a:off x="455231" y="3655975"/>
            <a:ext cx="4000499" cy="1338028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600" dirty="0"/>
              <a:t>Багатокроковий конвеєр забезпечує збір телеметрії, розрахунок цільового множника із захистом від різких відкатів та асинхронне застосування змін для збереження цілісності ігрового досвіду.</a:t>
            </a:r>
          </a:p>
        </p:txBody>
      </p:sp>
      <p:sp>
        <p:nvSpPr>
          <p:cNvPr id="59" name="Shape 38">
            <a:extLst>
              <a:ext uri="{FF2B5EF4-FFF2-40B4-BE49-F238E27FC236}">
                <a16:creationId xmlns:a16="http://schemas.microsoft.com/office/drawing/2014/main" id="{D0B3017A-5DBC-9B0E-38F0-718F11F9CED5}"/>
              </a:ext>
            </a:extLst>
          </p:cNvPr>
          <p:cNvSpPr/>
          <p:nvPr/>
        </p:nvSpPr>
        <p:spPr>
          <a:xfrm>
            <a:off x="4724400" y="3591968"/>
            <a:ext cx="4236139" cy="1460092"/>
          </a:xfrm>
          <a:prstGeom prst="rect">
            <a:avLst/>
          </a:prstGeom>
          <a:solidFill>
            <a:srgbClr val="EAF2FA"/>
          </a:solidFill>
          <a:ln w="6350">
            <a:noFill/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0" name="Text 39">
            <a:extLst>
              <a:ext uri="{FF2B5EF4-FFF2-40B4-BE49-F238E27FC236}">
                <a16:creationId xmlns:a16="http://schemas.microsoft.com/office/drawing/2014/main" id="{CCE9EDD1-AE77-8A57-4081-3341C7549AB8}"/>
              </a:ext>
            </a:extLst>
          </p:cNvPr>
          <p:cNvSpPr/>
          <p:nvPr/>
        </p:nvSpPr>
        <p:spPr>
          <a:xfrm>
            <a:off x="4843770" y="3655975"/>
            <a:ext cx="3964369" cy="1338028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600" dirty="0"/>
              <a:t>Алгоритм реагує не на загальну кількість смертей, а на їх просторову локалізацію (кластери). Це дозволяє точніше змінювати складність проблемної зони перешкод.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Результати порівняльного A/B-тестування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942985"/>
              </p:ext>
            </p:extLst>
          </p:nvPr>
        </p:nvGraphicFramePr>
        <p:xfrm>
          <a:off x="320040" y="3567684"/>
          <a:ext cx="8412479" cy="144780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469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9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0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12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62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6293">
                  <a:extLst>
                    <a:ext uri="{9D8B030D-6E8A-4147-A177-3AD203B41FA5}">
                      <a16:colId xmlns:a16="http://schemas.microsoft.com/office/drawing/2014/main" val="3882637063"/>
                    </a:ext>
                  </a:extLst>
                </a:gridCol>
              </a:tblGrid>
              <a:tr h="263347">
                <a:tc>
                  <a:txBody>
                    <a:bodyPr/>
                    <a:lstStyle/>
                    <a:p>
                      <a:pPr algn="l"/>
                      <a:r>
                        <a:rPr lang="uk-UA" sz="1400" b="1" dirty="0">
                          <a:solidFill>
                            <a:srgbClr val="000000"/>
                          </a:solidFill>
                          <a:effectLst/>
                        </a:rPr>
                        <a:t>Група / метрика</a:t>
                      </a:r>
                      <a:endParaRPr lang="uk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D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1400" b="1" dirty="0">
                          <a:solidFill>
                            <a:srgbClr val="000000"/>
                          </a:solidFill>
                          <a:effectLst/>
                        </a:rPr>
                        <a:t>CR, %</a:t>
                      </a:r>
                      <a:endParaRPr lang="uk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D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1400" b="1" dirty="0">
                          <a:solidFill>
                            <a:srgbClr val="000000"/>
                          </a:solidFill>
                          <a:effectLst/>
                        </a:rPr>
                        <a:t>AD</a:t>
                      </a:r>
                      <a:endParaRPr lang="uk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D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1400" b="1" dirty="0">
                          <a:solidFill>
                            <a:srgbClr val="000000"/>
                          </a:solidFill>
                          <a:effectLst/>
                        </a:rPr>
                        <a:t>ST, хв</a:t>
                      </a:r>
                      <a:endParaRPr lang="uk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D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1400" b="1" dirty="0">
                          <a:solidFill>
                            <a:srgbClr val="000000"/>
                          </a:solidFill>
                          <a:effectLst/>
                        </a:rPr>
                        <a:t>IS, бали</a:t>
                      </a:r>
                      <a:endParaRPr lang="uk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uk-UA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IS, бали</a:t>
                      </a:r>
                      <a:endParaRPr kumimoji="0" lang="uk-UA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algn="l"/>
                      <a:r>
                        <a:rPr lang="uk-UA" sz="1400" dirty="0">
                          <a:effectLst/>
                        </a:rPr>
                        <a:t>A: </a:t>
                      </a:r>
                      <a:r>
                        <a:rPr lang="en-US" sz="1400" dirty="0">
                          <a:effectLst/>
                        </a:rPr>
                        <a:t>Baseline</a:t>
                      </a:r>
                      <a:endParaRPr lang="uk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1400" dirty="0">
                          <a:effectLst/>
                        </a:rPr>
                        <a:t>6</a:t>
                      </a:r>
                      <a:r>
                        <a:rPr lang="en-US" sz="1400" dirty="0">
                          <a:effectLst/>
                        </a:rPr>
                        <a:t>1</a:t>
                      </a:r>
                      <a:endParaRPr lang="uk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18.5</a:t>
                      </a:r>
                      <a:endParaRPr lang="uk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1400" dirty="0">
                          <a:effectLst/>
                        </a:rPr>
                        <a:t>18</a:t>
                      </a:r>
                      <a:r>
                        <a:rPr lang="en-US" sz="1400" dirty="0">
                          <a:effectLst/>
                        </a:rPr>
                        <a:t>.2</a:t>
                      </a:r>
                      <a:endParaRPr lang="uk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1400" b="1" dirty="0">
                          <a:solidFill>
                            <a:srgbClr val="0E8A7A"/>
                          </a:solidFill>
                          <a:effectLst/>
                        </a:rPr>
                        <a:t>5.0</a:t>
                      </a:r>
                      <a:endParaRPr lang="uk-UA" sz="1200" b="1" dirty="0">
                        <a:solidFill>
                          <a:srgbClr val="0E8A7A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1400" b="0" dirty="0">
                          <a:solidFill>
                            <a:schemeClr val="tx1"/>
                          </a:solidFill>
                          <a:effectLst/>
                        </a:rPr>
                        <a:t>2.5</a:t>
                      </a:r>
                      <a:endParaRPr lang="uk-UA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algn="l"/>
                      <a:r>
                        <a:rPr lang="uk-UA" sz="1400">
                          <a:effectLst/>
                        </a:rPr>
                        <a:t>B: </a:t>
                      </a:r>
                      <a:r>
                        <a:rPr lang="en-US" sz="1400">
                          <a:effectLst/>
                        </a:rPr>
                        <a:t>Heuristic</a:t>
                      </a:r>
                      <a:endParaRPr lang="uk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86</a:t>
                      </a:r>
                      <a:endParaRPr lang="uk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1400" b="1" dirty="0">
                          <a:solidFill>
                            <a:srgbClr val="0E8A7A"/>
                          </a:solidFill>
                          <a:effectLst/>
                        </a:rPr>
                        <a:t>8</a:t>
                      </a:r>
                      <a:r>
                        <a:rPr lang="en-US" sz="1400" b="1" dirty="0">
                          <a:solidFill>
                            <a:srgbClr val="0E8A7A"/>
                          </a:solidFill>
                          <a:effectLst/>
                        </a:rPr>
                        <a:t>.5</a:t>
                      </a:r>
                      <a:endParaRPr lang="uk-UA" sz="1200" b="1" dirty="0">
                        <a:solidFill>
                          <a:srgbClr val="0E8A7A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1400" dirty="0">
                          <a:effectLst/>
                        </a:rPr>
                        <a:t>15</a:t>
                      </a:r>
                      <a:r>
                        <a:rPr lang="en-US" sz="1400" dirty="0">
                          <a:effectLst/>
                        </a:rPr>
                        <a:t>.3</a:t>
                      </a:r>
                      <a:endParaRPr lang="uk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3.5</a:t>
                      </a:r>
                      <a:endParaRPr lang="uk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1400" dirty="0">
                          <a:effectLst/>
                        </a:rPr>
                        <a:t>4</a:t>
                      </a:r>
                      <a:r>
                        <a:rPr lang="en-US" sz="1400" dirty="0">
                          <a:effectLst/>
                        </a:rPr>
                        <a:t>.</a:t>
                      </a:r>
                      <a:r>
                        <a:rPr lang="uk-UA" sz="1400" dirty="0">
                          <a:effectLst/>
                        </a:rPr>
                        <a:t>1</a:t>
                      </a:r>
                      <a:endParaRPr lang="uk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algn="l"/>
                      <a:r>
                        <a:rPr lang="uk-UA" sz="1400">
                          <a:effectLst/>
                        </a:rPr>
                        <a:t>C: </a:t>
                      </a:r>
                      <a:r>
                        <a:rPr lang="en-US" sz="1400">
                          <a:effectLst/>
                        </a:rPr>
                        <a:t>Random Forest</a:t>
                      </a:r>
                      <a:endParaRPr lang="uk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1400" b="1" dirty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uk-UA" sz="12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effectLst/>
                        </a:rPr>
                        <a:t>10.5</a:t>
                      </a:r>
                      <a:endParaRPr lang="uk-UA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1400" b="1" dirty="0">
                          <a:effectLst/>
                        </a:rPr>
                        <a:t>21.</a:t>
                      </a:r>
                      <a:r>
                        <a:rPr lang="en-US" sz="1400" b="1" dirty="0">
                          <a:effectLst/>
                        </a:rPr>
                        <a:t>5</a:t>
                      </a:r>
                      <a:endParaRPr lang="uk-UA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effectLst/>
                        </a:rPr>
                        <a:t>4.1</a:t>
                      </a:r>
                      <a:endParaRPr lang="uk-UA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0E8A7A"/>
                          </a:solidFill>
                          <a:effectLst/>
                        </a:rPr>
                        <a:t>4.</a:t>
                      </a:r>
                      <a:r>
                        <a:rPr lang="uk-UA" sz="1400" b="1" dirty="0">
                          <a:solidFill>
                            <a:srgbClr val="0E8A7A"/>
                          </a:solidFill>
                          <a:effectLst/>
                        </a:rPr>
                        <a:t>4</a:t>
                      </a:r>
                      <a:endParaRPr lang="uk-UA" sz="1200" b="1" dirty="0">
                        <a:solidFill>
                          <a:srgbClr val="0E8A7A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algn="l"/>
                      <a:r>
                        <a:rPr lang="uk-UA" sz="1400">
                          <a:effectLst/>
                        </a:rPr>
                        <a:t>D: RL (</a:t>
                      </a:r>
                      <a:r>
                        <a:rPr lang="en-US" sz="1400">
                          <a:effectLst/>
                        </a:rPr>
                        <a:t>Director</a:t>
                      </a:r>
                      <a:r>
                        <a:rPr lang="uk-UA" sz="1400">
                          <a:effectLst/>
                        </a:rPr>
                        <a:t>)</a:t>
                      </a:r>
                      <a:endParaRPr lang="uk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1400" b="1" dirty="0">
                          <a:solidFill>
                            <a:srgbClr val="0E8A7A"/>
                          </a:solidFill>
                          <a:effectLst/>
                        </a:rPr>
                        <a:t>79</a:t>
                      </a:r>
                      <a:endParaRPr lang="uk-UA" sz="1200" b="1" dirty="0">
                        <a:solidFill>
                          <a:srgbClr val="0E8A7A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1400" dirty="0">
                          <a:effectLst/>
                        </a:rPr>
                        <a:t>11</a:t>
                      </a:r>
                      <a:r>
                        <a:rPr lang="en-US" sz="1400" dirty="0">
                          <a:effectLst/>
                        </a:rPr>
                        <a:t>.0</a:t>
                      </a:r>
                      <a:endParaRPr lang="uk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0E8A7A"/>
                          </a:solidFill>
                          <a:effectLst/>
                        </a:rPr>
                        <a:t>23.8</a:t>
                      </a:r>
                      <a:endParaRPr lang="uk-UA" sz="1200" b="1" dirty="0">
                        <a:solidFill>
                          <a:srgbClr val="0E8A7A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3.8</a:t>
                      </a:r>
                      <a:endParaRPr lang="uk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1400" b="1" dirty="0">
                          <a:effectLst/>
                        </a:rPr>
                        <a:t>4</a:t>
                      </a:r>
                      <a:r>
                        <a:rPr lang="en-US" sz="1400" b="1" dirty="0">
                          <a:effectLst/>
                        </a:rPr>
                        <a:t>.</a:t>
                      </a:r>
                      <a:r>
                        <a:rPr lang="uk-UA" sz="1400" b="1" dirty="0">
                          <a:effectLst/>
                        </a:rPr>
                        <a:t>3</a:t>
                      </a:r>
                      <a:endParaRPr lang="uk-UA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617109A9-EA1A-1682-B057-E216F169EA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594772"/>
              </p:ext>
            </p:extLst>
          </p:nvPr>
        </p:nvGraphicFramePr>
        <p:xfrm>
          <a:off x="301119" y="731203"/>
          <a:ext cx="4270881" cy="2644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941DDDE1-3554-699A-2C89-B82ADBEFE8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7371512"/>
              </p:ext>
            </p:extLst>
          </p:nvPr>
        </p:nvGraphicFramePr>
        <p:xfrm>
          <a:off x="4572000" y="792162"/>
          <a:ext cx="4270881" cy="25072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 отриманих результатів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4069080" cy="2103120"/>
          </a:xfrm>
          <a:prstGeom prst="rect">
            <a:avLst/>
          </a:prstGeom>
          <a:solidFill>
            <a:srgbClr val="DEEBF7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F519980-8E1D-8EDE-0719-1723F3EB7179}"/>
              </a:ext>
            </a:extLst>
          </p:cNvPr>
          <p:cNvGrpSpPr/>
          <p:nvPr/>
        </p:nvGrpSpPr>
        <p:grpSpPr>
          <a:xfrm>
            <a:off x="3474720" y="786384"/>
            <a:ext cx="822960" cy="640080"/>
            <a:chOff x="3611880" y="786384"/>
            <a:chExt cx="685800" cy="640080"/>
          </a:xfrm>
          <a:solidFill>
            <a:srgbClr val="239386">
              <a:alpha val="20000"/>
            </a:srgbClr>
          </a:solidFill>
        </p:grpSpPr>
        <p:sp>
          <p:nvSpPr>
            <p:cNvPr id="6" name="Shape 4"/>
            <p:cNvSpPr/>
            <p:nvPr/>
          </p:nvSpPr>
          <p:spPr>
            <a:xfrm>
              <a:off x="3611880" y="786384"/>
              <a:ext cx="685800" cy="640080"/>
            </a:xfrm>
            <a:prstGeom prst="rect">
              <a:avLst/>
            </a:prstGeom>
            <a:grpFill/>
            <a:ln w="12700">
              <a:noFill/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3611880" y="786384"/>
              <a:ext cx="685800" cy="64008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</a:t>
              </a:r>
              <a:r>
                <a:rPr lang="uk-UA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18</a:t>
              </a:r>
              <a:r>
                <a:rPr lang="en-US" sz="18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%</a:t>
              </a:r>
              <a:endParaRPr lang="en-US" sz="1800" dirty="0"/>
            </a:p>
          </p:txBody>
        </p:sp>
      </p:grpSp>
      <p:sp>
        <p:nvSpPr>
          <p:cNvPr id="8" name="Text 6"/>
          <p:cNvSpPr/>
          <p:nvPr/>
        </p:nvSpPr>
        <p:spPr>
          <a:xfrm>
            <a:off x="457200" y="8046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Перевага </a:t>
            </a: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DDA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1261872"/>
            <a:ext cx="3794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400" dirty="0"/>
              <a:t>Будь-який метод адаптації суттєво зменшив відтік гравців через фрустрацію порівняно з базовою грою. 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713232"/>
            <a:ext cx="4069080" cy="2103120"/>
          </a:xfrm>
          <a:prstGeom prst="rect">
            <a:avLst/>
          </a:prstGeom>
          <a:solidFill>
            <a:srgbClr val="DEEBF7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DBBD66D-26D0-C4EA-9F0F-9BA71D6FC27E}"/>
              </a:ext>
            </a:extLst>
          </p:cNvPr>
          <p:cNvGrpSpPr/>
          <p:nvPr/>
        </p:nvGrpSpPr>
        <p:grpSpPr>
          <a:xfrm>
            <a:off x="7818120" y="786384"/>
            <a:ext cx="822960" cy="640080"/>
            <a:chOff x="7955280" y="786384"/>
            <a:chExt cx="685800" cy="640080"/>
          </a:xfrm>
          <a:solidFill>
            <a:srgbClr val="0B5F9E">
              <a:alpha val="20000"/>
            </a:srgbClr>
          </a:solidFill>
        </p:grpSpPr>
        <p:sp>
          <p:nvSpPr>
            <p:cNvPr id="11" name="Shape 9"/>
            <p:cNvSpPr/>
            <p:nvPr/>
          </p:nvSpPr>
          <p:spPr>
            <a:xfrm>
              <a:off x="7955280" y="786384"/>
              <a:ext cx="685800" cy="640080"/>
            </a:xfrm>
            <a:prstGeom prst="rect">
              <a:avLst/>
            </a:prstGeom>
            <a:grpFill/>
            <a:ln w="12700">
              <a:noFill/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7955280" y="786384"/>
              <a:ext cx="685800" cy="64008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×2</a:t>
              </a:r>
              <a:endParaRPr lang="en-US" sz="1800" dirty="0"/>
            </a:p>
          </p:txBody>
        </p:sp>
      </p:grpSp>
      <p:sp>
        <p:nvSpPr>
          <p:cNvPr id="13" name="Text 11"/>
          <p:cNvSpPr/>
          <p:nvPr/>
        </p:nvSpPr>
        <p:spPr>
          <a:xfrm>
            <a:off x="4800600" y="8046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Евристичний алгоритм</a:t>
            </a:r>
            <a:endParaRPr lang="uk-UA" sz="2000" dirty="0"/>
          </a:p>
        </p:txBody>
      </p:sp>
      <p:sp>
        <p:nvSpPr>
          <p:cNvPr id="14" name="Text 12"/>
          <p:cNvSpPr/>
          <p:nvPr/>
        </p:nvSpPr>
        <p:spPr>
          <a:xfrm>
            <a:off x="4800600" y="1261872"/>
            <a:ext cx="3794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400" dirty="0"/>
              <a:t>Зменшив середню кількість смертей вдвічі(з 18.5 до 8.5). </a:t>
            </a:r>
            <a:r>
              <a:rPr lang="uk-UA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Ідеально підходить для розв'язання проблеми «холодного старту» (коли немає зібраних даних).</a:t>
            </a:r>
            <a:endParaRPr lang="uk-UA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2999232"/>
            <a:ext cx="4069080" cy="2103120"/>
          </a:xfrm>
          <a:prstGeom prst="rect">
            <a:avLst/>
          </a:prstGeom>
          <a:solidFill>
            <a:srgbClr val="DEEBF7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7F93CC5-8676-B070-71F1-F1C8E07CD283}"/>
              </a:ext>
            </a:extLst>
          </p:cNvPr>
          <p:cNvGrpSpPr/>
          <p:nvPr/>
        </p:nvGrpSpPr>
        <p:grpSpPr>
          <a:xfrm>
            <a:off x="3474720" y="3072384"/>
            <a:ext cx="822960" cy="640080"/>
            <a:chOff x="3611880" y="3072384"/>
            <a:chExt cx="685800" cy="640080"/>
          </a:xfrm>
          <a:solidFill>
            <a:srgbClr val="D97706">
              <a:alpha val="20000"/>
            </a:srgbClr>
          </a:solidFill>
        </p:grpSpPr>
        <p:sp>
          <p:nvSpPr>
            <p:cNvPr id="16" name="Shape 14"/>
            <p:cNvSpPr/>
            <p:nvPr/>
          </p:nvSpPr>
          <p:spPr>
            <a:xfrm>
              <a:off x="3611880" y="3072384"/>
              <a:ext cx="685800" cy="640080"/>
            </a:xfrm>
            <a:prstGeom prst="rect">
              <a:avLst/>
            </a:prstGeom>
            <a:grpFill/>
            <a:ln w="12700">
              <a:noFill/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3611880" y="3072384"/>
              <a:ext cx="685800" cy="64008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4.</a:t>
              </a:r>
              <a:r>
                <a:rPr lang="uk-UA" sz="18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1800" dirty="0"/>
            </a:p>
          </p:txBody>
        </p:sp>
      </p:grpSp>
      <p:sp>
        <p:nvSpPr>
          <p:cNvPr id="18" name="Text 16"/>
          <p:cNvSpPr/>
          <p:nvPr/>
        </p:nvSpPr>
        <p:spPr>
          <a:xfrm>
            <a:off x="457200" y="30906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" y="3547872"/>
            <a:ext cx="3794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Отримав максимальну оцінку залученості - 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Flow Score = 4.4/5.0.</a:t>
            </a:r>
            <a:r>
              <a:rPr lang="uk-UA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uk-UA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Найбільш непомітний серед використаних алгоритмів для гравця завдяки врахуванню психологічних метрик.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2999232"/>
            <a:ext cx="4069080" cy="2103120"/>
          </a:xfrm>
          <a:prstGeom prst="rect">
            <a:avLst/>
          </a:prstGeom>
          <a:solidFill>
            <a:srgbClr val="DEEBF7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8A23993-1939-9D82-0557-B406620CF6F1}"/>
              </a:ext>
            </a:extLst>
          </p:cNvPr>
          <p:cNvGrpSpPr/>
          <p:nvPr/>
        </p:nvGrpSpPr>
        <p:grpSpPr>
          <a:xfrm>
            <a:off x="7818120" y="3072384"/>
            <a:ext cx="822960" cy="640080"/>
            <a:chOff x="7955280" y="3072384"/>
            <a:chExt cx="685800" cy="640080"/>
          </a:xfrm>
          <a:solidFill>
            <a:srgbClr val="0E8A7A">
              <a:alpha val="20000"/>
            </a:srgbClr>
          </a:solidFill>
        </p:grpSpPr>
        <p:sp>
          <p:nvSpPr>
            <p:cNvPr id="21" name="Shape 19"/>
            <p:cNvSpPr/>
            <p:nvPr/>
          </p:nvSpPr>
          <p:spPr>
            <a:xfrm>
              <a:off x="7955280" y="3072384"/>
              <a:ext cx="685800" cy="640080"/>
            </a:xfrm>
            <a:prstGeom prst="rect">
              <a:avLst/>
            </a:prstGeom>
            <a:grpFill/>
            <a:ln w="12700">
              <a:noFill/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7955280" y="3072384"/>
              <a:ext cx="685800" cy="64008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uk-UA" sz="17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23.8 хв</a:t>
              </a:r>
              <a:endParaRPr lang="en-US" sz="1700" dirty="0"/>
            </a:p>
          </p:txBody>
        </p:sp>
      </p:grpSp>
      <p:sp>
        <p:nvSpPr>
          <p:cNvPr id="23" name="Text 21"/>
          <p:cNvSpPr/>
          <p:nvPr/>
        </p:nvSpPr>
        <p:spPr>
          <a:xfrm>
            <a:off x="4800600" y="30906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RL-</a:t>
            </a:r>
            <a:r>
              <a:rPr lang="uk-UA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Режисер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800600" y="3547872"/>
            <a:ext cx="3794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400" dirty="0"/>
              <a:t>Лідер з утримання аудиторії. Згенерував найдовші ігрові сесії (23.8 хв), довівши здатність автоматизовано симулювати роботу ігрового дизайнера</a:t>
            </a:r>
            <a:r>
              <a:rPr lang="ru-RU" sz="1400" dirty="0"/>
              <a:t>. </a:t>
            </a:r>
            <a:r>
              <a:rPr lang="uk-UA" sz="1400" dirty="0"/>
              <a:t>Найближчий до цільового показника в 80% успішності.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Порівняння з існуючими DDA-системами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783133"/>
              </p:ext>
            </p:extLst>
          </p:nvPr>
        </p:nvGraphicFramePr>
        <p:xfrm>
          <a:off x="320040" y="713232"/>
          <a:ext cx="8600439" cy="4373891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72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1520">
                  <a:extLst>
                    <a:ext uri="{9D8B030D-6E8A-4147-A177-3AD203B41FA5}">
                      <a16:colId xmlns:a16="http://schemas.microsoft.com/office/drawing/2014/main" val="95431543"/>
                    </a:ext>
                  </a:extLst>
                </a:gridCol>
                <a:gridCol w="145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9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8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Критерій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D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Resident Evil 4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D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Left 4 Dead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D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Crash Bandicoot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D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Ця робота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Алгоритм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400" dirty="0">
                          <a:solidFill>
                            <a:schemeClr val="tx1"/>
                          </a:solidFill>
                        </a:rPr>
                        <a:t>Евристика (лічильник)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400" dirty="0">
                          <a:solidFill>
                            <a:schemeClr val="tx1"/>
                          </a:solidFill>
                        </a:rPr>
                        <a:t>Евристика (правила)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Лічильник смертей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8A7A"/>
                          </a:solidFill>
                        </a:rPr>
                        <a:t>Hybrid: Heuristic+RF+MLP+RL</a:t>
                      </a:r>
                      <a:endParaRPr lang="en-US" sz="1400" dirty="0">
                        <a:solidFill>
                          <a:srgbClr val="0E8A7A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06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Метрики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400" dirty="0"/>
                        <a:t>Бойовий рейтинг (точність, здоров'я)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400" noProof="0" dirty="0"/>
                        <a:t>Емоційна інтенсивність (здоров'я, стрес, темп)</a:t>
                      </a:r>
                      <a:endParaRPr lang="uk-UA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(</a:t>
                      </a:r>
                      <a:r>
                        <a:rPr lang="uk-UA" sz="1400" dirty="0">
                          <a:solidFill>
                            <a:schemeClr val="tx1"/>
                          </a:solidFill>
                        </a:rPr>
                        <a:t>Смерті підряд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8A7A"/>
                          </a:solidFill>
                        </a:rPr>
                        <a:t>8 поведінкових метрик</a:t>
                      </a:r>
                      <a:endParaRPr lang="en-US" sz="1400" dirty="0">
                        <a:solidFill>
                          <a:srgbClr val="0E8A7A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ML / RL компонент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Ні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400" dirty="0">
                          <a:solidFill>
                            <a:schemeClr val="tx1"/>
                          </a:solidFill>
                        </a:rPr>
                        <a:t>Ні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Ні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8A7A"/>
                          </a:solidFill>
                        </a:rPr>
                        <a:t>Так (RF, MLP, PPO RL)</a:t>
                      </a:r>
                      <a:endParaRPr lang="en-US" sz="1400" dirty="0">
                        <a:solidFill>
                          <a:srgbClr val="0E8A7A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95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Просторовий аналіз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Ні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400" noProof="0" dirty="0"/>
                        <a:t>Так (навігаційні зони та аналіз лінії зору)</a:t>
                      </a:r>
                      <a:endParaRPr lang="uk-UA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Ні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400" b="1" dirty="0">
                          <a:solidFill>
                            <a:srgbClr val="0E8A7A"/>
                          </a:solidFill>
                        </a:rPr>
                        <a:t>Так (</a:t>
                      </a:r>
                      <a:r>
                        <a:rPr lang="uk-UA" sz="1400" b="1" noProof="0" dirty="0">
                          <a:solidFill>
                            <a:srgbClr val="0E8A7A"/>
                          </a:solidFill>
                        </a:rPr>
                        <a:t>Кластеризація</a:t>
                      </a:r>
                      <a:r>
                        <a:rPr lang="en-US" sz="1400" b="1" dirty="0">
                          <a:solidFill>
                            <a:srgbClr val="0E8A7A"/>
                          </a:solidFill>
                        </a:rPr>
                        <a:t> + Last Safe Pos</a:t>
                      </a:r>
                      <a:r>
                        <a:rPr lang="uk-UA" sz="1400" b="1" dirty="0">
                          <a:solidFill>
                            <a:srgbClr val="0E8A7A"/>
                          </a:solidFill>
                        </a:rPr>
                        <a:t>)</a:t>
                      </a:r>
                      <a:endParaRPr lang="en-US" sz="1400" dirty="0">
                        <a:solidFill>
                          <a:srgbClr val="0E8A7A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906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Непомітність змін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Частково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400" noProof="0" dirty="0"/>
                        <a:t>Так (</a:t>
                      </a:r>
                      <a:r>
                        <a:rPr lang="uk-UA" sz="1400" noProof="0" dirty="0" err="1"/>
                        <a:t>спавн</a:t>
                      </a:r>
                      <a:r>
                        <a:rPr lang="uk-UA" sz="1400" noProof="0" dirty="0"/>
                        <a:t> ворогів поза зоною видимості)</a:t>
                      </a:r>
                      <a:endParaRPr lang="uk-UA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400" noProof="0" dirty="0"/>
                        <a:t>Ні (явна контрольної точки)</a:t>
                      </a:r>
                      <a:endParaRPr lang="uk-UA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400" b="1" dirty="0">
                          <a:solidFill>
                            <a:srgbClr val="0E8A7A"/>
                          </a:solidFill>
                        </a:rPr>
                        <a:t>Так </a:t>
                      </a:r>
                      <a:r>
                        <a:rPr lang="en-US" sz="1400" b="1" dirty="0">
                          <a:solidFill>
                            <a:srgbClr val="0E8A7A"/>
                          </a:solidFill>
                        </a:rPr>
                        <a:t>(</a:t>
                      </a:r>
                      <a:r>
                        <a:rPr lang="uk-UA" sz="1400" b="1" dirty="0">
                          <a:solidFill>
                            <a:srgbClr val="0E8A7A"/>
                          </a:solidFill>
                        </a:rPr>
                        <a:t>під час затемнення екрану</a:t>
                      </a:r>
                      <a:r>
                        <a:rPr lang="en-US" sz="1400" b="1" dirty="0">
                          <a:solidFill>
                            <a:srgbClr val="0E8A7A"/>
                          </a:solidFill>
                        </a:rPr>
                        <a:t>)</a:t>
                      </a:r>
                      <a:endParaRPr lang="en-US" sz="1400" dirty="0">
                        <a:solidFill>
                          <a:srgbClr val="0E8A7A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8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Відкрите порівняння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Ні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Ні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8A7A"/>
                          </a:solidFill>
                        </a:rPr>
                        <a:t>Так (A/B, 4 групи, 5 метрик)</a:t>
                      </a:r>
                      <a:endParaRPr lang="en-US" sz="1400" dirty="0">
                        <a:solidFill>
                          <a:srgbClr val="0E8A7A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AF2FA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ВИСНОВКИ</a:t>
            </a:r>
            <a:endParaRPr lang="en-US" sz="30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4F25E97-92B1-C080-1D9D-1EEE1EB13302}"/>
              </a:ext>
            </a:extLst>
          </p:cNvPr>
          <p:cNvGrpSpPr/>
          <p:nvPr/>
        </p:nvGrpSpPr>
        <p:grpSpPr>
          <a:xfrm>
            <a:off x="457200" y="1103890"/>
            <a:ext cx="411480" cy="411480"/>
            <a:chOff x="581660" y="1069848"/>
            <a:chExt cx="411480" cy="411480"/>
          </a:xfrm>
        </p:grpSpPr>
        <p:sp>
          <p:nvSpPr>
            <p:cNvPr id="4" name="Shape 2"/>
            <p:cNvSpPr/>
            <p:nvPr/>
          </p:nvSpPr>
          <p:spPr>
            <a:xfrm>
              <a:off x="581660" y="1069848"/>
              <a:ext cx="411480" cy="411480"/>
            </a:xfrm>
            <a:prstGeom prst="ellipse">
              <a:avLst/>
            </a:prstGeom>
            <a:solidFill>
              <a:srgbClr val="0E8A7A">
                <a:alpha val="20000"/>
              </a:srgbClr>
            </a:solidFill>
            <a:ln w="12700">
              <a:noFill/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581660" y="1069848"/>
              <a:ext cx="4114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1600" dirty="0"/>
            </a:p>
          </p:txBody>
        </p:sp>
      </p:grpSp>
      <p:sp>
        <p:nvSpPr>
          <p:cNvPr id="7" name="Text 5"/>
          <p:cNvSpPr/>
          <p:nvPr/>
        </p:nvSpPr>
        <p:spPr>
          <a:xfrm>
            <a:off x="1049020" y="1090172"/>
            <a:ext cx="67945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400" dirty="0"/>
              <a:t>Проведено аналіз предметної області </a:t>
            </a:r>
            <a:r>
              <a:rPr lang="en-US" sz="1400" dirty="0"/>
              <a:t>DDA. </a:t>
            </a:r>
            <a:r>
              <a:rPr lang="uk-UA" sz="1400" dirty="0"/>
              <a:t>Розглянуто комерційні реалізації систем складності і встановлено їхні обмеження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71744AA-546E-663A-B033-CDB9424B7C4E}"/>
              </a:ext>
            </a:extLst>
          </p:cNvPr>
          <p:cNvGrpSpPr/>
          <p:nvPr/>
        </p:nvGrpSpPr>
        <p:grpSpPr>
          <a:xfrm>
            <a:off x="457200" y="1771402"/>
            <a:ext cx="411480" cy="411480"/>
            <a:chOff x="581660" y="1737360"/>
            <a:chExt cx="411480" cy="411480"/>
          </a:xfrm>
        </p:grpSpPr>
        <p:sp>
          <p:nvSpPr>
            <p:cNvPr id="8" name="Shape 6"/>
            <p:cNvSpPr/>
            <p:nvPr/>
          </p:nvSpPr>
          <p:spPr>
            <a:xfrm>
              <a:off x="581660" y="1737360"/>
              <a:ext cx="411480" cy="411480"/>
            </a:xfrm>
            <a:prstGeom prst="ellipse">
              <a:avLst/>
            </a:prstGeom>
            <a:solidFill>
              <a:srgbClr val="0E8A7A">
                <a:alpha val="20000"/>
              </a:srgbClr>
            </a:solidFill>
            <a:ln w="12700">
              <a:noFill/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581660" y="1737360"/>
              <a:ext cx="4114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600" dirty="0"/>
            </a:p>
          </p:txBody>
        </p:sp>
      </p:grpSp>
      <p:sp>
        <p:nvSpPr>
          <p:cNvPr id="11" name="Text 9"/>
          <p:cNvSpPr/>
          <p:nvPr/>
        </p:nvSpPr>
        <p:spPr>
          <a:xfrm>
            <a:off x="1049020" y="1678437"/>
            <a:ext cx="6794500" cy="597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Розроблено підсистему неперервного збору телеметрії. Визначено та формалізовано вектор із восьми поведінкових метрик.</a:t>
            </a:r>
            <a:endParaRPr lang="uk-UA" sz="14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68D4DC4-408C-B54F-1A87-2ED69F7612F9}"/>
              </a:ext>
            </a:extLst>
          </p:cNvPr>
          <p:cNvGrpSpPr/>
          <p:nvPr/>
        </p:nvGrpSpPr>
        <p:grpSpPr>
          <a:xfrm>
            <a:off x="457200" y="2438914"/>
            <a:ext cx="411480" cy="411480"/>
            <a:chOff x="320040" y="2404872"/>
            <a:chExt cx="411480" cy="411480"/>
          </a:xfrm>
        </p:grpSpPr>
        <p:sp>
          <p:nvSpPr>
            <p:cNvPr id="12" name="Shape 10"/>
            <p:cNvSpPr/>
            <p:nvPr/>
          </p:nvSpPr>
          <p:spPr>
            <a:xfrm>
              <a:off x="320040" y="2404872"/>
              <a:ext cx="411480" cy="411480"/>
            </a:xfrm>
            <a:prstGeom prst="ellipse">
              <a:avLst/>
            </a:prstGeom>
            <a:solidFill>
              <a:srgbClr val="0E8A7A">
                <a:alpha val="20000"/>
              </a:srgbClr>
            </a:solidFill>
            <a:ln w="12700">
              <a:noFill/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320040" y="2404872"/>
              <a:ext cx="4114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600" dirty="0"/>
            </a:p>
          </p:txBody>
        </p:sp>
      </p:grpSp>
      <p:sp>
        <p:nvSpPr>
          <p:cNvPr id="15" name="Text 13"/>
          <p:cNvSpPr/>
          <p:nvPr/>
        </p:nvSpPr>
        <p:spPr>
          <a:xfrm>
            <a:off x="1049020" y="4336038"/>
            <a:ext cx="6794500" cy="611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Проведено комплексне 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A/B-</a:t>
            </a:r>
            <a:r>
              <a:rPr lang="uk-UA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тестування чотирьох розроблених варіантів 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DDA </a:t>
            </a:r>
            <a:r>
              <a:rPr lang="uk-UA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на малій фокус-групі з 8 учасників. Хоча обмежений обсяг вибірки не дозволяє робити висновки про високу статистичну значущість, результати виявили позитивні тенденції.</a:t>
            </a:r>
            <a:endParaRPr lang="uk-UA" sz="1400" dirty="0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6BD00B56-0D9C-22AC-D2B2-0925ABB680F8}"/>
              </a:ext>
            </a:extLst>
          </p:cNvPr>
          <p:cNvSpPr/>
          <p:nvPr/>
        </p:nvSpPr>
        <p:spPr>
          <a:xfrm>
            <a:off x="1049020" y="2315849"/>
            <a:ext cx="6794500" cy="552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Реалізовано евристичну DDA-систему на основі просторової кластеризації смертей із урахуванням останньої безпечної позиції гравця </a:t>
            </a:r>
            <a:endParaRPr lang="uk-UA" sz="1400" dirty="0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C709A2A4-D1F1-D46A-8252-4FC2F76A763B}"/>
              </a:ext>
            </a:extLst>
          </p:cNvPr>
          <p:cNvSpPr/>
          <p:nvPr/>
        </p:nvSpPr>
        <p:spPr>
          <a:xfrm>
            <a:off x="1049020" y="3012186"/>
            <a:ext cx="6794500" cy="611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Побудовано наскрізний 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ML-</a:t>
            </a:r>
            <a:r>
              <a:rPr lang="uk-UA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конвеєр. На базі 323 навчальних прикладів, зібраних за принципом «людина-в-контурі» (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Human-in-the-Loop), </a:t>
            </a:r>
            <a:r>
              <a:rPr lang="uk-UA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навчено регресійні моделі 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(R</a:t>
            </a:r>
            <a:r>
              <a:rPr lang="en-US" sz="1400" baseline="30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= 0.77) </a:t>
            </a:r>
            <a:r>
              <a:rPr lang="uk-UA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та багатошаровий перцептрон 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MLP (R</a:t>
            </a:r>
            <a:r>
              <a:rPr lang="en-US" sz="1400" baseline="30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= 0.73).</a:t>
            </a:r>
            <a:endParaRPr lang="uk-UA" sz="1400" dirty="0"/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7E833D54-C0DF-36FC-1B72-8177E1E2D31D}"/>
              </a:ext>
            </a:extLst>
          </p:cNvPr>
          <p:cNvSpPr/>
          <p:nvPr/>
        </p:nvSpPr>
        <p:spPr>
          <a:xfrm>
            <a:off x="1049020" y="3703453"/>
            <a:ext cx="6794500" cy="552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Спроєктовано і реалізовано систему на базі навчання з підкріпленням (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RL) </a:t>
            </a:r>
            <a:r>
              <a:rPr lang="uk-UA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із двома агентами в межах архітектури, натхненної підходами 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Self-Play. </a:t>
            </a:r>
            <a:endParaRPr lang="uk-UA" sz="14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3C8524C-384C-AB25-68AB-7BADE1688F86}"/>
              </a:ext>
            </a:extLst>
          </p:cNvPr>
          <p:cNvGrpSpPr/>
          <p:nvPr/>
        </p:nvGrpSpPr>
        <p:grpSpPr>
          <a:xfrm>
            <a:off x="457200" y="3106426"/>
            <a:ext cx="411480" cy="411480"/>
            <a:chOff x="320040" y="2404872"/>
            <a:chExt cx="411480" cy="411480"/>
          </a:xfrm>
        </p:grpSpPr>
        <p:sp>
          <p:nvSpPr>
            <p:cNvPr id="37" name="Shape 10">
              <a:extLst>
                <a:ext uri="{FF2B5EF4-FFF2-40B4-BE49-F238E27FC236}">
                  <a16:creationId xmlns:a16="http://schemas.microsoft.com/office/drawing/2014/main" id="{79DCA656-D3D1-7A55-45F9-7318E6F9F9CE}"/>
                </a:ext>
              </a:extLst>
            </p:cNvPr>
            <p:cNvSpPr/>
            <p:nvPr/>
          </p:nvSpPr>
          <p:spPr>
            <a:xfrm>
              <a:off x="320040" y="2404872"/>
              <a:ext cx="411480" cy="411480"/>
            </a:xfrm>
            <a:prstGeom prst="ellipse">
              <a:avLst/>
            </a:prstGeom>
            <a:solidFill>
              <a:srgbClr val="0E8A7A">
                <a:alpha val="20000"/>
              </a:srgbClr>
            </a:solidFill>
            <a:ln w="12700">
              <a:noFill/>
              <a:prstDash val="solid"/>
            </a:ln>
          </p:spPr>
        </p:sp>
        <p:sp>
          <p:nvSpPr>
            <p:cNvPr id="38" name="Text 11">
              <a:extLst>
                <a:ext uri="{FF2B5EF4-FFF2-40B4-BE49-F238E27FC236}">
                  <a16:creationId xmlns:a16="http://schemas.microsoft.com/office/drawing/2014/main" id="{48D5098A-672A-12AB-C4A9-E3124792884C}"/>
                </a:ext>
              </a:extLst>
            </p:cNvPr>
            <p:cNvSpPr/>
            <p:nvPr/>
          </p:nvSpPr>
          <p:spPr>
            <a:xfrm>
              <a:off x="320040" y="2404872"/>
              <a:ext cx="4114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uk-UA" sz="16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60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95D3C65-6A09-1361-E4B7-3A325FFA382B}"/>
              </a:ext>
            </a:extLst>
          </p:cNvPr>
          <p:cNvGrpSpPr/>
          <p:nvPr/>
        </p:nvGrpSpPr>
        <p:grpSpPr>
          <a:xfrm>
            <a:off x="457200" y="3773938"/>
            <a:ext cx="411480" cy="411480"/>
            <a:chOff x="320040" y="2404872"/>
            <a:chExt cx="411480" cy="411480"/>
          </a:xfrm>
        </p:grpSpPr>
        <p:sp>
          <p:nvSpPr>
            <p:cNvPr id="40" name="Shape 10">
              <a:extLst>
                <a:ext uri="{FF2B5EF4-FFF2-40B4-BE49-F238E27FC236}">
                  <a16:creationId xmlns:a16="http://schemas.microsoft.com/office/drawing/2014/main" id="{905C034C-50D6-D861-EF39-244F37B615F9}"/>
                </a:ext>
              </a:extLst>
            </p:cNvPr>
            <p:cNvSpPr/>
            <p:nvPr/>
          </p:nvSpPr>
          <p:spPr>
            <a:xfrm>
              <a:off x="320040" y="2404872"/>
              <a:ext cx="411480" cy="411480"/>
            </a:xfrm>
            <a:prstGeom prst="ellipse">
              <a:avLst/>
            </a:prstGeom>
            <a:solidFill>
              <a:srgbClr val="0E8A7A">
                <a:alpha val="20000"/>
              </a:srgbClr>
            </a:solidFill>
            <a:ln w="12700">
              <a:noFill/>
              <a:prstDash val="solid"/>
            </a:ln>
          </p:spPr>
        </p:sp>
        <p:sp>
          <p:nvSpPr>
            <p:cNvPr id="41" name="Text 11">
              <a:extLst>
                <a:ext uri="{FF2B5EF4-FFF2-40B4-BE49-F238E27FC236}">
                  <a16:creationId xmlns:a16="http://schemas.microsoft.com/office/drawing/2014/main" id="{E128CEC4-AEF2-5D73-C2F7-1DD076FF16B3}"/>
                </a:ext>
              </a:extLst>
            </p:cNvPr>
            <p:cNvSpPr/>
            <p:nvPr/>
          </p:nvSpPr>
          <p:spPr>
            <a:xfrm>
              <a:off x="320040" y="2404872"/>
              <a:ext cx="4114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uk-UA" sz="16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</a:t>
              </a:r>
              <a:endParaRPr lang="en-US" sz="1600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9876BB0-3447-EC44-6790-E1D5F39A6A49}"/>
              </a:ext>
            </a:extLst>
          </p:cNvPr>
          <p:cNvGrpSpPr/>
          <p:nvPr/>
        </p:nvGrpSpPr>
        <p:grpSpPr>
          <a:xfrm>
            <a:off x="457200" y="4441450"/>
            <a:ext cx="411480" cy="411480"/>
            <a:chOff x="320040" y="2404872"/>
            <a:chExt cx="411480" cy="411480"/>
          </a:xfrm>
        </p:grpSpPr>
        <p:sp>
          <p:nvSpPr>
            <p:cNvPr id="43" name="Shape 10">
              <a:extLst>
                <a:ext uri="{FF2B5EF4-FFF2-40B4-BE49-F238E27FC236}">
                  <a16:creationId xmlns:a16="http://schemas.microsoft.com/office/drawing/2014/main" id="{180505F6-AC43-D6F9-5C35-C2406CA4D0B3}"/>
                </a:ext>
              </a:extLst>
            </p:cNvPr>
            <p:cNvSpPr/>
            <p:nvPr/>
          </p:nvSpPr>
          <p:spPr>
            <a:xfrm>
              <a:off x="320040" y="2404872"/>
              <a:ext cx="411480" cy="411480"/>
            </a:xfrm>
            <a:prstGeom prst="ellipse">
              <a:avLst/>
            </a:prstGeom>
            <a:solidFill>
              <a:srgbClr val="0E8A7A">
                <a:alpha val="20000"/>
              </a:srgbClr>
            </a:solidFill>
            <a:ln w="12700">
              <a:noFill/>
              <a:prstDash val="solid"/>
            </a:ln>
          </p:spPr>
        </p:sp>
        <p:sp>
          <p:nvSpPr>
            <p:cNvPr id="44" name="Text 11">
              <a:extLst>
                <a:ext uri="{FF2B5EF4-FFF2-40B4-BE49-F238E27FC236}">
                  <a16:creationId xmlns:a16="http://schemas.microsoft.com/office/drawing/2014/main" id="{4234DB66-E9F0-1B78-7081-4A69AE88B0F7}"/>
                </a:ext>
              </a:extLst>
            </p:cNvPr>
            <p:cNvSpPr/>
            <p:nvPr/>
          </p:nvSpPr>
          <p:spPr>
            <a:xfrm>
              <a:off x="320040" y="2404872"/>
              <a:ext cx="4114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uk-UA" sz="16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</a:t>
              </a:r>
              <a:endParaRPr lang="en-US" sz="1600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914400"/>
            <a:ext cx="4297680" cy="4297680"/>
          </a:xfrm>
          <a:prstGeom prst="ellipse">
            <a:avLst/>
          </a:prstGeom>
          <a:solidFill>
            <a:srgbClr val="DEEBF7"/>
          </a:solidFill>
          <a:ln w="12700">
            <a:noFill/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BBD6EF"/>
          </a:solidFill>
          <a:ln w="12700">
            <a:noFill/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554480"/>
            <a:ext cx="3931920" cy="64008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66928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Дякую за увагу!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Верещак Богдан Олегович, гр. ПП-44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Науковий керівник: </a:t>
            </a:r>
            <a:r>
              <a:rPr lang="uk-UA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к. т. н.,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асист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 каф. САП Патерега Юрій Ігорович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186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Національний університет «Львівська політехніка» - кафедра САП - 2026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023360"/>
            <a:ext cx="1828800" cy="914400"/>
          </a:xfrm>
          <a:prstGeom prst="rect">
            <a:avLst/>
          </a:prstGeom>
          <a:solidFill>
            <a:srgbClr val="EAF2FA"/>
          </a:solidFill>
          <a:ln w="12700">
            <a:noFill/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0507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uk-UA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з RL Director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4023360"/>
            <a:ext cx="1828800" cy="914400"/>
          </a:xfrm>
          <a:prstGeom prst="rect">
            <a:avLst/>
          </a:prstGeom>
          <a:solidFill>
            <a:srgbClr val="EAF2FA"/>
          </a:solidFill>
          <a:ln w="12700">
            <a:noFill/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40507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2600" b="1" dirty="0"/>
              <a:t>+5.6 хв</a:t>
            </a:r>
            <a:endParaRPr lang="en-US" sz="2600" b="1" dirty="0"/>
          </a:p>
        </p:txBody>
      </p:sp>
      <p:sp>
        <p:nvSpPr>
          <p:cNvPr id="14" name="Text 12"/>
          <p:cNvSpPr/>
          <p:nvPr/>
        </p:nvSpPr>
        <p:spPr>
          <a:xfrm>
            <a:off x="2560320" y="44805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До загального часу сесії з 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RL Director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4023360"/>
            <a:ext cx="1828800" cy="914400"/>
          </a:xfrm>
          <a:prstGeom prst="rect">
            <a:avLst/>
          </a:prstGeom>
          <a:solidFill>
            <a:srgbClr val="EAF2FA"/>
          </a:solidFill>
          <a:ln w="12700">
            <a:noFill/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40507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>
              <a:solidFill>
                <a:srgbClr val="EAF2FA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663440" y="44805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підходи DDA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порівняно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4023360"/>
            <a:ext cx="1828800" cy="914400"/>
          </a:xfrm>
          <a:prstGeom prst="rect">
            <a:avLst/>
          </a:prstGeom>
          <a:solidFill>
            <a:srgbClr val="EAF2FA"/>
          </a:solidFill>
          <a:ln w="12700">
            <a:noFill/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40507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766560" y="44805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наукових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1271</Words>
  <Application>Microsoft Office PowerPoint</Application>
  <PresentationFormat>On-screen Show (16:9)</PresentationFormat>
  <Paragraphs>264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Розроблення системи динамічної адаптації складності рівнів у ігровому середовищі</dc:title>
  <dc:subject>PptxGenJS Presentation</dc:subject>
  <dc:creator>Верещак Богдан Олегович</dc:creator>
  <cp:lastModifiedBy>Богдан Верещак</cp:lastModifiedBy>
  <cp:revision>3</cp:revision>
  <dcterms:created xsi:type="dcterms:W3CDTF">2026-05-25T19:37:26Z</dcterms:created>
  <dcterms:modified xsi:type="dcterms:W3CDTF">2026-06-11T13:12:31Z</dcterms:modified>
</cp:coreProperties>
</file>
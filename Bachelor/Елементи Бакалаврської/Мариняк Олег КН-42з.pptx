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5" r:id="rId13"/>
    <p:sldId id="264" r:id="rId1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 smtClean="0"/>
              <a:t>Клацніть, щоб редагувати стиль зразка підзаголовка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3157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854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060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420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56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511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378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4162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096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941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8254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98CD5-F640-4228-951F-26D9E350341C}" type="datetimeFigureOut">
              <a:rPr lang="uk-UA" smtClean="0"/>
              <a:t>27.06.2023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DB080-70D0-47A7-A72A-2F2785946D1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62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7505" y="1908780"/>
            <a:ext cx="11198941" cy="2387600"/>
          </a:xfrm>
        </p:spPr>
        <p:txBody>
          <a:bodyPr>
            <a:no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Бакалаврська кваліфікаційна робота на тему: </a:t>
            </a:r>
            <a:r>
              <a:rPr lang="uk-UA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Розроблення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проведення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індивідуальних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курсів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uk-UA" sz="4000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168637" y="5150619"/>
            <a:ext cx="3500283" cy="1530400"/>
          </a:xfrm>
        </p:spPr>
        <p:txBody>
          <a:bodyPr/>
          <a:lstStyle/>
          <a:p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</a:t>
            </a:r>
          </a:p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тудент групи КН-42з</a:t>
            </a:r>
          </a:p>
          <a:p>
            <a:r>
              <a:rPr lang="uk-UA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Мариняк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Олег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413" y="134564"/>
            <a:ext cx="1939124" cy="1839954"/>
          </a:xfrm>
          <a:prstGeom prst="rect">
            <a:avLst/>
          </a:prstGeom>
        </p:spPr>
      </p:pic>
      <p:sp>
        <p:nvSpPr>
          <p:cNvPr id="5" name="Підзаголовок 2"/>
          <p:cNvSpPr txBox="1">
            <a:spLocks/>
          </p:cNvSpPr>
          <p:nvPr/>
        </p:nvSpPr>
        <p:spPr>
          <a:xfrm>
            <a:off x="7409306" y="5150619"/>
            <a:ext cx="4187140" cy="153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</a:p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систент каф. САП</a:t>
            </a:r>
          </a:p>
          <a:p>
            <a:r>
              <a:rPr lang="uk-UA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Іванина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Василь Васильович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826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Цель PNG Photo | PNG Ar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252" y="3688365"/>
            <a:ext cx="3722534" cy="307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кутник 3"/>
          <p:cNvSpPr/>
          <p:nvPr/>
        </p:nvSpPr>
        <p:spPr>
          <a:xfrm>
            <a:off x="1410929" y="2027981"/>
            <a:ext cx="9370142" cy="207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uk-UA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Створення </a:t>
            </a:r>
            <a:r>
              <a:rPr lang="uk-UA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функціональності, що забезпечує зручний доступ до навчальних матеріалів, ефективну взаємодію викладачів та студентів, а також організацію навчального процесу в онлайн-режимі.</a:t>
            </a:r>
            <a:endParaRPr lang="uk-UA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03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5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endParaRPr lang="uk-UA" sz="5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Місце для вмісту 3"/>
          <p:cNvSpPr>
            <a:spLocks noGrp="1"/>
          </p:cNvSpPr>
          <p:nvPr>
            <p:ph idx="1"/>
          </p:nvPr>
        </p:nvSpPr>
        <p:spPr>
          <a:xfrm>
            <a:off x="1605116" y="2051767"/>
            <a:ext cx="8708923" cy="1723820"/>
          </a:xfrm>
        </p:spPr>
        <p:txBody>
          <a:bodyPr/>
          <a:lstStyle/>
          <a:p>
            <a:pPr marL="0" indent="0" algn="just">
              <a:buNone/>
            </a:pPr>
            <a:r>
              <a:rPr lang="uk-UA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Існує </a:t>
            </a:r>
            <a:r>
              <a:rPr lang="uk-UA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потреба в розробці власної інформаційної системи, яка б відповідала специфіці освітнього </a:t>
            </a:r>
            <a:r>
              <a:rPr lang="uk-UA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 </a:t>
            </a:r>
            <a:r>
              <a:rPr lang="uk-UA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 задовольняла потреби конкретного навчального закладу.</a:t>
            </a:r>
          </a:p>
        </p:txBody>
      </p:sp>
      <p:pic>
        <p:nvPicPr>
          <p:cNvPr id="1028" name="Picture 4" descr="▷ Дипломні роботи на замовлення в Києві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5973" y="3652041"/>
            <a:ext cx="3519949" cy="306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02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49908" y="133253"/>
            <a:ext cx="7245671" cy="1253095"/>
          </a:xfrm>
        </p:spPr>
        <p:txBody>
          <a:bodyPr>
            <a:no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аналогів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File:MOOC - Massive Open Online Course logo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643" y="1918078"/>
            <a:ext cx="1779281" cy="52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oursera Logo and symbol, meaning, history, PNG, bran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88" b="30310"/>
          <a:stretch/>
        </p:blipFill>
        <p:spPr bwMode="auto">
          <a:xfrm>
            <a:off x="5510750" y="2593542"/>
            <a:ext cx="3078957" cy="68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earning management system Education, Lms, blue, text, trademark png |  PNGWi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858" l="0" r="100000">
                        <a14:foregroundMark x1="54565" y1="14164" x2="54565" y2="14164"/>
                        <a14:foregroundMark x1="24348" y1="54249" x2="24348" y2="54249"/>
                        <a14:foregroundMark x1="40978" y1="50142" x2="40978" y2="50142"/>
                        <a14:foregroundMark x1="75217" y1="61331" x2="75217" y2="613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271" y="4384129"/>
            <a:ext cx="2050436" cy="157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ile:Moodle-logo.svg - Wikimedia Common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770" y="4011856"/>
            <a:ext cx="2909980" cy="744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387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586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Методологія розробки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9" b="13719"/>
          <a:stretch/>
        </p:blipFill>
        <p:spPr>
          <a:xfrm>
            <a:off x="2455606" y="1462811"/>
            <a:ext cx="7280786" cy="539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4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586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Засоби програмної реалізації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865" y="1484210"/>
            <a:ext cx="6282198" cy="5025758"/>
          </a:xfrm>
          <a:prstGeom prst="rect">
            <a:avLst/>
          </a:prstGeom>
        </p:spPr>
      </p:pic>
      <p:sp>
        <p:nvSpPr>
          <p:cNvPr id="4" name="Прямокутник 3"/>
          <p:cNvSpPr/>
          <p:nvPr/>
        </p:nvSpPr>
        <p:spPr>
          <a:xfrm>
            <a:off x="7281466" y="6325302"/>
            <a:ext cx="4072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Архітектура інформаційної системи </a:t>
            </a:r>
            <a:endParaRPr lang="uk-UA" b="1" dirty="0"/>
          </a:p>
        </p:txBody>
      </p:sp>
      <p:grpSp>
        <p:nvGrpSpPr>
          <p:cNvPr id="8" name="Групувати 7"/>
          <p:cNvGrpSpPr/>
          <p:nvPr/>
        </p:nvGrpSpPr>
        <p:grpSpPr>
          <a:xfrm>
            <a:off x="661219" y="1705140"/>
            <a:ext cx="4982498" cy="4989494"/>
            <a:chOff x="661219" y="1705140"/>
            <a:chExt cx="4982498" cy="4989494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219" y="1705140"/>
              <a:ext cx="4982498" cy="4583898"/>
            </a:xfrm>
            <a:prstGeom prst="rect">
              <a:avLst/>
            </a:prstGeom>
          </p:spPr>
        </p:pic>
        <p:sp>
          <p:nvSpPr>
            <p:cNvPr id="7" name="Прямокутник 6"/>
            <p:cNvSpPr/>
            <p:nvPr/>
          </p:nvSpPr>
          <p:spPr>
            <a:xfrm>
              <a:off x="1560897" y="6325302"/>
              <a:ext cx="32174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uk-UA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Схема роботи </a:t>
              </a:r>
              <a:r>
                <a:rPr lang="en-US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MVC </a:t>
              </a:r>
              <a:r>
                <a:rPr lang="uk-UA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шаблону </a:t>
              </a:r>
              <a:endParaRPr lang="uk-UA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3593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257" y="70158"/>
            <a:ext cx="5493775" cy="180780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прецедентів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68" y="70158"/>
            <a:ext cx="8423330" cy="66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5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1095" y="0"/>
            <a:ext cx="6378678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роботи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3" y="1596067"/>
            <a:ext cx="4473678" cy="4240745"/>
          </a:xfrm>
          <a:prstGeom prst="rect">
            <a:avLst/>
          </a:prstGeom>
        </p:spPr>
      </p:pic>
      <p:sp>
        <p:nvSpPr>
          <p:cNvPr id="9" name="Прямокутник 8"/>
          <p:cNvSpPr/>
          <p:nvPr/>
        </p:nvSpPr>
        <p:spPr>
          <a:xfrm>
            <a:off x="1972553" y="5876483"/>
            <a:ext cx="247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Вікно реєстрації</a:t>
            </a:r>
            <a:endParaRPr lang="uk-UA" sz="2400" b="1" i="1" dirty="0"/>
          </a:p>
        </p:txBody>
      </p:sp>
      <p:sp>
        <p:nvSpPr>
          <p:cNvPr id="7" name="Прямокутник 6"/>
          <p:cNvSpPr/>
          <p:nvPr/>
        </p:nvSpPr>
        <p:spPr>
          <a:xfrm>
            <a:off x="7911238" y="5866651"/>
            <a:ext cx="26540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Вікно </a:t>
            </a:r>
            <a:r>
              <a:rPr lang="uk-UA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авторизації</a:t>
            </a:r>
            <a:endParaRPr lang="uk-UA" sz="2400" b="1" i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876" y="1597100"/>
            <a:ext cx="4519561" cy="42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3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1095" y="0"/>
            <a:ext cx="6378678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роботи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кутник 8"/>
          <p:cNvSpPr/>
          <p:nvPr/>
        </p:nvSpPr>
        <p:spPr>
          <a:xfrm>
            <a:off x="4181694" y="5974807"/>
            <a:ext cx="42020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Інтерфейс головної сторінки</a:t>
            </a:r>
            <a:endParaRPr lang="uk-UA" sz="2400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46" y="1217408"/>
            <a:ext cx="8249544" cy="45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4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1095" y="0"/>
            <a:ext cx="6378678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роботи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кутник 8"/>
          <p:cNvSpPr/>
          <p:nvPr/>
        </p:nvSpPr>
        <p:spPr>
          <a:xfrm>
            <a:off x="4729317" y="5976277"/>
            <a:ext cx="34213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Інтерфейс тесту уроку</a:t>
            </a:r>
            <a:endParaRPr lang="uk-UA" sz="2400" b="1" i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1" y="1259154"/>
            <a:ext cx="6637733" cy="446322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226" y="3697242"/>
            <a:ext cx="4924394" cy="194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79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1095" y="0"/>
            <a:ext cx="6378678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роботи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кутник 8"/>
          <p:cNvSpPr/>
          <p:nvPr/>
        </p:nvSpPr>
        <p:spPr>
          <a:xfrm>
            <a:off x="556356" y="3913240"/>
            <a:ext cx="49627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Можливість надати учню статус</a:t>
            </a:r>
            <a:endParaRPr lang="uk-UA" sz="2400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" y="1237074"/>
            <a:ext cx="6094240" cy="267616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806" y="3070047"/>
            <a:ext cx="5730517" cy="3521406"/>
          </a:xfrm>
          <a:prstGeom prst="rect">
            <a:avLst/>
          </a:prstGeom>
        </p:spPr>
      </p:pic>
      <p:sp>
        <p:nvSpPr>
          <p:cNvPr id="8" name="Прямокутник 7"/>
          <p:cNvSpPr/>
          <p:nvPr/>
        </p:nvSpPr>
        <p:spPr>
          <a:xfrm>
            <a:off x="6426893" y="2159658"/>
            <a:ext cx="55603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Можливість редагувати, додавати, видаляти урок</a:t>
            </a:r>
            <a:endParaRPr lang="uk-UA" sz="2400" b="1" i="1" dirty="0"/>
          </a:p>
        </p:txBody>
      </p:sp>
    </p:spTree>
    <p:extLst>
      <p:ext uri="{BB962C8B-B14F-4D97-AF65-F5344CB8AC3E}">
        <p14:creationId xmlns:p14="http://schemas.microsoft.com/office/powerpoint/2010/main" val="938733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1586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668593" y="1926045"/>
            <a:ext cx="111301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1270" indent="-342900">
              <a:lnSpc>
                <a:spcPct val="150000"/>
              </a:lnSpc>
              <a:spcAft>
                <a:spcPts val="0"/>
              </a:spcAft>
              <a:buClr>
                <a:srgbClr val="8940B2"/>
              </a:buClr>
              <a:buFont typeface="Wingdings" panose="05000000000000000000" pitchFamily="2" charset="2"/>
              <a:buChar char="Ø"/>
            </a:pP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Проведено </a:t>
            </a:r>
            <a:r>
              <a:rPr lang="uk-U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дослідження предметної області та аналіз існуючих </a:t>
            </a: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рішень</a:t>
            </a:r>
          </a:p>
          <a:p>
            <a:pPr marL="342900" marR="1270" indent="-342900">
              <a:lnSpc>
                <a:spcPct val="150000"/>
              </a:lnSpc>
              <a:spcAft>
                <a:spcPts val="0"/>
              </a:spcAft>
              <a:buClr>
                <a:srgbClr val="8940B2"/>
              </a:buClr>
              <a:buFont typeface="Wingdings" panose="05000000000000000000" pitchFamily="2" charset="2"/>
              <a:buChar char="Ø"/>
            </a:pP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Поставлено </a:t>
            </a:r>
            <a:r>
              <a:rPr lang="uk-U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завдання та сформовано основні вимоги до розроблюваної </a:t>
            </a: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системи.</a:t>
            </a:r>
          </a:p>
          <a:p>
            <a:pPr marL="342900" marR="1270" indent="-342900">
              <a:lnSpc>
                <a:spcPct val="150000"/>
              </a:lnSpc>
              <a:spcAft>
                <a:spcPts val="0"/>
              </a:spcAft>
              <a:buClr>
                <a:srgbClr val="8940B2"/>
              </a:buClr>
              <a:buFont typeface="Wingdings" panose="05000000000000000000" pitchFamily="2" charset="2"/>
              <a:buChar char="Ø"/>
            </a:pP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Обрано </a:t>
            </a:r>
            <a:r>
              <a:rPr lang="uk-U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методологію розробки та досліджено принцип її роботи. </a:t>
            </a:r>
          </a:p>
          <a:p>
            <a:pPr marL="342900" marR="1270" indent="-342900">
              <a:lnSpc>
                <a:spcPct val="150000"/>
              </a:lnSpc>
              <a:spcAft>
                <a:spcPts val="0"/>
              </a:spcAft>
              <a:buClr>
                <a:srgbClr val="8940B2"/>
              </a:buClr>
              <a:buFont typeface="Wingdings" panose="05000000000000000000" pitchFamily="2" charset="2"/>
              <a:buChar char="Ø"/>
            </a:pP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Вибрано </a:t>
            </a:r>
            <a:r>
              <a:rPr lang="uk-U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програмну </a:t>
            </a: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архітектуру</a:t>
            </a:r>
          </a:p>
          <a:p>
            <a:pPr marL="342900" marR="1270" indent="-342900">
              <a:lnSpc>
                <a:spcPct val="150000"/>
              </a:lnSpc>
              <a:spcAft>
                <a:spcPts val="0"/>
              </a:spcAft>
              <a:buClr>
                <a:srgbClr val="8940B2"/>
              </a:buClr>
              <a:buFont typeface="Wingdings" panose="05000000000000000000" pitchFamily="2" charset="2"/>
              <a:buChar char="Ø"/>
            </a:pPr>
            <a:r>
              <a:rPr lang="uk-UA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Спроєктовано</a:t>
            </a:r>
            <a:r>
              <a:rPr lang="uk-UA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 розроблено інформаційну систему для створення та проведення індивідуальних онлайн курсів.</a:t>
            </a:r>
          </a:p>
        </p:txBody>
      </p:sp>
    </p:spTree>
    <p:extLst>
      <p:ext uri="{BB962C8B-B14F-4D97-AF65-F5344CB8AC3E}">
        <p14:creationId xmlns:p14="http://schemas.microsoft.com/office/powerpoint/2010/main" val="279723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941" y="551938"/>
            <a:ext cx="4363065" cy="1325563"/>
          </a:xfrm>
          <a:effectLst>
            <a:outerShdw blurRad="63500" dist="63500" dir="5400000" algn="ctr" rotWithShape="0">
              <a:schemeClr val="tx1">
                <a:lumMod val="50000"/>
                <a:lumOff val="50000"/>
                <a:alpha val="68000"/>
              </a:scheme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uk-UA" sz="9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</a:t>
            </a:r>
            <a:endParaRPr lang="uk-UA" sz="9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5652562" y="2487251"/>
            <a:ext cx="1295547" cy="1569660"/>
          </a:xfrm>
          <a:prstGeom prst="rect">
            <a:avLst/>
          </a:prstGeom>
          <a:effectLst>
            <a:outerShdw blurRad="63500" dist="63500" dir="5400000" algn="ctr" rotWithShape="0">
              <a:schemeClr val="tx1">
                <a:lumMod val="50000"/>
                <a:lumOff val="50000"/>
                <a:alpha val="68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uk-UA" sz="9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endParaRPr lang="uk-UA" sz="9600" dirty="0"/>
          </a:p>
        </p:txBody>
      </p:sp>
      <p:sp>
        <p:nvSpPr>
          <p:cNvPr id="4" name="Прямокутник 3"/>
          <p:cNvSpPr/>
          <p:nvPr/>
        </p:nvSpPr>
        <p:spPr>
          <a:xfrm>
            <a:off x="8400989" y="4719174"/>
            <a:ext cx="3666388" cy="1569660"/>
          </a:xfrm>
          <a:prstGeom prst="rect">
            <a:avLst/>
          </a:prstGeom>
          <a:effectLst>
            <a:outerShdw blurRad="63500" dist="63500" dir="5400000" algn="ctr" rotWithShape="0">
              <a:schemeClr val="tx1">
                <a:lumMod val="50000"/>
                <a:lumOff val="50000"/>
                <a:alpha val="68000"/>
              </a:schemeClr>
            </a:outerShdw>
          </a:effectLst>
        </p:spPr>
        <p:txBody>
          <a:bodyPr wrap="none">
            <a:spAutoFit/>
          </a:bodyPr>
          <a:lstStyle/>
          <a:p>
            <a:r>
              <a:rPr lang="uk-UA" sz="9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увагу!</a:t>
            </a:r>
            <a:endParaRPr lang="uk-UA" sz="9600" dirty="0"/>
          </a:p>
        </p:txBody>
      </p:sp>
    </p:spTree>
    <p:extLst>
      <p:ext uri="{BB962C8B-B14F-4D97-AF65-F5344CB8AC3E}">
        <p14:creationId xmlns:p14="http://schemas.microsoft.com/office/powerpoint/2010/main" val="11307562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174</Words>
  <Application>Microsoft Office PowerPoint</Application>
  <PresentationFormat>Широкий екран</PresentationFormat>
  <Paragraphs>36</Paragraphs>
  <Slides>13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Тема Office</vt:lpstr>
      <vt:lpstr>Бакалаврська кваліфікаційна робота на тему: «Розроблення інформаційної системи для створення та проведення індивідуальних онлайн курсів»</vt:lpstr>
      <vt:lpstr>Мета роботи</vt:lpstr>
      <vt:lpstr>Актуальність</vt:lpstr>
      <vt:lpstr>Аналіз аналогів</vt:lpstr>
      <vt:lpstr>Методологія розробки</vt:lpstr>
      <vt:lpstr>Засоби програмної реалізації</vt:lpstr>
      <vt:lpstr>Діаграма прецедентів</vt:lpstr>
      <vt:lpstr>Результати роботи</vt:lpstr>
      <vt:lpstr>Результати роботи</vt:lpstr>
      <vt:lpstr>Результати роботи</vt:lpstr>
      <vt:lpstr>Результати роботи</vt:lpstr>
      <vt:lpstr>Висновки</vt:lpstr>
      <vt:lpstr>Дякую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Бакалаврська кваліфікаційна робота на тему: «Розроблення інформаційної системи для створення та проведення індивідуальних онлайн курсів»</dc:title>
  <dc:creator>Пользователь Windows</dc:creator>
  <cp:lastModifiedBy>Пользователь Windows</cp:lastModifiedBy>
  <cp:revision>13</cp:revision>
  <dcterms:created xsi:type="dcterms:W3CDTF">2023-06-27T13:37:44Z</dcterms:created>
  <dcterms:modified xsi:type="dcterms:W3CDTF">2023-06-27T20:42:47Z</dcterms:modified>
</cp:coreProperties>
</file>
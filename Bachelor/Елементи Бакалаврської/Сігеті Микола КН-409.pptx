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1" r:id="rId6"/>
    <p:sldId id="262" r:id="rId7"/>
    <p:sldId id="271" r:id="rId8"/>
    <p:sldId id="266" r:id="rId9"/>
    <p:sldId id="272" r:id="rId10"/>
    <p:sldId id="273" r:id="rId11"/>
    <p:sldId id="275" r:id="rId12"/>
    <p:sldId id="274" r:id="rId13"/>
    <p:sldId id="269" r:id="rId14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 smtClean="0"/>
              <a:t>Клацніть, щоб редагувати стиль зразка підзаголовка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2692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3573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84164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07411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521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76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002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259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1518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2060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99483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68C25-FF74-4721-99DC-9D48D6DB2A15}" type="datetimeFigureOut">
              <a:rPr lang="uk-UA" smtClean="0"/>
              <a:t>28.06.2023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68C30-677C-4488-B5DE-CBB0E24051C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685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7484" y="1889280"/>
            <a:ext cx="11897032" cy="2387600"/>
          </a:xfrm>
        </p:spPr>
        <p:txBody>
          <a:bodyPr>
            <a:noAutofit/>
          </a:bodyPr>
          <a:lstStyle/>
          <a:p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Бакалаврська кваліфікаційна робота на тему</a:t>
            </a:r>
            <a:r>
              <a:rPr lang="uk-UA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«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Моделювання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потоку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повітря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системах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відновлюваної</a:t>
            </a:r>
            <a:r>
              <a:rPr lang="ru-R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вітроенергії</a:t>
            </a:r>
            <a:r>
              <a:rPr lang="uk-UA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uk-UA" sz="4000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0" y="5366240"/>
            <a:ext cx="3332506" cy="139274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 </a:t>
            </a:r>
            <a:endParaRPr lang="uk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</a:t>
            </a: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групи </a:t>
            </a: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КН-409</a:t>
            </a:r>
            <a:endParaRPr lang="uk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uk-UA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Сігеті</a:t>
            </a: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Микола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506" y="96717"/>
            <a:ext cx="2274056" cy="2157757"/>
          </a:xfrm>
          <a:prstGeom prst="rect">
            <a:avLst/>
          </a:prstGeom>
        </p:spPr>
      </p:pic>
      <p:sp>
        <p:nvSpPr>
          <p:cNvPr id="5" name="Прямокутник 4"/>
          <p:cNvSpPr/>
          <p:nvPr/>
        </p:nvSpPr>
        <p:spPr>
          <a:xfrm>
            <a:off x="6853084" y="555865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</a:t>
            </a:r>
          </a:p>
          <a:p>
            <a:pPr algn="ctr"/>
            <a:r>
              <a:rPr lang="uk-UA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асистент каф. САП</a:t>
            </a:r>
          </a:p>
          <a:p>
            <a:pPr algn="ctr"/>
            <a:r>
              <a:rPr lang="uk-UA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Іванина</a:t>
            </a:r>
            <a:r>
              <a:rPr lang="uk-UA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Василь Васильович</a:t>
            </a:r>
            <a:endParaRPr lang="uk-UA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64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96001"/>
          </a:xfrm>
        </p:spPr>
        <p:txBody>
          <a:bodyPr/>
          <a:lstStyle/>
          <a:p>
            <a:pPr marL="0" indent="0"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 та аналіз моделі потоку флюїду, зокрема рідини, в системах відновлюваної вітроенергії з використанням середовища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COMSOL Multiphysics. 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20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розробки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Місце для вмісту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21686"/>
          </a:xfrm>
        </p:spPr>
        <p:txBody>
          <a:bodyPr/>
          <a:lstStyle/>
          <a:p>
            <a:pPr marL="0" indent="0"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дослідження можуть бути використані для покращення ефективності та стабільності систем вітроенергетики, сприяючи подальшому розвитку відновлюваної енергетики та зменшенню негативного впливу на довкілля.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24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848033" y="15864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Технологія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INVELOX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Місце для вмісту 4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4"/>
          <a:stretch/>
        </p:blipFill>
        <p:spPr>
          <a:xfrm>
            <a:off x="1741617" y="1862473"/>
            <a:ext cx="8728432" cy="4941209"/>
          </a:xfrm>
          <a:effectLst>
            <a:outerShdw blurRad="50800" dist="50800" dir="8820000" sx="1000" sy="1000" algn="ctr" rotWithShape="0">
              <a:schemeClr val="accent1">
                <a:lumMod val="20000"/>
                <a:lumOff val="8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286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Вибір програмного середовища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104524" y="1825624"/>
            <a:ext cx="10249276" cy="3687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COMSOL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Multiphysics -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 імітаційне середовище, розроблене з урахуванням реальних програм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Бібліотека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COMSOL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складається з різних типів матеріалів, таких як рідина та гази,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біотепло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нелінійне магнітне середовище тощо.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Comsol Multiphysics | گروه تخصصی نرم افزار JB-Tea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22" b="19464"/>
          <a:stretch/>
        </p:blipFill>
        <p:spPr bwMode="auto">
          <a:xfrm>
            <a:off x="3248139" y="3983209"/>
            <a:ext cx="8808059" cy="282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028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4002" y="78462"/>
            <a:ext cx="10515600" cy="107935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моделювання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круглений прямокутник 3"/>
          <p:cNvSpPr/>
          <p:nvPr/>
        </p:nvSpPr>
        <p:spPr>
          <a:xfrm>
            <a:off x="289710" y="172015"/>
            <a:ext cx="760492" cy="6790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8129"/>
          <a:stretch/>
        </p:blipFill>
        <p:spPr>
          <a:xfrm>
            <a:off x="289710" y="1251368"/>
            <a:ext cx="6664791" cy="2702718"/>
          </a:xfrm>
          <a:prstGeom prst="rect">
            <a:avLst/>
          </a:prstGeom>
        </p:spPr>
      </p:pic>
      <p:sp>
        <p:nvSpPr>
          <p:cNvPr id="6" name="Прямокутник 5"/>
          <p:cNvSpPr/>
          <p:nvPr/>
        </p:nvSpPr>
        <p:spPr>
          <a:xfrm>
            <a:off x="7364904" y="2144037"/>
            <a:ext cx="444418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000" b="1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Параметри вхідних швидкостей: </a:t>
            </a:r>
            <a:r>
              <a:rPr lang="en-US" sz="2000" b="1" i="1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U_wind</a:t>
            </a:r>
            <a:r>
              <a:rPr lang="en-US" sz="2000" b="1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= </a:t>
            </a:r>
            <a:r>
              <a:rPr lang="uk-UA" sz="2000" b="1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0,9,</a:t>
            </a:r>
            <a:r>
              <a:rPr lang="en-US" sz="2000" b="1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U_wind2 = 0,1</a:t>
            </a:r>
            <a:r>
              <a:rPr lang="uk-UA" sz="2000" b="1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uk-UA" sz="2000" b="1" i="1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11" y="4208206"/>
            <a:ext cx="6970388" cy="2649794"/>
          </a:xfrm>
          <a:prstGeom prst="rect">
            <a:avLst/>
          </a:prstGeom>
        </p:spPr>
      </p:pic>
      <p:sp>
        <p:nvSpPr>
          <p:cNvPr id="9" name="Прямокутник 8"/>
          <p:cNvSpPr/>
          <p:nvPr/>
        </p:nvSpPr>
        <p:spPr>
          <a:xfrm>
            <a:off x="7364904" y="5150096"/>
            <a:ext cx="33719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Залежність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числа </a:t>
            </a:r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Рейнольдса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від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швидкості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вітру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uk-UA" sz="2000" b="1" i="1" dirty="0"/>
          </a:p>
        </p:txBody>
      </p:sp>
    </p:spTree>
    <p:extLst>
      <p:ext uri="{BB962C8B-B14F-4D97-AF65-F5344CB8AC3E}">
        <p14:creationId xmlns:p14="http://schemas.microsoft.com/office/powerpoint/2010/main" val="152931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моделювання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круглений прямокутник 3"/>
          <p:cNvSpPr/>
          <p:nvPr/>
        </p:nvSpPr>
        <p:spPr>
          <a:xfrm>
            <a:off x="289710" y="172015"/>
            <a:ext cx="760492" cy="6790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кутник 6"/>
          <p:cNvSpPr/>
          <p:nvPr/>
        </p:nvSpPr>
        <p:spPr>
          <a:xfrm>
            <a:off x="1050202" y="5463838"/>
            <a:ext cx="69724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Розподіл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модуля </a:t>
            </a:r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швидкості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для параметра </a:t>
            </a:r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Repar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рівного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uk-UA" sz="2000" b="1" i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10" y="1616327"/>
            <a:ext cx="9124955" cy="367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74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838200" y="20573"/>
            <a:ext cx="10515600" cy="981894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моделювання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круглений прямокутник 6"/>
          <p:cNvSpPr/>
          <p:nvPr/>
        </p:nvSpPr>
        <p:spPr>
          <a:xfrm>
            <a:off x="289710" y="172015"/>
            <a:ext cx="760492" cy="6790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366" y="1296159"/>
            <a:ext cx="7669163" cy="2851328"/>
          </a:xfrm>
          <a:prstGeom prst="rect">
            <a:avLst/>
          </a:prstGeom>
        </p:spPr>
      </p:pic>
      <p:sp>
        <p:nvSpPr>
          <p:cNvPr id="9" name="Прямокутник 8"/>
          <p:cNvSpPr/>
          <p:nvPr/>
        </p:nvSpPr>
        <p:spPr>
          <a:xfrm>
            <a:off x="176981" y="2367880"/>
            <a:ext cx="41787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uk-UA" sz="20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Параметри вхідних швидкостей: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U_wind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 = </a:t>
            </a:r>
            <a:r>
              <a:rPr lang="uk-UA" sz="2000" b="1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0,1,</a:t>
            </a:r>
            <a:r>
              <a:rPr lang="en-US" sz="2000" b="1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U_wind2 = </a:t>
            </a:r>
            <a:r>
              <a:rPr lang="en-US" sz="2000" b="1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0,</a:t>
            </a:r>
            <a:r>
              <a:rPr lang="uk-UA" sz="2000" b="1" i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9 </a:t>
            </a:r>
            <a:endParaRPr lang="uk-UA" sz="2000" b="1" i="1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691" y="4230340"/>
            <a:ext cx="6754761" cy="2565120"/>
          </a:xfrm>
          <a:prstGeom prst="rect">
            <a:avLst/>
          </a:prstGeom>
        </p:spPr>
      </p:pic>
      <p:sp>
        <p:nvSpPr>
          <p:cNvPr id="11" name="Прямокутник 10"/>
          <p:cNvSpPr/>
          <p:nvPr/>
        </p:nvSpPr>
        <p:spPr>
          <a:xfrm>
            <a:off x="39327" y="4711376"/>
            <a:ext cx="42180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uk-UA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Залежність середньої швидкості вітру на виході від числа </a:t>
            </a:r>
            <a:r>
              <a:rPr lang="uk-UA" sz="20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Рейнольдса</a:t>
            </a:r>
            <a:r>
              <a:rPr lang="uk-UA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uk-UA" sz="2000" b="1" i="1" dirty="0"/>
          </a:p>
        </p:txBody>
      </p:sp>
    </p:spTree>
    <p:extLst>
      <p:ext uri="{BB962C8B-B14F-4D97-AF65-F5344CB8AC3E}">
        <p14:creationId xmlns:p14="http://schemas.microsoft.com/office/powerpoint/2010/main" val="89117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838198" y="50069"/>
            <a:ext cx="10515600" cy="922901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 моделювання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Округлений прямокутник 6"/>
          <p:cNvSpPr/>
          <p:nvPr/>
        </p:nvSpPr>
        <p:spPr>
          <a:xfrm>
            <a:off x="289710" y="172015"/>
            <a:ext cx="760492" cy="6790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uk-UA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кутник 8"/>
          <p:cNvSpPr/>
          <p:nvPr/>
        </p:nvSpPr>
        <p:spPr>
          <a:xfrm>
            <a:off x="7639665" y="2441940"/>
            <a:ext cx="42573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Параметри</a:t>
            </a:r>
            <a:r>
              <a:rPr lang="ru-RU" sz="20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000" b="1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вхідних</a:t>
            </a:r>
            <a:r>
              <a:rPr lang="ru-RU" sz="20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000" b="1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швидкостей</a:t>
            </a:r>
            <a:r>
              <a:rPr lang="ru-RU" sz="20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2000" b="1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U_wind</a:t>
            </a:r>
            <a:r>
              <a:rPr lang="en-US" sz="2000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=0,6, U_wind2=0,4</a:t>
            </a:r>
            <a:endParaRPr lang="uk-UA" sz="2000" b="1" i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l="2370" r="3545"/>
          <a:stretch/>
        </p:blipFill>
        <p:spPr>
          <a:xfrm>
            <a:off x="289710" y="1369941"/>
            <a:ext cx="7216877" cy="285188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10" y="4397325"/>
            <a:ext cx="6479720" cy="2460675"/>
          </a:xfrm>
          <a:prstGeom prst="rect">
            <a:avLst/>
          </a:prstGeom>
        </p:spPr>
      </p:pic>
      <p:sp>
        <p:nvSpPr>
          <p:cNvPr id="5" name="Прямокутник 4"/>
          <p:cNvSpPr/>
          <p:nvPr/>
        </p:nvSpPr>
        <p:spPr>
          <a:xfrm>
            <a:off x="7639665" y="5171968"/>
            <a:ext cx="44711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Залежність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середньої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швидкості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000" b="1" i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вітру</a:t>
            </a:r>
            <a:r>
              <a:rPr lang="ru-RU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на </a:t>
            </a:r>
            <a:r>
              <a:rPr lang="ru-RU" sz="20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вході</a:t>
            </a:r>
            <a:r>
              <a:rPr lang="ru-RU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000" b="1" i="1" dirty="0" err="1" smtClean="0">
                <a:solidFill>
                  <a:srgbClr val="000000"/>
                </a:solidFill>
                <a:latin typeface="Times New Roman" panose="02020603050405020304" pitchFamily="18" charset="0"/>
              </a:rPr>
              <a:t>моделі</a:t>
            </a:r>
            <a:endParaRPr lang="uk-UA" sz="2000" b="1" i="1" dirty="0"/>
          </a:p>
        </p:txBody>
      </p:sp>
    </p:spTree>
    <p:extLst>
      <p:ext uri="{BB962C8B-B14F-4D97-AF65-F5344CB8AC3E}">
        <p14:creationId xmlns:p14="http://schemas.microsoft.com/office/powerpoint/2010/main" val="223280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8365"/>
            <a:ext cx="10515600" cy="1060552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Часове дослідження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672" y="1208908"/>
            <a:ext cx="3762939" cy="262553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702" y="4073377"/>
            <a:ext cx="3882909" cy="262553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083" y="1128917"/>
            <a:ext cx="3987852" cy="262553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073377"/>
            <a:ext cx="3800320" cy="2625530"/>
          </a:xfrm>
          <a:prstGeom prst="rect">
            <a:avLst/>
          </a:prstGeom>
        </p:spPr>
      </p:pic>
      <p:sp>
        <p:nvSpPr>
          <p:cNvPr id="8" name="Прямокутник 7"/>
          <p:cNvSpPr/>
          <p:nvPr/>
        </p:nvSpPr>
        <p:spPr>
          <a:xfrm>
            <a:off x="840143" y="2383209"/>
            <a:ext cx="6832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2,5 </a:t>
            </a:r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с</a:t>
            </a:r>
            <a:endParaRPr lang="uk-UA" sz="2000" b="1" dirty="0"/>
          </a:p>
        </p:txBody>
      </p:sp>
      <p:sp>
        <p:nvSpPr>
          <p:cNvPr id="9" name="Прямокутник 8"/>
          <p:cNvSpPr/>
          <p:nvPr/>
        </p:nvSpPr>
        <p:spPr>
          <a:xfrm>
            <a:off x="838200" y="5342552"/>
            <a:ext cx="6832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7,5 с</a:t>
            </a:r>
            <a:endParaRPr lang="uk-UA" sz="2000" b="1" dirty="0"/>
          </a:p>
        </p:txBody>
      </p:sp>
      <p:sp>
        <p:nvSpPr>
          <p:cNvPr id="10" name="Прямокутник 9"/>
          <p:cNvSpPr/>
          <p:nvPr/>
        </p:nvSpPr>
        <p:spPr>
          <a:xfrm>
            <a:off x="10385219" y="2383209"/>
            <a:ext cx="4908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5 с</a:t>
            </a:r>
            <a:endParaRPr lang="uk-UA" sz="2000" b="1" dirty="0"/>
          </a:p>
        </p:txBody>
      </p:sp>
      <p:sp>
        <p:nvSpPr>
          <p:cNvPr id="11" name="Прямокутник 10"/>
          <p:cNvSpPr/>
          <p:nvPr/>
        </p:nvSpPr>
        <p:spPr>
          <a:xfrm>
            <a:off x="10385219" y="5342552"/>
            <a:ext cx="6190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10 с</a:t>
            </a:r>
            <a:endParaRPr lang="uk-UA" sz="2000" b="1" dirty="0"/>
          </a:p>
        </p:txBody>
      </p:sp>
      <p:sp>
        <p:nvSpPr>
          <p:cNvPr id="12" name="Прямокутник 11"/>
          <p:cNvSpPr/>
          <p:nvPr/>
        </p:nvSpPr>
        <p:spPr>
          <a:xfrm rot="19668141">
            <a:off x="-71300" y="710924"/>
            <a:ext cx="23993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Найвище значення</a:t>
            </a:r>
            <a:endParaRPr lang="uk-UA" sz="2000" b="1" dirty="0"/>
          </a:p>
        </p:txBody>
      </p:sp>
      <p:sp>
        <p:nvSpPr>
          <p:cNvPr id="13" name="Прямокутник 12"/>
          <p:cNvSpPr/>
          <p:nvPr/>
        </p:nvSpPr>
        <p:spPr>
          <a:xfrm rot="1976959">
            <a:off x="9436561" y="800672"/>
            <a:ext cx="25163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Найнижче значення</a:t>
            </a:r>
            <a:endParaRPr lang="uk-UA" sz="2000" b="1" dirty="0"/>
          </a:p>
        </p:txBody>
      </p:sp>
      <p:cxnSp>
        <p:nvCxnSpPr>
          <p:cNvPr id="17" name="Пряма сполучна лінія 16"/>
          <p:cNvCxnSpPr>
            <a:stCxn id="12" idx="1"/>
          </p:cNvCxnSpPr>
          <p:nvPr/>
        </p:nvCxnSpPr>
        <p:spPr>
          <a:xfrm>
            <a:off x="113194" y="1550222"/>
            <a:ext cx="46613" cy="39923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Пряма зі стрілкою 18"/>
          <p:cNvCxnSpPr>
            <a:endCxn id="8" idx="1"/>
          </p:cNvCxnSpPr>
          <p:nvPr/>
        </p:nvCxnSpPr>
        <p:spPr>
          <a:xfrm>
            <a:off x="142728" y="2583264"/>
            <a:ext cx="697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Пряма зі стрілкою 20"/>
          <p:cNvCxnSpPr>
            <a:endCxn id="9" idx="1"/>
          </p:cNvCxnSpPr>
          <p:nvPr/>
        </p:nvCxnSpPr>
        <p:spPr>
          <a:xfrm flipV="1">
            <a:off x="142728" y="5542607"/>
            <a:ext cx="695472" cy="2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Пряма сполучна лінія 22"/>
          <p:cNvCxnSpPr>
            <a:stCxn id="13" idx="3"/>
          </p:cNvCxnSpPr>
          <p:nvPr/>
        </p:nvCxnSpPr>
        <p:spPr>
          <a:xfrm>
            <a:off x="11750577" y="1685057"/>
            <a:ext cx="8804" cy="38575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Пряма зі стрілкою 24"/>
          <p:cNvCxnSpPr>
            <a:endCxn id="10" idx="3"/>
          </p:cNvCxnSpPr>
          <p:nvPr/>
        </p:nvCxnSpPr>
        <p:spPr>
          <a:xfrm flipH="1">
            <a:off x="10876059" y="2583264"/>
            <a:ext cx="883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 зі стрілкою 26"/>
          <p:cNvCxnSpPr>
            <a:endCxn id="11" idx="3"/>
          </p:cNvCxnSpPr>
          <p:nvPr/>
        </p:nvCxnSpPr>
        <p:spPr>
          <a:xfrm flipH="1">
            <a:off x="11004299" y="5542607"/>
            <a:ext cx="7550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79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 моделі 2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953" y="2024292"/>
            <a:ext cx="9770094" cy="3698082"/>
          </a:xfrm>
          <a:prstGeom prst="rect">
            <a:avLst/>
          </a:prstGeom>
        </p:spPr>
      </p:pic>
      <p:sp>
        <p:nvSpPr>
          <p:cNvPr id="5" name="Прямокутник 4"/>
          <p:cNvSpPr/>
          <p:nvPr/>
        </p:nvSpPr>
        <p:spPr>
          <a:xfrm>
            <a:off x="2969342" y="5917861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Величина </a:t>
            </a: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швидкості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для числа </a:t>
            </a: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Рейнольдса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дорівнює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1 </a:t>
            </a:r>
            <a:r>
              <a:rPr lang="ru-RU" sz="2000" b="1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мільйону</a:t>
            </a:r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uk-UA" sz="2000" b="1" dirty="0"/>
          </a:p>
        </p:txBody>
      </p:sp>
    </p:spTree>
    <p:extLst>
      <p:ext uri="{BB962C8B-B14F-4D97-AF65-F5344CB8AC3E}">
        <p14:creationId xmlns:p14="http://schemas.microsoft.com/office/powerpoint/2010/main" val="1987067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8365"/>
            <a:ext cx="10515600" cy="1060552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Часове дослідження</a:t>
            </a:r>
          </a:p>
        </p:txBody>
      </p:sp>
      <p:sp>
        <p:nvSpPr>
          <p:cNvPr id="8" name="Прямокутник 7"/>
          <p:cNvSpPr/>
          <p:nvPr/>
        </p:nvSpPr>
        <p:spPr>
          <a:xfrm>
            <a:off x="840143" y="2383209"/>
            <a:ext cx="6832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2,5 </a:t>
            </a:r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с</a:t>
            </a:r>
            <a:endParaRPr lang="uk-UA" sz="2000" b="1" dirty="0"/>
          </a:p>
        </p:txBody>
      </p:sp>
      <p:sp>
        <p:nvSpPr>
          <p:cNvPr id="9" name="Прямокутник 8"/>
          <p:cNvSpPr/>
          <p:nvPr/>
        </p:nvSpPr>
        <p:spPr>
          <a:xfrm>
            <a:off x="838200" y="5342552"/>
            <a:ext cx="6832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7,5 с</a:t>
            </a:r>
            <a:endParaRPr lang="uk-UA" sz="2000" b="1" dirty="0"/>
          </a:p>
        </p:txBody>
      </p:sp>
      <p:sp>
        <p:nvSpPr>
          <p:cNvPr id="10" name="Прямокутник 9"/>
          <p:cNvSpPr/>
          <p:nvPr/>
        </p:nvSpPr>
        <p:spPr>
          <a:xfrm>
            <a:off x="10385219" y="2383209"/>
            <a:ext cx="4908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5 с</a:t>
            </a:r>
            <a:endParaRPr lang="uk-UA" sz="2000" b="1" dirty="0"/>
          </a:p>
        </p:txBody>
      </p:sp>
      <p:sp>
        <p:nvSpPr>
          <p:cNvPr id="11" name="Прямокутник 10"/>
          <p:cNvSpPr/>
          <p:nvPr/>
        </p:nvSpPr>
        <p:spPr>
          <a:xfrm>
            <a:off x="10385219" y="5342552"/>
            <a:ext cx="6190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10 с</a:t>
            </a:r>
            <a:endParaRPr lang="uk-UA" sz="2000" b="1" dirty="0"/>
          </a:p>
        </p:txBody>
      </p:sp>
      <p:sp>
        <p:nvSpPr>
          <p:cNvPr id="12" name="Прямокутник 11"/>
          <p:cNvSpPr/>
          <p:nvPr/>
        </p:nvSpPr>
        <p:spPr>
          <a:xfrm rot="19668141">
            <a:off x="-71300" y="710924"/>
            <a:ext cx="23993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Найвище значення</a:t>
            </a:r>
            <a:endParaRPr lang="uk-UA" sz="2000" b="1" dirty="0"/>
          </a:p>
        </p:txBody>
      </p:sp>
      <p:sp>
        <p:nvSpPr>
          <p:cNvPr id="13" name="Прямокутник 12"/>
          <p:cNvSpPr/>
          <p:nvPr/>
        </p:nvSpPr>
        <p:spPr>
          <a:xfrm rot="1976959">
            <a:off x="9436561" y="800672"/>
            <a:ext cx="25163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0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Найнижче значення</a:t>
            </a:r>
            <a:endParaRPr lang="uk-UA" sz="2000" b="1" dirty="0"/>
          </a:p>
        </p:txBody>
      </p:sp>
      <p:cxnSp>
        <p:nvCxnSpPr>
          <p:cNvPr id="17" name="Пряма сполучна лінія 16"/>
          <p:cNvCxnSpPr>
            <a:stCxn id="12" idx="1"/>
          </p:cNvCxnSpPr>
          <p:nvPr/>
        </p:nvCxnSpPr>
        <p:spPr>
          <a:xfrm>
            <a:off x="113194" y="1550222"/>
            <a:ext cx="46613" cy="39923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Пряма зі стрілкою 18"/>
          <p:cNvCxnSpPr>
            <a:endCxn id="8" idx="1"/>
          </p:cNvCxnSpPr>
          <p:nvPr/>
        </p:nvCxnSpPr>
        <p:spPr>
          <a:xfrm>
            <a:off x="142728" y="2583264"/>
            <a:ext cx="697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Пряма зі стрілкою 20"/>
          <p:cNvCxnSpPr>
            <a:endCxn id="9" idx="1"/>
          </p:cNvCxnSpPr>
          <p:nvPr/>
        </p:nvCxnSpPr>
        <p:spPr>
          <a:xfrm flipV="1">
            <a:off x="142728" y="5542607"/>
            <a:ext cx="695472" cy="2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Пряма сполучна лінія 22"/>
          <p:cNvCxnSpPr>
            <a:stCxn id="13" idx="3"/>
          </p:cNvCxnSpPr>
          <p:nvPr/>
        </p:nvCxnSpPr>
        <p:spPr>
          <a:xfrm>
            <a:off x="11750577" y="1685057"/>
            <a:ext cx="8804" cy="38575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Пряма зі стрілкою 24"/>
          <p:cNvCxnSpPr>
            <a:endCxn id="10" idx="3"/>
          </p:cNvCxnSpPr>
          <p:nvPr/>
        </p:nvCxnSpPr>
        <p:spPr>
          <a:xfrm flipH="1">
            <a:off x="10876059" y="2583264"/>
            <a:ext cx="8833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Пряма зі стрілкою 26"/>
          <p:cNvCxnSpPr>
            <a:endCxn id="11" idx="3"/>
          </p:cNvCxnSpPr>
          <p:nvPr/>
        </p:nvCxnSpPr>
        <p:spPr>
          <a:xfrm flipH="1">
            <a:off x="11004299" y="5542607"/>
            <a:ext cx="7550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856" y="1148871"/>
            <a:ext cx="3610391" cy="2605576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567" y="4266903"/>
            <a:ext cx="3488967" cy="2551407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644" y="1209071"/>
            <a:ext cx="3594801" cy="2545375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644" y="4266903"/>
            <a:ext cx="3446576" cy="244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95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Висновки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3966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Під час </a:t>
            </a:r>
            <a:r>
              <a:rPr lang="uk-UA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порівння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двох моделей було виявлено, що ш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видкість вітру на вході другої моделі збільшилася майже у 8 разів. І ці результати набагато кращі, ніж у випадку з першою моделлю. Проте потрібно зважати на те, що модель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не є </a:t>
            </a:r>
            <a:r>
              <a:rPr lang="uk-UA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всеспрямованою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моделі 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1збільшення швидкості вітру в </a:t>
            </a:r>
            <a:r>
              <a:rPr lang="uk-UA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Вентурі</a:t>
            </a: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є значним і збільшився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він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рази, до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3,7.</a:t>
            </a:r>
            <a:endParaRPr lang="uk-UA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42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298</Words>
  <Application>Microsoft Office PowerPoint</Application>
  <PresentationFormat>Широкий екран</PresentationFormat>
  <Paragraphs>49</Paragraphs>
  <Slides>13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Бакалаврська кваліфікаційна робота на тему: «Моделювання та аналіз потоку повітря в системах відновлюваної вітроенергії»</vt:lpstr>
      <vt:lpstr>Мета роботи</vt:lpstr>
      <vt:lpstr>Актуальність розробки</vt:lpstr>
      <vt:lpstr>Технологія INVELOX</vt:lpstr>
      <vt:lpstr>Вибір програмного середовища</vt:lpstr>
      <vt:lpstr>Результати моделювання</vt:lpstr>
      <vt:lpstr>Результати моделювання</vt:lpstr>
      <vt:lpstr>Результати моделювання</vt:lpstr>
      <vt:lpstr>Результати моделювання</vt:lpstr>
      <vt:lpstr>Часове дослідження</vt:lpstr>
      <vt:lpstr>Дослідження моделі 2</vt:lpstr>
      <vt:lpstr>Часове дослідження</vt:lpstr>
      <vt:lpstr>Висновки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Бакалаврська кваліфікаційна робота на тему: «Моделювання та аналіз потоку повітря в системах відновлюваної вітроенергії»</dc:title>
  <dc:creator>Пользователь Windows</dc:creator>
  <cp:lastModifiedBy>Пользователь Windows</cp:lastModifiedBy>
  <cp:revision>13</cp:revision>
  <dcterms:created xsi:type="dcterms:W3CDTF">2023-06-27T22:30:45Z</dcterms:created>
  <dcterms:modified xsi:type="dcterms:W3CDTF">2023-06-28T17:03:40Z</dcterms:modified>
</cp:coreProperties>
</file>
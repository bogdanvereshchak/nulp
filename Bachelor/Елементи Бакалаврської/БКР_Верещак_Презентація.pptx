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3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F0F6FC"/>
                </a:solidFill>
                <a:latin typeface="Arial"/>
              </a:rPr>
              <a:t>Completion Rate,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Rate, %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D5-49D3-9E2A-7F3C79CA1FC6}"/>
              </c:ext>
            </c:extLst>
          </c:dPt>
          <c:dPt>
            <c:idx val="1"/>
            <c:invertIfNegative val="0"/>
            <c:bubble3D val="0"/>
            <c:spPr>
              <a:solidFill>
                <a:srgbClr val="0E8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D5-49D3-9E2A-7F3C79CA1FC6}"/>
              </c:ext>
            </c:extLst>
          </c:dPt>
          <c:dPt>
            <c:idx val="2"/>
            <c:invertIfNegative val="0"/>
            <c:bubble3D val="0"/>
            <c:spPr>
              <a:solidFill>
                <a:srgbClr val="0B5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D5-49D3-9E2A-7F3C79CA1FC6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D5-49D3-9E2A-7F3C79CA1F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Random Forest</c:v>
                </c:pt>
                <c:pt idx="3">
                  <c:v>D: RL Director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74</c:v>
                </c:pt>
                <c:pt idx="2">
                  <c:v>79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D5-49D3-9E2A-7F3C79CA1F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8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F0F6FC"/>
                </a:solidFill>
                <a:latin typeface="Arial"/>
              </a:rPr>
              <a:t>Flow Score, </a:t>
            </a:r>
            <a:r>
              <a:rPr lang="uk-UA" sz="1400" b="0" i="0" u="none" strike="noStrike">
                <a:solidFill>
                  <a:srgbClr val="F0F6FC"/>
                </a:solidFill>
                <a:latin typeface="Arial"/>
              </a:rPr>
              <a:t>балів (1-5)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Flow Score (1-5)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8F-48E6-9FC6-9FEDB224CD38}"/>
              </c:ext>
            </c:extLst>
          </c:dPt>
          <c:dPt>
            <c:idx val="1"/>
            <c:invertIfNegative val="0"/>
            <c:bubble3D val="0"/>
            <c:spPr>
              <a:solidFill>
                <a:srgbClr val="0E8A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8F-48E6-9FC6-9FEDB224CD38}"/>
              </c:ext>
            </c:extLst>
          </c:dPt>
          <c:dPt>
            <c:idx val="2"/>
            <c:invertIfNegative val="0"/>
            <c:bubble3D val="0"/>
            <c:spPr>
              <a:solidFill>
                <a:srgbClr val="0B5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8F-48E6-9FC6-9FEDB224CD38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8F-48E6-9FC6-9FEDB224C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Baseline</c:v>
                </c:pt>
                <c:pt idx="1">
                  <c:v>B: Heuristic</c:v>
                </c:pt>
                <c:pt idx="2">
                  <c:v>C: RF</c:v>
                </c:pt>
                <c:pt idx="3">
                  <c:v>D: RL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</c:v>
                </c:pt>
                <c:pt idx="1">
                  <c:v>3.6</c:v>
                </c:pt>
                <c:pt idx="2">
                  <c:v>3.9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8F-48E6-9FC6-9FEDB224CD3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0F6FC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8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93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457200"/>
            <a:ext cx="2011680" cy="201168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4114800"/>
            <a:ext cx="1828800" cy="18288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1463040" cy="54864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  |  Кафедра CAП  |  122 Комп'ютерні науки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Розроблення системи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динамічної адаптації складності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рівнів у ігровому середовищі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1E4D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Бакалаврська кваліфікаційна робота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асист. каф. САП Патерега Ю. І.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Львів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роботи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гравців кидають гру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невідповідну складність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&gt;20р.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дослідницька традиція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 без єдиного стандарту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822960"/>
            <a:ext cx="2651760" cy="1600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89611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ML-DDA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досліджень лише у 2D-іграх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складність не враховує різноманітність гравців і динаміку навичок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Комерційні DDA обмежені примітивними лічильниками (RE4, Crash Bandicoot)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Відкрите порівняльне дослідження для 3D-платформерів практично відсутнє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Психологічні метрики (Jitter, APM, Time-to-Recover) раніше не використовувались разом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Об'єкт, предмет, мета та задачі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2651760" cy="132588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 управління рівнем складності комп'ютерної гри у реальному часі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685800"/>
            <a:ext cx="2651760" cy="132588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DDA на основі евристики, Random Forest, MLP та навчання з підкріпленням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685800"/>
            <a:ext cx="2651760" cy="132588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731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0058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та порівняти підсистему DDA, що аналізує 8 поведінкових метрик і зберігає гравця у стані потоку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" y="223113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Аналіз існуючих DDA-систем і ML-методів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176272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27448" y="2231136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Розробка підсистеми збору телеметрії (8 метрик)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" y="307238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Реалізація евристичної DDA з кластеризацією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3072384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ML-конвеєр: RF + MLP, інтеграція у Unity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858768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" y="3913632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RL-система: BotAgent + DirectorAgent (Asymmetric Self-Play)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858768"/>
            <a:ext cx="3931920" cy="71323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27448" y="3913632"/>
            <a:ext cx="37124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A/B-тестування 4 варіантів DDA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системи DDA та її складові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2651760" cy="402336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збору даних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435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9222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470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PlayerTracker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505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AnalyticsManager (NDJSON)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2011680"/>
            <a:ext cx="274320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713232"/>
            <a:ext cx="2651760" cy="402336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49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DDA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12435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DDAManager (реєстр)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179222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18470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IDDAStrategy (патерн)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39572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24505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режими: Baseline / Heuristic / 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2011680"/>
            <a:ext cx="274320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713232"/>
            <a:ext cx="26517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749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 виконання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1188720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124358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DynamicObstacleBase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1792224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184708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IDynamicObstacle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2395728"/>
            <a:ext cx="2651760" cy="530352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55080" y="245059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Буферизація → OnScreenDarkened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41605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Режими роботи DDAManager: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4462272"/>
            <a:ext cx="2651760" cy="457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805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(DataCollection)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даних, DDA вимкнено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4462272"/>
            <a:ext cx="2651760" cy="457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4805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Heuristic_Math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Математичні формули кластеризації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4462272"/>
            <a:ext cx="2651760" cy="4572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44805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MachineLearning_AI
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/ MLP / RL-агент-Директор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Поведінкові метрики та їх психологічний зміст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13232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713232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checkpoint_deaths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060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Смерті від чекпоінту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2893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Локальна труднощість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13232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13232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cluster_deaths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0607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Смерті у кластері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2893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Просторова концентрація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1737360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1737360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input_rate (APM)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Частота вводу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Моторне навантаження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737360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737360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time_to_recover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до першого руху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Когнітивна фрустрація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761488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761488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бездіяльності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Розгубленість / пауза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761488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761488"/>
            <a:ext cx="10972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Тремтіння камери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Паніка / тривога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785616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785616"/>
            <a:ext cx="109728" cy="91440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time_spent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на рівні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Загальний темп гри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785616"/>
            <a:ext cx="393192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785616"/>
            <a:ext cx="109728" cy="91440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849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4133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рівня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361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Контекст складності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Математична модель евристичного DDA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57200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680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(3 кроки)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1. Центроїд кластера: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D_c = (1/n) × Σ pᵢ,   i=1..n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– смерті у кластері, pᵢ – позиція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2. Вага перешкоди: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5000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wⱼ = max(0, 1 − dⱼ / r_adapt)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dⱼ – відстань до центроїда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3. Множник полегшення: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Mⱼ = Lerp(1, M_target, wⱼ × weightⱼ)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7530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∈ [0, 2] – власна вага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9534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від відкату: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 ≥ 1 AND M &lt; tracker) → ignore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47141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= max досягнутий множник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713232"/>
            <a:ext cx="356616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7680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системи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20700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r_adapt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20700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120700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полегшення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719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r_compl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71907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06640" y="17190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ускладнення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2311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deathWindow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223113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22311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вікно кластера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27432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7432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06640" y="27432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Мін. смертей в кластері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2552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clusterDist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25526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25526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Радіус кластера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7673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easingFactor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7673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37673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Цільовий M_target (ease)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42793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compFactor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427939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06640" y="42793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Цільовий M_target (compl)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ML-конвеєр: від телеметрії до 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NDJSON-логи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DDAMode: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Lюдина-в-контурі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822960"/>
            <a:ext cx="411480" cy="411480"/>
          </a:xfrm>
          <a:prstGeom prst="ellipse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93976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Очищення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93976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 player_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подій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80:20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7872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6824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13048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13048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[level, deaths,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APM, idle...]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66944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822960"/>
            <a:ext cx="411480" cy="411480"/>
          </a:xfrm>
          <a:prstGeom prst="ellipse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n=200, d=12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64-32-1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5-fold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86016" y="281635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749808"/>
            <a:ext cx="1508760" cy="41148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4968" y="8229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822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51192" y="1298448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Unity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51192" y="1883664"/>
            <a:ext cx="13990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m2cgen (C#)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→ ONNX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(Unity Sentis)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4114800" cy="621792"/>
          </a:xfrm>
          <a:prstGeom prst="rect">
            <a:avLst/>
          </a:prstGeom>
          <a:solidFill>
            <a:srgbClr val="0A3A2A"/>
          </a:solidFill>
          <a:ln w="12700">
            <a:solidFill>
              <a:srgbClr val="0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43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(C# / m2cgen) 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MSE=0.021  R²=0.83  Інференс &lt;0.1 мс/кадр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4279392"/>
            <a:ext cx="4114800" cy="621792"/>
          </a:xfrm>
          <a:prstGeom prst="rect">
            <a:avLst/>
          </a:prstGeom>
          <a:solidFill>
            <a:srgbClr val="0A2A3A"/>
          </a:solidFill>
          <a:ln w="12700">
            <a:solidFill>
              <a:srgbClr val="0A2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343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(ONNX / Unity Sentis)  </a:t>
            </a: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MSE=0.024  R²=0.81  Інференс ~0.8 мс/кадр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RL-система: Asymmetric Self-Play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2743200" cy="3657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315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BotAgent (агент-гравець)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(~90 float):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14-раменний RaySensor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фізика + навігація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cognitiveLoad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Дискр. гілка руху (5)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гілка стрибка 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jump via hold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 чекпоінт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 смерть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+0.005×прогрес/крок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Навчається сам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2-5M кроків, PPO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Фреймрейт ×20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1645920"/>
            <a:ext cx="2606040" cy="2377440"/>
          </a:xfrm>
          <a:prstGeom prst="rect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3552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73552" y="299923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Obstacles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+ Events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Deaths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2176272"/>
            <a:ext cx="210312" cy="0"/>
          </a:xfrm>
          <a:prstGeom prst="line">
            <a:avLst/>
          </a:prstGeom>
          <a:noFill/>
          <a:ln w="25400">
            <a:solidFill>
              <a:srgbClr val="12B5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999232"/>
            <a:ext cx="210312" cy="0"/>
          </a:xfrm>
          <a:prstGeom prst="line">
            <a:avLst/>
          </a:prstGeom>
          <a:noFill/>
          <a:ln w="25400">
            <a:solidFill>
              <a:srgbClr val="22A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9592" y="2176272"/>
            <a:ext cx="21031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2999232"/>
            <a:ext cx="210312" cy="0"/>
          </a:xfrm>
          <a:prstGeom prst="line">
            <a:avLst/>
          </a:prstGeom>
          <a:noFill/>
          <a:ln w="25400">
            <a:solidFill>
              <a:srgbClr val="22A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1920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44368" y="2743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←obs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33872" y="192024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←actions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33872" y="2743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9904" y="713232"/>
            <a:ext cx="2743200" cy="420624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713232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7315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DirectorAgent (Режисер)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81344" y="11704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(103 float):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81344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метрик бота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перешкод×9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(позиція+тип+M)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1344" y="19933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(12 cont.):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1344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дельт множників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атмосфера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аудіотензія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81344" y="28163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(Gaussian):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81344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r=exp(-(SR-0.8)²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/ 2×0.12²)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при SR=80%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81344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81344" y="3886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заморожено (.onnx)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навчається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1-2M кроків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Обґрунтування вибору технологій і засобів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13232"/>
            <a:ext cx="128016" cy="12801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Engine 2023 LTS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18872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Крос-платф., URP, ML-Agents, Sentis, C# SOLID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1323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13232"/>
            <a:ext cx="128016" cy="128016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804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SOLID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64608" y="118872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типізація, патерни Strategy/Observer/Registry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0552"/>
            <a:ext cx="128016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(Python)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" y="260604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 n=200, d=12. MLPRegressor. 5-fold cross-val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13055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30552"/>
            <a:ext cx="128016" cy="12801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2219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ML-Agents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4608" y="260604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PPO-навчання у рушії, паралельні env, .onnx-export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54787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47872"/>
            <a:ext cx="128016" cy="128016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Sentis (ONNX)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1208" y="402336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Runtime-інференс MLP без Python, CPU/GPU 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47872"/>
            <a:ext cx="4069080" cy="128016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47872"/>
            <a:ext cx="128016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393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m2cgen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64608" y="402336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чистий C#, нуль GC-алокацій, &lt;0.1 мс/кадр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ігрового середовища та телеметрія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1. Рівень у Unity (URP освітлення,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PROBuilder геометрія, 4 типи перешкод)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713232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17043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084832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2. Inspector компоненту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SpikyPlatform: поля DDA Min/Max/Weight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200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411480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3. Скриншот до застосування DDA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(початкові параметри платформ)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743200"/>
            <a:ext cx="4206240" cy="1828800"/>
          </a:xfrm>
          <a:prstGeom prst="rect">
            <a:avLst/>
          </a:prstGeom>
          <a:solidFill>
            <a:srgbClr val="0A1A2A"/>
          </a:solidFill>
          <a:ln w="12700">
            <a:solidFill>
              <a:srgbClr val="0A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200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[Скриншот Unity]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114800"/>
            <a:ext cx="4206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Рис. 4. Скриншот після DDA: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полегшення — платформа ширша на 24%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алгоритму евристичного DDA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37744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71323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помирає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(RegisterDeath)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133856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53896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" y="14538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Додаємо DeathRecord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 + timestamp)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1874520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2377440" cy="420624"/>
          </a:xfrm>
          <a:prstGeom prst="rect">
            <a:avLst/>
          </a:prstGeom>
          <a:solidFill>
            <a:srgbClr val="1A3055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19456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знайдено?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(≥5 у радіусі 10 м)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404872"/>
            <a:ext cx="457200" cy="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5768" y="2286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08760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35224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93522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Обчислюємо центроїд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 = (1/n)×Σpᵢ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75888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675888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wⱼ = max(0, 1 − dⱼ/r)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Mⱼ = Lerp(1, M_target, wⱼ×weightⱼ)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4096512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416552"/>
            <a:ext cx="237744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441655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AdjustDifficulty(Mⱼ, Buffered)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713232"/>
            <a:ext cx="23774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713232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на чекпоінті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(RegisterCheckpoint)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133856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1453896"/>
            <a:ext cx="2377440" cy="420624"/>
          </a:xfrm>
          <a:prstGeom prst="rect">
            <a:avLst/>
          </a:prstGeom>
          <a:solidFill>
            <a:srgbClr val="1A3055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1453896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Deaths==0 від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останнього чекпоінту?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1874520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2194560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5576" y="2194560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Генерується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OnPlayerDominating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9000" y="2935224"/>
            <a:ext cx="237744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2935224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Складність 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радіусі r_compl=20 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7720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3675888"/>
            <a:ext cx="23774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65576" y="3675888"/>
            <a:ext cx="23042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AdjustDifficulty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(M_compl, Buffered)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2194560"/>
            <a:ext cx="233172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194560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Очікуємо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OnScreenDarkened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62672" y="2615184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2935224"/>
            <a:ext cx="2331720" cy="420624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935224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Викликаємо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ApplyDDA(multiplier)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62672" y="3355848"/>
            <a:ext cx="0" cy="32004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3675888"/>
            <a:ext cx="2331720" cy="420624"/>
          </a:xfrm>
          <a:prstGeom prst="rect">
            <a:avLst/>
          </a:prstGeom>
          <a:solidFill>
            <a:srgbClr val="0E8A7A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3675888"/>
            <a:ext cx="22585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 застосовані,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не помітив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651760" y="240487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06440" y="3145536"/>
            <a:ext cx="685800" cy="0"/>
          </a:xfrm>
          <a:prstGeom prst="line">
            <a:avLst/>
          </a:prstGeom>
          <a:noFill/>
          <a:ln w="19050">
            <a:solidFill>
              <a:srgbClr val="12B5A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301752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порівняльного A/B-тестування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713232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212080" y="713232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57600"/>
          <a:ext cx="8412480" cy="1371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Група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CR, 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Смерті (сер.)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IS, бали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FS, бали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A: Baseline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22.4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2.8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B: Heuristic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5A1"/>
                          </a:solidFill>
                        </a:rPr>
                        <a:t>74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15.1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4.2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3.6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C: RF / MLP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5A1"/>
                          </a:solidFill>
                        </a:rPr>
                        <a:t>79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12.8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4.5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3.9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D: RL Director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82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11.2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4.7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4.3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отриманих результатів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11880" y="786384"/>
            <a:ext cx="685800" cy="64008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786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зріс від 61% (Baseline) до 82% (RL) – навіть евристика дає +13 п.п. без 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0" y="786384"/>
            <a:ext cx="685800" cy="640080"/>
          </a:xfrm>
          <a:prstGeom prst="rect">
            <a:avLst/>
          </a:prstGeom>
          <a:solidFill>
            <a:srgbClr val="0B5F9E"/>
          </a:solidFill>
          <a:ln w="12700">
            <a:solidFill>
              <a:srgbClr val="0B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786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Зниження смертей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кількість смертей скоротилась з 22.4 до 11.2 — у 2 рази без зміни геймплею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1880" y="3072384"/>
            <a:ext cx="6858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072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Invisibility 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RL-Директор отримав найвищу оцінку непомітності (4.7/5) — гравці не відчули адаптацію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4069080" cy="210312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0" y="3072384"/>
            <a:ext cx="685800" cy="64008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307238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MLP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0600" y="3547872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незначно точніший за MLP і в 8 разів швидший в інференсі (0.04 vs 0.8 мс)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існуючими DDA-системами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13232"/>
          <a:ext cx="8503920" cy="40416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RE4 / L4D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Crash Bandicoot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Ця робота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Алгоритм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Ручні евристики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Лічильник смертей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Hybrid: Heuristic+RF+MLP+RL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Метрики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1-2 (здоров'я, kill)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1 (death count)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8 поведінкових метрик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3D-платформер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Частково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(Unity 3D)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ML / RL компонент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(RF, MLP, PPO RL)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Просторовий аналіз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Кластеризація + Last Safe Pos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Непомітність змін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Частково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(OnScreenDarkened)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Відкрите порівняння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</a:rPr>
                        <a:t>Ні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5A1"/>
                          </a:solidFill>
                        </a:rPr>
                        <a:t>Так (A/B, 4 групи, 5 метрик)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D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055"/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69848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69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069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 огляд: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06984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Виявлено обмеження комерційних DDA; обґрунтовано унікальність 3D-платформерного контексту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Телеметрія: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збір 8 поведінкових метрик (NDJSON), включаючи психологічні індикатори фрустрації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404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Евристичний DDA: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404872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CR: 61→74%, Invisibility Score 4.2/5; кластеризація + захист від відкату через OnScreenDarkened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72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0723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ML-конвеєр: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072384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(R²=0.83, &lt;0.1 мс) і MLP (R²=0.81, ~0.8 мс) інтегровані в Unity без зовнішніх залежностей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739896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39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373989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RL-система: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739896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Self-Play: BotAgent (84% CR), DirectorAgent (SR≈80%). CR: 61→82%, FS: 2.8→4.3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407408"/>
            <a:ext cx="411480" cy="411480"/>
          </a:xfrm>
          <a:prstGeom prst="ellipse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4074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A/B-аналіз: 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4407408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4 підходи порівняно за 5 метриками; RL є найефективнішим але всі варіанти перевищують Baseline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1828800" cy="64008"/>
          </a:xfrm>
          <a:prstGeom prst="rect">
            <a:avLst/>
          </a:prstGeom>
          <a:solidFill>
            <a:srgbClr val="0E8A7A"/>
          </a:solidFill>
          <a:ln w="12700">
            <a:solidFill>
              <a:srgbClr val="0E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Верещак Богдан Олегович, гр. ПП-44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Науковий керівник: асист. каф. САП Патерега Юрій Ігорович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Національний університет «Львівська політехніка» — кафедра САП —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RL Director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 5.0 можливих)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підходи DDA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4023360"/>
            <a:ext cx="1828800" cy="914400"/>
          </a:xfrm>
          <a:prstGeom prst="rect">
            <a:avLst/>
          </a:prstGeom>
          <a:solidFill>
            <a:srgbClr val="122036"/>
          </a:solidFill>
          <a:ln w="12700">
            <a:solidFill>
              <a:srgbClr val="1E4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050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B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44805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1558</Words>
  <Application>Microsoft Office PowerPoint</Application>
  <PresentationFormat>On-screen Show (16:9)</PresentationFormat>
  <Paragraphs>386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Розроблення системи динамічної адаптації складності рівнів у ігровому середовищі</dc:title>
  <dc:subject>PptxGenJS Presentation</dc:subject>
  <dc:creator>Верещак Богдан Олегович</dc:creator>
  <cp:lastModifiedBy>Богдан Верещак</cp:lastModifiedBy>
  <cp:revision>1</cp:revision>
  <dcterms:created xsi:type="dcterms:W3CDTF">2026-05-25T19:37:26Z</dcterms:created>
  <dcterms:modified xsi:type="dcterms:W3CDTF">2026-06-11T00:08:30Z</dcterms:modified>
</cp:coreProperties>
</file>
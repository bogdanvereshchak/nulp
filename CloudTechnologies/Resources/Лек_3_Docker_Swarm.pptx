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257" r:id="rId3"/>
    <p:sldId id="258" r:id="rId4"/>
    <p:sldId id="259" r:id="rId5"/>
    <p:sldId id="261" r:id="rId6"/>
    <p:sldId id="281" r:id="rId7"/>
    <p:sldId id="260" r:id="rId8"/>
    <p:sldId id="272" r:id="rId9"/>
    <p:sldId id="274" r:id="rId10"/>
    <p:sldId id="282" r:id="rId11"/>
    <p:sldId id="283" r:id="rId12"/>
    <p:sldId id="284" r:id="rId13"/>
    <p:sldId id="262" r:id="rId14"/>
    <p:sldId id="263" r:id="rId15"/>
    <p:sldId id="264" r:id="rId16"/>
    <p:sldId id="265" r:id="rId17"/>
    <p:sldId id="279" r:id="rId18"/>
    <p:sldId id="285" r:id="rId19"/>
    <p:sldId id="286" r:id="rId20"/>
    <p:sldId id="276" r:id="rId21"/>
    <p:sldId id="268" r:id="rId22"/>
    <p:sldId id="269" r:id="rId23"/>
    <p:sldId id="270" r:id="rId24"/>
    <p:sldId id="271" r:id="rId25"/>
    <p:sldId id="287" r:id="rId26"/>
    <p:sldId id="288" r:id="rId27"/>
    <p:sldId id="275" r:id="rId28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2020"/>
    <a:srgbClr val="B2B2B2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49" autoAdjust="0"/>
    <p:restoredTop sz="94660"/>
  </p:normalViewPr>
  <p:slideViewPr>
    <p:cSldViewPr snapToGrid="0" showGuides="1">
      <p:cViewPr varScale="1">
        <p:scale>
          <a:sx n="160" d="100"/>
          <a:sy n="160" d="100"/>
        </p:scale>
        <p:origin x="216" y="17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  <a:t>10/14/25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  <a:t>10/14/25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Docker Compose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та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Swarm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Технології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розгортання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інформаційних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План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презентації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 Compose: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 Swarm: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масштабування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Overlay-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мережі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Приклад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App + DB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Переваги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недоліки</a:t>
            </a:r>
          </a:p>
        </p:txBody>
      </p:sp>
      <p:pic>
        <p:nvPicPr>
          <p:cNvPr id="4" name="Изображение 3"/>
          <p:cNvPicPr/>
          <p:nvPr/>
        </p:nvPicPr>
        <p:blipFill>
          <a:blip r:embed="rId2"/>
          <a:stretch>
            <a:fillRect/>
          </a:stretch>
        </p:blipFill>
        <p:spPr>
          <a:xfrm>
            <a:off x="6472555" y="2438400"/>
            <a:ext cx="4987290" cy="19818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Що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таке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Docker Compose?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1943100"/>
          </a:xfrm>
        </p:spPr>
        <p:txBody>
          <a:bodyPr/>
          <a:lstStyle/>
          <a:p>
            <a:r>
              <a:rPr lang="en-US" altLang="ru-RU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 Compose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—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інструмент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який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спрощує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роботу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багатоконтейнерними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застосунками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Docker.</a:t>
            </a:r>
          </a:p>
          <a:p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Використовує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docker-compose.yml</a:t>
            </a:r>
          </a:p>
        </p:txBody>
      </p:sp>
      <p:pic>
        <p:nvPicPr>
          <p:cNvPr id="4" name="Изображение 3"/>
          <p:cNvPicPr/>
          <p:nvPr/>
        </p:nvPicPr>
        <p:blipFill>
          <a:blip r:embed="rId2"/>
          <a:stretch>
            <a:fillRect/>
          </a:stretch>
        </p:blipFill>
        <p:spPr>
          <a:xfrm>
            <a:off x="1997075" y="3665220"/>
            <a:ext cx="7817485" cy="29965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Основні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можливості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Compose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Опис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багатосервісної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архітектури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Керування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мережами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томами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Масштабування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сервісів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Єдиний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файл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docker-compose.yml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Автоматизований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запуск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зупинка</a:t>
            </a:r>
          </a:p>
        </p:txBody>
      </p:sp>
      <p:pic>
        <p:nvPicPr>
          <p:cNvPr id="4" name="Изображение 3"/>
          <p:cNvPicPr/>
          <p:nvPr/>
        </p:nvPicPr>
        <p:blipFill>
          <a:blip r:embed="rId2"/>
          <a:stretch>
            <a:fillRect/>
          </a:stretch>
        </p:blipFill>
        <p:spPr>
          <a:xfrm>
            <a:off x="6864985" y="2299335"/>
            <a:ext cx="5076190" cy="22593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altLang="ru-RU">
                <a:latin typeface="Arial" panose="020B0604020202020204" pitchFamily="34" charset="0"/>
                <a:cs typeface="Arial" panose="020B0604020202020204" pitchFamily="34" charset="0"/>
              </a:rPr>
              <a:t>Візуалізація 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Docker Compose</a:t>
            </a:r>
          </a:p>
        </p:txBody>
      </p:sp>
      <p:pic>
        <p:nvPicPr>
          <p:cNvPr id="5" name="Изображение 4"/>
          <p:cNvPicPr/>
          <p:nvPr/>
        </p:nvPicPr>
        <p:blipFill>
          <a:blip r:embed="rId2"/>
          <a:stretch>
            <a:fillRect/>
          </a:stretch>
        </p:blipFill>
        <p:spPr>
          <a:xfrm>
            <a:off x="825500" y="1684020"/>
            <a:ext cx="10753725" cy="39376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altLang="en-US"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становлення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Compose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ru-RU" sz="3200" i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 apt  install docker-compose</a:t>
            </a:r>
          </a:p>
          <a:p>
            <a:endParaRPr lang="en-US" altLang="ru-RU" sz="3200" i="1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2704465"/>
            <a:ext cx="11028680" cy="33362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Приклад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docker-compose.yml</a:t>
            </a: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460" y="2357756"/>
            <a:ext cx="8087816" cy="3162902"/>
          </a:xfrm>
          <a:prstGeom prst="rect">
            <a:avLst/>
          </a:prstGeom>
        </p:spPr>
      </p:pic>
      <p:sp>
        <p:nvSpPr>
          <p:cNvPr id="4" name="Текстовое поле 3"/>
          <p:cNvSpPr txBox="1"/>
          <p:nvPr/>
        </p:nvSpPr>
        <p:spPr>
          <a:xfrm>
            <a:off x="647700" y="1774190"/>
            <a:ext cx="6435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ru-RU" sz="3200" i="1">
                <a:latin typeface="Arial" panose="020B0604020202020204" pitchFamily="34" charset="0"/>
                <a:cs typeface="Arial" panose="020B0604020202020204" pitchFamily="34" charset="0"/>
              </a:rPr>
              <a:t>$ nano docker-compose.yml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Запуск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стеку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з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Compose</a:t>
            </a:r>
          </a:p>
        </p:txBody>
      </p:sp>
      <p:pic>
        <p:nvPicPr>
          <p:cNvPr id="4" name="Замещающее содержимое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2525" y="2525395"/>
            <a:ext cx="9505315" cy="3909060"/>
          </a:xfrm>
          <a:prstGeom prst="rect">
            <a:avLst/>
          </a:prstGeom>
        </p:spPr>
      </p:pic>
      <p:sp>
        <p:nvSpPr>
          <p:cNvPr id="6" name="Текстовое поле 5"/>
          <p:cNvSpPr txBox="1"/>
          <p:nvPr/>
        </p:nvSpPr>
        <p:spPr>
          <a:xfrm>
            <a:off x="761365" y="1584642"/>
            <a:ext cx="5080000" cy="95313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800" i="1">
                <a:latin typeface="Arial" panose="020B0604020202020204" pitchFamily="34" charset="0"/>
                <a:cs typeface="Arial" panose="020B0604020202020204" pitchFamily="34" charset="0"/>
              </a:rPr>
              <a:t>docker-compose up -d</a:t>
            </a:r>
          </a:p>
          <a:p>
            <a:endParaRPr lang="en-US" altLang="zh-CN" sz="2800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altLang="ru-RU">
                <a:latin typeface="Arial" panose="020B0604020202020204" pitchFamily="34" charset="0"/>
                <a:cs typeface="Arial" panose="020B0604020202020204" pitchFamily="34" charset="0"/>
              </a:rPr>
              <a:t>Перевірка середовища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825625"/>
            <a:ext cx="4332605" cy="590550"/>
          </a:xfrm>
        </p:spPr>
        <p:txBody>
          <a:bodyPr/>
          <a:lstStyle/>
          <a:p>
            <a:r>
              <a:rPr lang="en-US" altLang="ru-RU" sz="3200" i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docker-compose ps</a:t>
            </a: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65" y="3220085"/>
            <a:ext cx="11381105" cy="14147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altLang="en-US">
                <a:latin typeface="Arial" panose="020B0604020202020204" pitchFamily="34" charset="0"/>
                <a:cs typeface="Arial" panose="020B0604020202020204" pitchFamily="34" charset="0"/>
              </a:rPr>
              <a:t>П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ерегля</a:t>
            </a:r>
            <a:r>
              <a:rPr lang="uk-UA" altLang="en-US">
                <a:latin typeface="Arial" panose="020B0604020202020204" pitchFamily="34" charset="0"/>
                <a:cs typeface="Arial" panose="020B0604020202020204" pitchFamily="34" charset="0"/>
              </a:rPr>
              <a:t>д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лог</a:t>
            </a:r>
            <a:r>
              <a:rPr lang="uk-UA" altLang="en-US">
                <a:latin typeface="Arial" panose="020B0604020202020204" pitchFamily="34" charset="0"/>
                <a:cs typeface="Arial" panose="020B0604020202020204" pitchFamily="34" charset="0"/>
              </a:rPr>
              <a:t>ів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ru-RU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 docker-compose logs</a:t>
            </a: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2868295"/>
            <a:ext cx="10712450" cy="29610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altLang="ru-RU">
                <a:latin typeface="Arial" panose="020B0604020202020204" pitchFamily="34" charset="0"/>
                <a:cs typeface="Arial" panose="020B0604020202020204" pitchFamily="34" charset="0"/>
              </a:rPr>
              <a:t>Інші команди 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ru-RU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 docker-compose pause</a:t>
            </a:r>
            <a:r>
              <a:rPr lang="uk-UA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призупинити роботу.</a:t>
            </a:r>
          </a:p>
          <a:p>
            <a:endParaRPr lang="uk-UA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uk-UA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 docker-compose unpause</a:t>
            </a:r>
            <a:r>
              <a:rPr lang="uk-UA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розблокувати роботу.</a:t>
            </a: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2607945"/>
            <a:ext cx="8003540" cy="1125855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4870450"/>
            <a:ext cx="8128000" cy="9366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altLang="ru-RU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Інші команди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ru-RU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$ docker-compose stop</a:t>
            </a:r>
            <a:r>
              <a:rPr lang="uk-UA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- зупинити роботу. </a:t>
            </a:r>
          </a:p>
          <a:p>
            <a:endParaRPr lang="uk-UA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endParaRPr lang="uk-UA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endParaRPr lang="uk-UA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$ docker-compose down</a:t>
            </a:r>
            <a:r>
              <a:rPr lang="uk-UA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- видалити всі контейнери.</a:t>
            </a:r>
            <a:endParaRPr lang="uk-UA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uk-UA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2733675"/>
            <a:ext cx="7100570" cy="1057275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4972685"/>
            <a:ext cx="6967855" cy="12045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Docker Compose: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переваги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та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недоліки</a:t>
            </a:r>
          </a:p>
        </p:txBody>
      </p:sp>
      <p:graphicFrame>
        <p:nvGraphicFramePr>
          <p:cNvPr id="5" name="Таблица 4"/>
          <p:cNvGraphicFramePr/>
          <p:nvPr>
            <p:custDataLst>
              <p:tags r:id="rId1"/>
            </p:custDataLst>
          </p:nvPr>
        </p:nvGraphicFramePr>
        <p:xfrm>
          <a:off x="853440" y="1797050"/>
          <a:ext cx="10485120" cy="4413250"/>
        </p:xfrm>
        <a:graphic>
          <a:graphicData uri="http://schemas.openxmlformats.org/drawingml/2006/table">
            <a:tbl>
              <a:tblPr/>
              <a:tblGrid>
                <a:gridCol w="524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4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826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✅ Переваги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❌ Недоліки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26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Простота у використанні – один YAML-файл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Обмежене масштабування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26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Легке відтворення середовища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 підходить для великих продакшн систем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26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Швидкий старт для розробників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Немає вбудованого балансування навантаження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26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Портативність (працює на будь-якій машині з Docker)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Менша гнучкість порівняно з оркестраторами (Swarm, Kubernetes)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Що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таке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Docker Swarm?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ru-RU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 Swarm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—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вбудований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Docker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інструмент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оркестровки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який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єднує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групу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машин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вузлів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єдиний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кластер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централізованого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керування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контейнерами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pic>
        <p:nvPicPr>
          <p:cNvPr id="5" name="Изображение 4"/>
          <p:cNvPicPr/>
          <p:nvPr/>
        </p:nvPicPr>
        <p:blipFill>
          <a:blip r:embed="rId2"/>
          <a:stretch>
            <a:fillRect/>
          </a:stretch>
        </p:blipFill>
        <p:spPr>
          <a:xfrm>
            <a:off x="2472690" y="3285490"/>
            <a:ext cx="7246620" cy="2768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Архітектура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Swarm</a:t>
            </a:r>
          </a:p>
        </p:txBody>
      </p:sp>
      <p:pic>
        <p:nvPicPr>
          <p:cNvPr id="4" name="Изображение 3"/>
          <p:cNvPicPr/>
          <p:nvPr/>
        </p:nvPicPr>
        <p:blipFill>
          <a:blip r:embed="rId2"/>
          <a:stretch>
            <a:fillRect/>
          </a:stretch>
        </p:blipFill>
        <p:spPr>
          <a:xfrm>
            <a:off x="647700" y="1704975"/>
            <a:ext cx="10026650" cy="45821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Сервіси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у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Swarm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Декларативна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модель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Сервіс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група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контейнерів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одним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образом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Масштабування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через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параметр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replicas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Автовідновлення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збої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altLang="en-US">
                <a:latin typeface="Arial" panose="020B0604020202020204" pitchFamily="34" charset="0"/>
                <a:cs typeface="Arial" panose="020B0604020202020204" pitchFamily="34" charset="0"/>
              </a:rPr>
              <a:t>Ініціалізація </a:t>
            </a:r>
            <a:r>
              <a:rPr lang="en-US" altLang="uk-UA">
                <a:latin typeface="Arial" panose="020B0604020202020204" pitchFamily="34" charset="0"/>
                <a:cs typeface="Arial" panose="020B0604020202020204" pitchFamily="34" charset="0"/>
              </a:rPr>
              <a:t>Docker Swarm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584325"/>
            <a:ext cx="10515600" cy="4351338"/>
          </a:xfrm>
        </p:spPr>
        <p:txBody>
          <a:bodyPr/>
          <a:lstStyle/>
          <a:p>
            <a:r>
              <a:rPr lang="en-US" altLang="ru-RU" i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 docker swarm init --advertise-addr 178.20.159.96</a:t>
            </a:r>
          </a:p>
          <a:p>
            <a:endParaRPr lang="en-US" altLang="ru-RU" i="1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" y="2143760"/>
            <a:ext cx="11907520" cy="2022475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883285" y="4420870"/>
            <a:ext cx="108115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ru-RU" sz="2800" i="1">
                <a:latin typeface="Arial" panose="020B0604020202020204" pitchFamily="34" charset="0"/>
                <a:cs typeface="Arial" panose="020B0604020202020204" pitchFamily="34" charset="0"/>
              </a:rPr>
              <a:t>$ docker node ls - </a:t>
            </a:r>
            <a:r>
              <a:rPr lang="uk-UA" altLang="ru-RU" sz="2800">
                <a:latin typeface="Arial" panose="020B0604020202020204" pitchFamily="34" charset="0"/>
                <a:cs typeface="Arial" panose="020B0604020202020204" pitchFamily="34" charset="0"/>
              </a:rPr>
              <a:t>перевірити список нодів</a:t>
            </a:r>
          </a:p>
        </p:txBody>
      </p:sp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285" y="5197475"/>
            <a:ext cx="10680065" cy="9404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altLang="en-US" dirty="0">
                <a:latin typeface="Arial" panose="020B0604020202020204" pitchFamily="34" charset="0"/>
                <a:cs typeface="Arial" panose="020B0604020202020204" pitchFamily="34" charset="0"/>
              </a:rPr>
              <a:t>Створення </a:t>
            </a:r>
            <a:r>
              <a:rPr lang="en-US" altLang="uk-UA" dirty="0">
                <a:latin typeface="Arial" panose="020B0604020202020204" pitchFamily="34" charset="0"/>
                <a:cs typeface="Arial" panose="020B0604020202020204" pitchFamily="34" charset="0"/>
              </a:rPr>
              <a:t>Docker Service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584325"/>
            <a:ext cx="10515600" cy="4351338"/>
          </a:xfrm>
        </p:spPr>
        <p:txBody>
          <a:bodyPr/>
          <a:lstStyle/>
          <a:p>
            <a:r>
              <a:rPr lang="uk-UA" altLang="ru-RU" b="1" i="1" dirty="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----Створення </a:t>
            </a:r>
            <a:r>
              <a:rPr lang="uk-UA" altLang="ru-RU" b="1" i="1" dirty="0" err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сервіса</a:t>
            </a:r>
            <a:r>
              <a:rPr lang="uk-UA" altLang="ru-RU" b="1" i="1" dirty="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------</a:t>
            </a:r>
          </a:p>
          <a:p>
            <a:r>
              <a:rPr lang="en-US" altLang="ru-RU" i="1" dirty="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 service create --name web --replicas 3 -p 80:80 nginx</a:t>
            </a:r>
          </a:p>
          <a:p>
            <a:r>
              <a:rPr lang="uk-UA" altLang="ru-RU" b="1" i="1" dirty="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----Переглянути стан сервісів------</a:t>
            </a:r>
            <a:endParaRPr lang="en-US" altLang="ru-RU" b="1" i="1" dirty="0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 i="1" dirty="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 service ls</a:t>
            </a:r>
          </a:p>
          <a:p>
            <a:r>
              <a:rPr lang="uk-UA" altLang="ru-RU" b="1" i="1" dirty="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----Масштабування сервісу------</a:t>
            </a:r>
            <a:endParaRPr lang="en-US" altLang="ru-RU" b="1" i="1" dirty="0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 i="1" dirty="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 service scale web=5</a:t>
            </a:r>
          </a:p>
          <a:p>
            <a:endParaRPr lang="en-US" altLang="ru-RU" i="1" dirty="0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ru-RU" i="1" dirty="0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5359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altLang="en-US" dirty="0">
                <a:latin typeface="Arial" panose="020B0604020202020204" pitchFamily="34" charset="0"/>
                <a:cs typeface="Arial" panose="020B0604020202020204" pitchFamily="34" charset="0"/>
              </a:rPr>
              <a:t>Структура </a:t>
            </a:r>
            <a:r>
              <a:rPr lang="en-US" altLang="uk-UA" dirty="0">
                <a:latin typeface="Arial" panose="020B0604020202020204" pitchFamily="34" charset="0"/>
                <a:cs typeface="Arial" panose="020B0604020202020204" pitchFamily="34" charset="0"/>
              </a:rPr>
              <a:t>Docker Swarm Cluster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584325"/>
            <a:ext cx="10515600" cy="4351338"/>
          </a:xfrm>
        </p:spPr>
        <p:txBody>
          <a:bodyPr/>
          <a:lstStyle/>
          <a:p>
            <a:endParaRPr lang="en-US" altLang="ru-RU" i="1" dirty="0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ru-RU" i="1" dirty="0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D303FE-A228-A9E6-8194-CFB94FFDE7B7}"/>
              </a:ext>
            </a:extLst>
          </p:cNvPr>
          <p:cNvSpPr txBox="1"/>
          <p:nvPr/>
        </p:nvSpPr>
        <p:spPr>
          <a:xfrm>
            <a:off x="2075290" y="1645920"/>
            <a:ext cx="871463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A" dirty="0"/>
              <a:t>+-------------------+      +-------------------+</a:t>
            </a:r>
          </a:p>
          <a:p>
            <a:r>
              <a:rPr lang="en-UA" dirty="0"/>
              <a:t>| Manager Node      |      | Worker Node 1     |</a:t>
            </a:r>
          </a:p>
          <a:p>
            <a:r>
              <a:rPr lang="en-UA" dirty="0"/>
              <a:t>| - Controls swarm  |&lt;----&gt;| - Runs containers |</a:t>
            </a:r>
          </a:p>
          <a:p>
            <a:r>
              <a:rPr lang="en-UA" dirty="0"/>
              <a:t>| - Stores state    |      |                   |</a:t>
            </a:r>
          </a:p>
          <a:p>
            <a:r>
              <a:rPr lang="en-UA" dirty="0"/>
              <a:t>+-------------------+      +-------------------+</a:t>
            </a:r>
          </a:p>
          <a:p>
            <a:r>
              <a:rPr lang="en-UA" dirty="0"/>
              <a:t>          |</a:t>
            </a:r>
          </a:p>
          <a:p>
            <a:r>
              <a:rPr lang="en-UA" dirty="0"/>
              <a:t>          v</a:t>
            </a:r>
          </a:p>
          <a:p>
            <a:r>
              <a:rPr lang="en-UA" dirty="0"/>
              <a:t>     +-------------------+</a:t>
            </a:r>
          </a:p>
          <a:p>
            <a:r>
              <a:rPr lang="en-UA" dirty="0"/>
              <a:t>     | Worker Node 2     |</a:t>
            </a:r>
          </a:p>
          <a:p>
            <a:r>
              <a:rPr lang="en-UA" dirty="0"/>
              <a:t>     | - Runs containers |</a:t>
            </a:r>
          </a:p>
          <a:p>
            <a:r>
              <a:rPr lang="en-UA" dirty="0"/>
              <a:t>     +-------------------+</a:t>
            </a:r>
          </a:p>
        </p:txBody>
      </p:sp>
    </p:spTree>
    <p:extLst>
      <p:ext uri="{BB962C8B-B14F-4D97-AF65-F5344CB8AC3E}">
        <p14:creationId xmlns:p14="http://schemas.microsoft.com/office/powerpoint/2010/main" val="1095058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altLang="ru-RU">
                <a:latin typeface="Arial" panose="020B0604020202020204" pitchFamily="34" charset="0"/>
                <a:cs typeface="Arial" panose="020B0604020202020204" pitchFamily="34" charset="0"/>
              </a:rPr>
              <a:t>Переваги та недоліки</a:t>
            </a:r>
          </a:p>
        </p:txBody>
      </p:sp>
      <p:graphicFrame>
        <p:nvGraphicFramePr>
          <p:cNvPr id="4" name="Таблица 3"/>
          <p:cNvGraphicFramePr/>
          <p:nvPr>
            <p:custDataLst>
              <p:tags r:id="rId1"/>
            </p:custDataLst>
          </p:nvPr>
        </p:nvGraphicFramePr>
        <p:xfrm>
          <a:off x="853440" y="1581150"/>
          <a:ext cx="10485120" cy="4488180"/>
        </p:xfrm>
        <a:graphic>
          <a:graphicData uri="http://schemas.openxmlformats.org/drawingml/2006/table">
            <a:tbl>
              <a:tblPr/>
              <a:tblGrid>
                <a:gridCol w="524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4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80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Переваги Docker Swarm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Недоліки Docker Swarm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80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Вбудована інтеграція в Docker (не потребує додаткових інструментів)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Менша спільнота та підтримка порівняно з Kubernetes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80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Простота налаштування та використання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Обмежений функціонал для складних систем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80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Легке масштабування сервісів за допомогою replicas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Менш розвинуті інструменти моніторингу та логування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80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Автовідновлення контейнерів у разі збою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 завжди підходить для великих enterprise-проєктів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80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Підтримка overlay-мереж для взаємодії між вузлами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Майбутній розвиток менш активний, ніж у Kubernetes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Що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таке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стек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App + DB?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Описати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конфігурацію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застосунку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бази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даних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Запустити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їх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разом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як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взаємопов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язані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сервіси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Забезпечити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стабільну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роботу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масштабування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4" name="Изображение 3"/>
          <p:cNvPicPr/>
          <p:nvPr/>
        </p:nvPicPr>
        <p:blipFill>
          <a:blip r:embed="rId2"/>
          <a:stretch>
            <a:fillRect/>
          </a:stretch>
        </p:blipFill>
        <p:spPr>
          <a:xfrm>
            <a:off x="2905125" y="3378200"/>
            <a:ext cx="6001385" cy="3479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Архітектура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стеку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lstStyle/>
          <a:p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Стек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складається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двох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основних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сервісів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 (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застосунок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–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веб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додаток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або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API,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який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обробляє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запити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користувачів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 (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база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даних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–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зберігає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всі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дані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застосунку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користувачі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продукти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налаштування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endParaRPr lang="en-US" altLang="ru-RU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Таке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розгортання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дозволяє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Легко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масштабувати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App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без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зміни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DB.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Відокремити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логіку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додатку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від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даних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Підтримувати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стабільність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переносимість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середовища</a:t>
            </a:r>
            <a:r>
              <a:rPr lang="en-US" altLang="ru-RU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Docker Compose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App + DB</a:t>
            </a:r>
          </a:p>
        </p:txBody>
      </p:sp>
      <p:pic>
        <p:nvPicPr>
          <p:cNvPr id="4" name="Изображение 3"/>
          <p:cNvPicPr/>
          <p:nvPr/>
        </p:nvPicPr>
        <p:blipFill>
          <a:blip r:embed="rId2"/>
          <a:stretch>
            <a:fillRect/>
          </a:stretch>
        </p:blipFill>
        <p:spPr>
          <a:xfrm>
            <a:off x="1858645" y="1781175"/>
            <a:ext cx="8413115" cy="430085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Файл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docker-compose.yml</a:t>
            </a:r>
          </a:p>
        </p:txBody>
      </p:sp>
      <p:pic>
        <p:nvPicPr>
          <p:cNvPr id="5" name="Изображение 4"/>
          <p:cNvPicPr/>
          <p:nvPr/>
        </p:nvPicPr>
        <p:blipFill>
          <a:blip r:embed="rId2"/>
          <a:stretch>
            <a:fillRect/>
          </a:stretch>
        </p:blipFill>
        <p:spPr>
          <a:xfrm>
            <a:off x="2787015" y="1584325"/>
            <a:ext cx="5169535" cy="47980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214" y="107370"/>
            <a:ext cx="10515600" cy="1325563"/>
          </a:xfrm>
        </p:spPr>
        <p:txBody>
          <a:bodyPr/>
          <a:lstStyle/>
          <a:p>
            <a:pPr algn="ctr"/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Файл</a:t>
            </a:r>
            <a:r>
              <a:rPr lang="en-US" altLang="ru-RU" dirty="0">
                <a:latin typeface="Arial" panose="020B0604020202020204" pitchFamily="34" charset="0"/>
                <a:cs typeface="Arial" panose="020B0604020202020204" pitchFamily="34" charset="0"/>
              </a:rPr>
              <a:t> docker-</a:t>
            </a:r>
            <a:r>
              <a:rPr lang="en-US" altLang="ru-RU" dirty="0" err="1">
                <a:latin typeface="Arial" panose="020B0604020202020204" pitchFamily="34" charset="0"/>
                <a:cs typeface="Arial" panose="020B0604020202020204" pitchFamily="34" charset="0"/>
              </a:rPr>
              <a:t>compose.yml</a:t>
            </a:r>
            <a:endParaRPr lang="en-US" alt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DF2F19-CB28-AE5E-D6D0-C1C9DDFED5E2}"/>
              </a:ext>
            </a:extLst>
          </p:cNvPr>
          <p:cNvSpPr txBox="1"/>
          <p:nvPr/>
        </p:nvSpPr>
        <p:spPr>
          <a:xfrm>
            <a:off x="1781092" y="1687374"/>
            <a:ext cx="8189844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A" sz="1400" dirty="0"/>
              <a:t>version: "3.8"</a:t>
            </a:r>
          </a:p>
          <a:p>
            <a:endParaRPr lang="en-UA" sz="1400" dirty="0"/>
          </a:p>
          <a:p>
            <a:r>
              <a:rPr lang="en-UA" sz="1400" dirty="0"/>
              <a:t>services:</a:t>
            </a:r>
          </a:p>
          <a:p>
            <a:r>
              <a:rPr lang="en-UA" sz="1400" dirty="0"/>
              <a:t>  web:</a:t>
            </a:r>
          </a:p>
          <a:p>
            <a:r>
              <a:rPr lang="en-UA" sz="1400" dirty="0"/>
              <a:t>    image: nginx:latest</a:t>
            </a:r>
          </a:p>
          <a:p>
            <a:r>
              <a:rPr lang="en-UA" sz="1400" dirty="0"/>
              <a:t>    ports:</a:t>
            </a:r>
          </a:p>
          <a:p>
            <a:r>
              <a:rPr lang="en-UA" sz="1400" dirty="0"/>
              <a:t>      - "80:80"</a:t>
            </a:r>
          </a:p>
          <a:p>
            <a:r>
              <a:rPr lang="en-UA" sz="1400" dirty="0"/>
              <a:t>    deploy:</a:t>
            </a:r>
          </a:p>
          <a:p>
            <a:r>
              <a:rPr lang="en-UA" sz="1400" dirty="0"/>
              <a:t>      replicas: 3</a:t>
            </a:r>
          </a:p>
          <a:p>
            <a:r>
              <a:rPr lang="en-UA" sz="1400" dirty="0"/>
              <a:t>      placement:</a:t>
            </a:r>
          </a:p>
          <a:p>
            <a:r>
              <a:rPr lang="en-UA" sz="1400" dirty="0"/>
              <a:t>        constraints: [node.role == worker]</a:t>
            </a:r>
          </a:p>
          <a:p>
            <a:r>
              <a:rPr lang="en-UA" sz="1400" dirty="0"/>
              <a:t>      restart_policy:</a:t>
            </a:r>
          </a:p>
          <a:p>
            <a:r>
              <a:rPr lang="en-UA" sz="1400" dirty="0"/>
              <a:t>        condition: any</a:t>
            </a:r>
          </a:p>
          <a:p>
            <a:endParaRPr lang="en-UA" sz="1400" dirty="0"/>
          </a:p>
          <a:p>
            <a:r>
              <a:rPr lang="en-UA" sz="1400" dirty="0"/>
              <a:t>  visualizer:</a:t>
            </a:r>
          </a:p>
          <a:p>
            <a:r>
              <a:rPr lang="en-UA" sz="1400" dirty="0"/>
              <a:t>    image: dockersamples/visualizer:latest</a:t>
            </a:r>
          </a:p>
          <a:p>
            <a:r>
              <a:rPr lang="en-UA" sz="1400" dirty="0"/>
              <a:t>    ports:</a:t>
            </a:r>
          </a:p>
          <a:p>
            <a:r>
              <a:rPr lang="en-UA" sz="1400" dirty="0"/>
              <a:t>      - "8080:8080"</a:t>
            </a:r>
          </a:p>
          <a:p>
            <a:r>
              <a:rPr lang="en-UA" sz="1400" dirty="0"/>
              <a:t>    volumes:</a:t>
            </a:r>
          </a:p>
          <a:p>
            <a:r>
              <a:rPr lang="en-UA" sz="1400" dirty="0"/>
              <a:t>      - "/var/run/docker.sock:/var/run/docker.sock"</a:t>
            </a:r>
          </a:p>
          <a:p>
            <a:r>
              <a:rPr lang="en-UA" sz="1400" dirty="0"/>
              <a:t>    deploy:</a:t>
            </a:r>
          </a:p>
          <a:p>
            <a:r>
              <a:rPr lang="en-UA" sz="1400" dirty="0"/>
              <a:t>      placement:</a:t>
            </a:r>
          </a:p>
          <a:p>
            <a:r>
              <a:rPr lang="en-UA" sz="1400" dirty="0"/>
              <a:t>        constraints: [node.role == manager]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93BC45-4022-40FD-86CC-57A8750EA37E}"/>
              </a:ext>
            </a:extLst>
          </p:cNvPr>
          <p:cNvSpPr txBox="1"/>
          <p:nvPr/>
        </p:nvSpPr>
        <p:spPr>
          <a:xfrm>
            <a:off x="1663811" y="1145943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A" dirty="0"/>
              <a:t>docker stack deploy -c docker-compose.yml mystack</a:t>
            </a:r>
          </a:p>
        </p:txBody>
      </p:sp>
    </p:spTree>
    <p:extLst>
      <p:ext uri="{BB962C8B-B14F-4D97-AF65-F5344CB8AC3E}">
        <p14:creationId xmlns:p14="http://schemas.microsoft.com/office/powerpoint/2010/main" val="39832391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214" y="107370"/>
            <a:ext cx="10515600" cy="1325563"/>
          </a:xfrm>
        </p:spPr>
        <p:txBody>
          <a:bodyPr/>
          <a:lstStyle/>
          <a:p>
            <a:pPr algn="ctr"/>
            <a:r>
              <a:rPr lang="uk-UA" altLang="en-US" dirty="0">
                <a:latin typeface="Arial" panose="020B0604020202020204" pitchFamily="34" charset="0"/>
                <a:cs typeface="Arial" panose="020B0604020202020204" pitchFamily="34" charset="0"/>
              </a:rPr>
              <a:t>Представлення у </a:t>
            </a:r>
            <a:r>
              <a:rPr lang="uk-UA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бравзері</a:t>
            </a:r>
            <a:endParaRPr lang="en-US" alt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949622-8793-8262-0FE7-E7913E224877}"/>
              </a:ext>
            </a:extLst>
          </p:cNvPr>
          <p:cNvSpPr txBox="1"/>
          <p:nvPr/>
        </p:nvSpPr>
        <p:spPr>
          <a:xfrm>
            <a:off x="1038970" y="2801162"/>
            <a:ext cx="1011405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A" dirty="0"/>
              <a:t>+--------------------------------------------------------+</a:t>
            </a:r>
          </a:p>
          <a:p>
            <a:r>
              <a:rPr lang="en-UA" dirty="0"/>
              <a:t>| node1 (manager)                                        |</a:t>
            </a:r>
          </a:p>
          <a:p>
            <a:r>
              <a:rPr lang="en-UA" dirty="0"/>
              <a:t>|  [visualizer:8080] 🟢                                  |</a:t>
            </a:r>
          </a:p>
          <a:p>
            <a:r>
              <a:rPr lang="en-UA" dirty="0"/>
              <a:t>+--------------------------------------------------------+</a:t>
            </a:r>
          </a:p>
          <a:p>
            <a:r>
              <a:rPr lang="en-UA" dirty="0"/>
              <a:t>| node2 (worker)                                         |</a:t>
            </a:r>
          </a:p>
          <a:p>
            <a:r>
              <a:rPr lang="en-UA" dirty="0"/>
              <a:t>|  [nginx.1] 🟢                |</a:t>
            </a:r>
          </a:p>
          <a:p>
            <a:r>
              <a:rPr lang="en-UA" dirty="0"/>
              <a:t>+--------------------------------------------------------+</a:t>
            </a:r>
          </a:p>
          <a:p>
            <a:r>
              <a:rPr lang="en-UA" dirty="0"/>
              <a:t>| node3 (worker)                                         |</a:t>
            </a:r>
          </a:p>
          <a:p>
            <a:r>
              <a:rPr lang="en-UA" dirty="0"/>
              <a:t>|  [nginx.2] 🟢 [nginx.3] |</a:t>
            </a:r>
          </a:p>
          <a:p>
            <a:r>
              <a:rPr lang="en-UA" dirty="0"/>
              <a:t>+--------------------------------------------------------+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33597E-2953-CA91-85D5-87C3CC8DC45C}"/>
              </a:ext>
            </a:extLst>
          </p:cNvPr>
          <p:cNvSpPr txBox="1"/>
          <p:nvPr/>
        </p:nvSpPr>
        <p:spPr>
          <a:xfrm>
            <a:off x="1086677" y="1799834"/>
            <a:ext cx="6094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http://&lt;IP-</a:t>
            </a:r>
            <a:r>
              <a:rPr lang="uk-UA" dirty="0"/>
              <a:t>менеджера&gt;:8080 → </a:t>
            </a:r>
            <a:r>
              <a:rPr lang="en-GB" dirty="0"/>
              <a:t>Docker Visualizer</a:t>
            </a:r>
          </a:p>
          <a:p>
            <a:r>
              <a:rPr lang="en-GB" dirty="0"/>
              <a:t>http://&lt;</a:t>
            </a:r>
            <a:r>
              <a:rPr lang="uk-UA" dirty="0"/>
              <a:t>будь-якого вузла&gt;:80 → сторінка </a:t>
            </a:r>
            <a:r>
              <a:rPr lang="en-GB" dirty="0"/>
              <a:t>Nginx</a:t>
            </a:r>
          </a:p>
        </p:txBody>
      </p:sp>
    </p:spTree>
    <p:extLst>
      <p:ext uri="{BB962C8B-B14F-4D97-AF65-F5344CB8AC3E}">
        <p14:creationId xmlns:p14="http://schemas.microsoft.com/office/powerpoint/2010/main" val="24462084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altLang="ru-RU">
                <a:latin typeface="Arial" panose="020B0604020202020204" pitchFamily="34" charset="0"/>
                <a:cs typeface="Arial" panose="020B0604020202020204" pitchFamily="34" charset="0"/>
              </a:rPr>
              <a:t>Висновок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ru-RU" sz="2000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 Compose: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Простий</a:t>
            </a:r>
            <a:r>
              <a:rPr lang="en-US" altLang="ru-RU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</a:t>
            </a:r>
            <a:r>
              <a:rPr lang="en-US" altLang="ru-RU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зручний</a:t>
            </a:r>
            <a:r>
              <a:rPr lang="en-US" altLang="ru-RU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lang="en-US" altLang="ru-RU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локальної</a:t>
            </a:r>
            <a:r>
              <a:rPr lang="en-US" altLang="ru-RU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розробки</a:t>
            </a:r>
            <a:endParaRPr lang="en-US" altLang="ru-RU" sz="2000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Швидкий</a:t>
            </a:r>
            <a:r>
              <a:rPr lang="en-US" altLang="ru-RU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старт</a:t>
            </a:r>
            <a:r>
              <a:rPr lang="en-US" altLang="ru-RU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</a:t>
            </a:r>
            <a:r>
              <a:rPr lang="en-US" altLang="ru-RU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відтворюваність</a:t>
            </a:r>
            <a:r>
              <a:rPr lang="en-US" altLang="ru-RU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середовища</a:t>
            </a:r>
          </a:p>
          <a:p>
            <a:endParaRPr lang="en-US" altLang="ru-RU" sz="2000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 sz="2000" b="1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 Swarm: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Підх</a:t>
            </a:r>
            <a:r>
              <a:rPr lang="uk-UA" altLang="en-US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lang="en-US" altLang="en-US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дить</a:t>
            </a:r>
            <a:r>
              <a:rPr lang="en-US" altLang="ru-RU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lang="en-US" altLang="ru-RU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продакшн</a:t>
            </a:r>
            <a:r>
              <a:rPr lang="en-US" altLang="ru-RU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середовищ</a:t>
            </a:r>
            <a:r>
              <a:rPr lang="en-US" altLang="ru-RU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</a:t>
            </a:r>
            <a:r>
              <a:rPr lang="en-US" altLang="ru-RU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масштабованих</a:t>
            </a:r>
            <a:r>
              <a:rPr lang="en-US" altLang="ru-RU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</a:t>
            </a:r>
            <a:endParaRPr lang="en-US" altLang="ru-RU" sz="2000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Автовідновлення</a:t>
            </a:r>
            <a:r>
              <a:rPr lang="en-US" altLang="ru-RU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контейнерів</a:t>
            </a:r>
            <a:r>
              <a:rPr lang="en-US" altLang="ru-RU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</a:t>
            </a:r>
            <a:r>
              <a:rPr lang="en-US" altLang="ru-RU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балансування</a:t>
            </a:r>
            <a:r>
              <a:rPr lang="en-US" altLang="ru-RU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навантаження</a:t>
            </a:r>
          </a:p>
          <a:p>
            <a:endParaRPr lang="en-US" altLang="ru-RU" sz="2000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Обидва</a:t>
            </a:r>
            <a:r>
              <a:rPr lang="en-US" altLang="ru-RU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інструменти</a:t>
            </a:r>
            <a:r>
              <a:rPr lang="en-US" altLang="ru-RU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дозволяють</a:t>
            </a:r>
            <a:r>
              <a:rPr lang="en-US" altLang="ru-RU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ефективно</a:t>
            </a:r>
            <a:r>
              <a:rPr lang="en-US" altLang="ru-RU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керувати</a:t>
            </a:r>
            <a:r>
              <a:rPr lang="en-US" altLang="ru-RU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багатоконтейнерними</a:t>
            </a:r>
            <a:r>
              <a:rPr lang="en-US" altLang="ru-RU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застосунками</a:t>
            </a:r>
            <a:endParaRPr lang="en-US" altLang="ru-RU" sz="2000">
              <a:solidFill>
                <a:srgbClr val="20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Вибір</a:t>
            </a:r>
            <a:r>
              <a:rPr lang="en-US" altLang="ru-RU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між</a:t>
            </a:r>
            <a:r>
              <a:rPr lang="en-US" altLang="ru-RU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ними</a:t>
            </a:r>
            <a:r>
              <a:rPr lang="en-US" altLang="ru-RU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залежить</a:t>
            </a:r>
            <a:r>
              <a:rPr lang="en-US" altLang="ru-RU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від</a:t>
            </a:r>
            <a:r>
              <a:rPr lang="en-US" altLang="ru-RU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задач</a:t>
            </a:r>
            <a:r>
              <a:rPr lang="en-US" altLang="ru-RU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Compose </a:t>
            </a:r>
            <a:r>
              <a:rPr lang="en-US" altLang="en-US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lang="en-US" altLang="ru-RU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розробки</a:t>
            </a:r>
            <a:r>
              <a:rPr lang="en-US" altLang="ru-RU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Swarm </a:t>
            </a:r>
            <a:r>
              <a:rPr lang="en-US" altLang="en-US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lang="en-US" altLang="ru-RU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масштабованого</a:t>
            </a:r>
            <a:r>
              <a:rPr lang="en-US" altLang="ru-RU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>
                <a:solidFill>
                  <a:srgbClr val="20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продакшн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25*347"/>
  <p:tag name="TABLE_ENDDRAG_RECT" val="67*141*825*34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25*353"/>
  <p:tag name="TABLE_ENDDRAG_RECT" val="67*124*825*35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776</Words>
  <Application>Microsoft Macintosh PowerPoint</Application>
  <PresentationFormat>Widescreen</PresentationFormat>
  <Paragraphs>170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微软雅黑</vt:lpstr>
      <vt:lpstr>Arial</vt:lpstr>
      <vt:lpstr>Calibri</vt:lpstr>
      <vt:lpstr>Calibri Light</vt:lpstr>
      <vt:lpstr>Office Theme</vt:lpstr>
      <vt:lpstr>Docker Compose та Swarm</vt:lpstr>
      <vt:lpstr>План презентації</vt:lpstr>
      <vt:lpstr>Що таке Docker Compose?</vt:lpstr>
      <vt:lpstr>Основні можливості Compose</vt:lpstr>
      <vt:lpstr>Візуалізація Docker Compose</vt:lpstr>
      <vt:lpstr>Встановлення Compose</vt:lpstr>
      <vt:lpstr>Приклад docker-compose.yml</vt:lpstr>
      <vt:lpstr>Запуск стеку з Compose</vt:lpstr>
      <vt:lpstr>Перевірка середовища</vt:lpstr>
      <vt:lpstr>Перегляд логів</vt:lpstr>
      <vt:lpstr>Інші команди </vt:lpstr>
      <vt:lpstr>Інші команди</vt:lpstr>
      <vt:lpstr>Docker Compose: переваги та недоліки</vt:lpstr>
      <vt:lpstr>Що таке Docker Swarm?</vt:lpstr>
      <vt:lpstr>Архітектура Swarm</vt:lpstr>
      <vt:lpstr>Сервіси у Swarm</vt:lpstr>
      <vt:lpstr>Ініціалізація Docker Swarm</vt:lpstr>
      <vt:lpstr>Створення Docker Service</vt:lpstr>
      <vt:lpstr>Структура Docker Swarm Cluster</vt:lpstr>
      <vt:lpstr>Переваги та недоліки</vt:lpstr>
      <vt:lpstr>Що таке стек App + DB?</vt:lpstr>
      <vt:lpstr>Архітектура стеку</vt:lpstr>
      <vt:lpstr>Docker Compose для App + DB</vt:lpstr>
      <vt:lpstr>Файл docker-compose.yml</vt:lpstr>
      <vt:lpstr>Файл docker-compose.yml</vt:lpstr>
      <vt:lpstr>Представлення у бравзері</vt:lpstr>
      <vt:lpstr>Висновок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Nazar Pleskanka</cp:lastModifiedBy>
  <cp:revision>7</cp:revision>
  <dcterms:created xsi:type="dcterms:W3CDTF">2025-08-27T19:41:00Z</dcterms:created>
  <dcterms:modified xsi:type="dcterms:W3CDTF">2025-10-14T06:56:42Z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1049-12.2.0.21931</vt:lpwstr>
  </property>
  <property fmtid="{D5CDD505-2E9C-101B-9397-08002B2CF9AE}" pid="3" name="ICV">
    <vt:lpwstr>E6FACC24BCD0499A87C5723B191E7B76_13</vt:lpwstr>
  </property>
</Properties>
</file>
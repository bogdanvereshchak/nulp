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9" r:id="rId5"/>
    <p:sldId id="260" r:id="rId6"/>
    <p:sldId id="268" r:id="rId7"/>
    <p:sldId id="265" r:id="rId8"/>
    <p:sldId id="267" r:id="rId9"/>
    <p:sldId id="269" r:id="rId10"/>
    <p:sldId id="270" r:id="rId11"/>
    <p:sldId id="279" r:id="rId12"/>
    <p:sldId id="280" r:id="rId13"/>
    <p:sldId id="281" r:id="rId14"/>
    <p:sldId id="282" r:id="rId15"/>
    <p:sldId id="283" r:id="rId16"/>
    <p:sldId id="287" r:id="rId17"/>
    <p:sldId id="288" r:id="rId18"/>
    <p:sldId id="289" r:id="rId19"/>
    <p:sldId id="290" r:id="rId20"/>
    <p:sldId id="275" r:id="rId21"/>
    <p:sldId id="271" r:id="rId22"/>
    <p:sldId id="261" r:id="rId23"/>
    <p:sldId id="272" r:id="rId24"/>
    <p:sldId id="278" r:id="rId25"/>
    <p:sldId id="273" r:id="rId26"/>
    <p:sldId id="284" r:id="rId27"/>
    <p:sldId id="285" r:id="rId28"/>
    <p:sldId id="286" r:id="rId29"/>
    <p:sldId id="274" r:id="rId30"/>
    <p:sldId id="276" r:id="rId31"/>
    <p:sldId id="27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>
        <p:scale>
          <a:sx n="156" d="100"/>
          <a:sy n="156" d="100"/>
        </p:scale>
        <p:origin x="80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jenkins.io/download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oracle.com/europe/java/technologies/downloads/#jdk21-windows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Тема</a:t>
            </a:r>
            <a:r>
              <a:rPr dirty="0"/>
              <a:t> 10: </a:t>
            </a:r>
            <a:r>
              <a:rPr dirty="0" err="1"/>
              <a:t>Вступ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Jenkins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Курс</a:t>
            </a:r>
            <a:r>
              <a:rPr dirty="0"/>
              <a:t>: </a:t>
            </a:r>
            <a:r>
              <a:rPr dirty="0" err="1"/>
              <a:t>Технології</a:t>
            </a:r>
            <a:r>
              <a:rPr dirty="0"/>
              <a:t> </a:t>
            </a:r>
            <a:r>
              <a:rPr dirty="0" err="1"/>
              <a:t>розгортання</a:t>
            </a:r>
            <a:r>
              <a:rPr dirty="0"/>
              <a:t> </a:t>
            </a:r>
            <a:r>
              <a:rPr dirty="0" err="1"/>
              <a:t>інформаційних</a:t>
            </a:r>
            <a:r>
              <a:rPr dirty="0"/>
              <a:t> </a:t>
            </a:r>
            <a:r>
              <a:rPr dirty="0" err="1"/>
              <a:t>систем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теми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uk-UA" dirty="0"/>
          </a:p>
          <a:p>
            <a:r>
              <a:rPr dirty="0" err="1"/>
              <a:t>Призначення</a:t>
            </a:r>
            <a:r>
              <a:rPr dirty="0"/>
              <a:t> Jenkins у CI/CD</a:t>
            </a:r>
          </a:p>
          <a:p>
            <a:r>
              <a:rPr dirty="0" err="1"/>
              <a:t>Установка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налаштування</a:t>
            </a:r>
            <a:endParaRPr lang="uk-UA" dirty="0"/>
          </a:p>
          <a:p>
            <a:r>
              <a:rPr lang="uk-UA" dirty="0"/>
              <a:t>Основні плагіни та </a:t>
            </a:r>
            <a:r>
              <a:rPr lang="uk-UA" dirty="0" err="1"/>
              <a:t>іх</a:t>
            </a:r>
            <a:r>
              <a:rPr lang="uk-UA" dirty="0"/>
              <a:t> використання</a:t>
            </a:r>
          </a:p>
          <a:p>
            <a:r>
              <a:rPr lang="en-US" dirty="0"/>
              <a:t>Credentials </a:t>
            </a:r>
            <a:r>
              <a:rPr lang="uk-UA" dirty="0"/>
              <a:t>(Секрети в </a:t>
            </a:r>
            <a:r>
              <a:rPr lang="uk-UA" dirty="0" err="1"/>
              <a:t>Дженкінс</a:t>
            </a:r>
            <a:r>
              <a:rPr lang="uk-UA" dirty="0"/>
              <a:t>)</a:t>
            </a:r>
            <a:endParaRPr dirty="0"/>
          </a:p>
          <a:p>
            <a:r>
              <a:rPr dirty="0" err="1"/>
              <a:t>Створення</a:t>
            </a:r>
            <a:r>
              <a:rPr dirty="0"/>
              <a:t> </a:t>
            </a:r>
            <a:r>
              <a:rPr dirty="0" err="1"/>
              <a:t>джобів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інтеграція</a:t>
            </a:r>
            <a:r>
              <a:rPr dirty="0"/>
              <a:t> з Git</a:t>
            </a:r>
            <a:endParaRPr lang="uk-UA" dirty="0"/>
          </a:p>
          <a:p>
            <a:r>
              <a:rPr lang="en-US" dirty="0"/>
              <a:t>Build Nodes (</a:t>
            </a:r>
            <a:r>
              <a:rPr lang="uk-UA" dirty="0"/>
              <a:t>Агенти </a:t>
            </a:r>
            <a:r>
              <a:rPr lang="en-US" dirty="0"/>
              <a:t>Jenkins) </a:t>
            </a:r>
            <a:endParaRPr dirty="0"/>
          </a:p>
          <a:p>
            <a:r>
              <a:rPr dirty="0" err="1"/>
              <a:t>Практика</a:t>
            </a:r>
            <a:r>
              <a:rPr dirty="0"/>
              <a:t>: </a:t>
            </a:r>
            <a:r>
              <a:rPr dirty="0" err="1"/>
              <a:t>збірка</a:t>
            </a:r>
            <a:r>
              <a:rPr dirty="0"/>
              <a:t> </a:t>
            </a:r>
            <a:r>
              <a:rPr dirty="0" err="1"/>
              <a:t>простого</a:t>
            </a:r>
            <a:r>
              <a:rPr dirty="0"/>
              <a:t> </a:t>
            </a:r>
            <a:r>
              <a:rPr dirty="0" err="1"/>
              <a:t>проєкту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таке </a:t>
            </a:r>
            <a:r>
              <a:rPr lang="en-US" dirty="0"/>
              <a:t>CI/CD</a:t>
            </a:r>
            <a:endParaRPr lang="uk-UA" dirty="0"/>
          </a:p>
        </p:txBody>
      </p:sp>
      <p:sp>
        <p:nvSpPr>
          <p:cNvPr id="9" name="Объект 8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sz="1800" dirty="0"/>
              <a:t>Перш ніж перейти до </a:t>
            </a:r>
            <a:r>
              <a:rPr lang="en-US" sz="1800" dirty="0"/>
              <a:t>Jenkins </a:t>
            </a:r>
            <a:r>
              <a:rPr lang="uk-UA" sz="1800" dirty="0"/>
              <a:t>нагадаємо собі що таке </a:t>
            </a:r>
            <a:r>
              <a:rPr lang="en-US" sz="1800" dirty="0"/>
              <a:t>CI/CD </a:t>
            </a:r>
            <a:r>
              <a:rPr lang="uk-UA" sz="1800" dirty="0"/>
              <a:t>щоб зрозуміти які саме функції </a:t>
            </a:r>
            <a:r>
              <a:rPr lang="en-US" sz="1800" dirty="0"/>
              <a:t> Jenkins </a:t>
            </a:r>
            <a:r>
              <a:rPr lang="uk-UA" sz="1800" dirty="0"/>
              <a:t>виконує</a:t>
            </a:r>
            <a:r>
              <a:rPr lang="en-US" sz="1800" dirty="0"/>
              <a:t>:</a:t>
            </a:r>
          </a:p>
          <a:p>
            <a:pPr lvl="1"/>
            <a:r>
              <a:rPr lang="en-US" sz="1400" dirty="0"/>
              <a:t>CI (Continuous Integration) – </a:t>
            </a:r>
            <a:r>
              <a:rPr lang="uk-UA" sz="1400" dirty="0"/>
              <a:t>автоматичне збирання та тестування коду при кожному зміненні у </a:t>
            </a:r>
            <a:r>
              <a:rPr lang="uk-UA" sz="1400" dirty="0" err="1"/>
              <a:t>репозиторії</a:t>
            </a:r>
            <a:r>
              <a:rPr lang="uk-UA" sz="1400" dirty="0"/>
              <a:t>.</a:t>
            </a:r>
            <a:endParaRPr lang="en-US" sz="1400" dirty="0"/>
          </a:p>
          <a:p>
            <a:pPr lvl="1"/>
            <a:r>
              <a:rPr lang="en-US" sz="1400" dirty="0"/>
              <a:t>CD (Continuous Delivery/Deployment) – </a:t>
            </a:r>
            <a:r>
              <a:rPr lang="uk-UA" sz="1400" dirty="0"/>
              <a:t>автоматична доставка та розгортання застосунку на середовищах.</a:t>
            </a:r>
            <a:endParaRPr lang="en-US" sz="1400" dirty="0"/>
          </a:p>
          <a:p>
            <a:pPr lvl="1"/>
            <a:r>
              <a:rPr lang="uk-UA" sz="1400" dirty="0"/>
              <a:t>Головна мета: швидке й стабільне постачання програмного забезпечення.</a:t>
            </a:r>
          </a:p>
          <a:p>
            <a:endParaRPr lang="uk-UA" sz="1800" dirty="0"/>
          </a:p>
        </p:txBody>
      </p:sp>
      <p:pic>
        <p:nvPicPr>
          <p:cNvPr id="13" name="Picture 4" descr="Building an Effective CI/CD Pipeline: A Comprehensive Guide | by Roman  Burdiuzha | Medium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817206"/>
            <a:ext cx="4519647" cy="209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621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Призначення </a:t>
            </a:r>
            <a:r>
              <a:rPr lang="en-US" dirty="0"/>
              <a:t>Jenkins </a:t>
            </a:r>
            <a:r>
              <a:rPr lang="uk-UA" dirty="0"/>
              <a:t>у </a:t>
            </a:r>
            <a:r>
              <a:rPr lang="en-US" dirty="0"/>
              <a:t>CI/CD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uk-UA" dirty="0"/>
              <a:t>Автоматизує процеси збірки, тестування та </a:t>
            </a:r>
            <a:r>
              <a:rPr lang="uk-UA" dirty="0" err="1"/>
              <a:t>деплойменту</a:t>
            </a:r>
            <a:r>
              <a:rPr lang="uk-UA" dirty="0"/>
              <a:t>.</a:t>
            </a:r>
          </a:p>
          <a:p>
            <a:r>
              <a:rPr lang="uk-UA" dirty="0"/>
              <a:t>Підтримує інтеграцію з </a:t>
            </a:r>
            <a:r>
              <a:rPr lang="en-US" dirty="0" err="1"/>
              <a:t>Git</a:t>
            </a:r>
            <a:r>
              <a:rPr lang="en-US" dirty="0"/>
              <a:t>, Docker, Kubernetes </a:t>
            </a:r>
            <a:r>
              <a:rPr lang="uk-UA" dirty="0"/>
              <a:t>та сотнями інших сервісів через </a:t>
            </a:r>
            <a:r>
              <a:rPr lang="uk-UA" dirty="0" err="1"/>
              <a:t>плагіни</a:t>
            </a:r>
            <a:r>
              <a:rPr lang="uk-UA" dirty="0"/>
              <a:t>.</a:t>
            </a:r>
          </a:p>
          <a:p>
            <a:r>
              <a:rPr lang="uk-UA" dirty="0"/>
              <a:t>Дозволяє реалізувати </a:t>
            </a:r>
            <a:r>
              <a:rPr lang="en-US" dirty="0"/>
              <a:t>Pipeline as Code (</a:t>
            </a:r>
            <a:r>
              <a:rPr lang="uk-UA" dirty="0"/>
              <a:t>опис процесів у </a:t>
            </a:r>
            <a:r>
              <a:rPr lang="en-US" dirty="0" err="1"/>
              <a:t>Jenkinsfile</a:t>
            </a:r>
            <a:r>
              <a:rPr lang="en-US" dirty="0"/>
              <a:t>).</a:t>
            </a:r>
            <a:endParaRPr lang="uk-UA" dirty="0"/>
          </a:p>
          <a:p>
            <a:r>
              <a:rPr lang="uk-UA" dirty="0"/>
              <a:t>Забезпечує стабільність, швидкість і повторюваність доставки програмного забезпечення.</a:t>
            </a:r>
          </a:p>
        </p:txBody>
      </p:sp>
      <p:pic>
        <p:nvPicPr>
          <p:cNvPr id="1026" name="Picture 2" descr="ALL You Need To Know About Jenkin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081149"/>
            <a:ext cx="4038600" cy="3564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092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Встановлення та налаштування</a:t>
            </a:r>
            <a:r>
              <a:rPr lang="en-US" dirty="0"/>
              <a:t> </a:t>
            </a:r>
            <a:r>
              <a:rPr lang="uk-UA" dirty="0"/>
              <a:t>для </a:t>
            </a:r>
            <a:r>
              <a:rPr lang="en-US" dirty="0"/>
              <a:t>Windows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Для встановлення на </a:t>
            </a:r>
            <a:r>
              <a:rPr lang="en-US" dirty="0"/>
              <a:t>Windows</a:t>
            </a:r>
            <a:r>
              <a:rPr lang="uk-UA" dirty="0"/>
              <a:t> переходимо на </a:t>
            </a:r>
            <a:r>
              <a:rPr lang="en-US" dirty="0">
                <a:hlinkClick r:id="rId2"/>
              </a:rPr>
              <a:t>https://www.jenkins.io/download</a:t>
            </a:r>
            <a:r>
              <a:rPr lang="uk-UA" dirty="0"/>
              <a:t> і встановлюємо останню </a:t>
            </a:r>
            <a:r>
              <a:rPr lang="en-US" dirty="0"/>
              <a:t>LTS </a:t>
            </a:r>
            <a:r>
              <a:rPr lang="uk-UA" dirty="0"/>
              <a:t>версію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200" y="2050520"/>
            <a:ext cx="4038600" cy="3625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26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>
                <a:cs typeface="Times New Roman" panose="02020603050405020304" pitchFamily="18" charset="0"/>
              </a:rPr>
              <a:t>Встановлення </a:t>
            </a:r>
            <a:r>
              <a:rPr lang="en-US" dirty="0">
                <a:cs typeface="Times New Roman" panose="02020603050405020304" pitchFamily="18" charset="0"/>
              </a:rPr>
              <a:t>Java </a:t>
            </a:r>
            <a:r>
              <a:rPr lang="uk-UA" dirty="0">
                <a:cs typeface="Times New Roman" panose="02020603050405020304" pitchFamily="18" charset="0"/>
              </a:rPr>
              <a:t>для </a:t>
            </a:r>
            <a:r>
              <a:rPr lang="en-US" dirty="0">
                <a:cs typeface="Times New Roman" panose="02020603050405020304" pitchFamily="18" charset="0"/>
              </a:rPr>
              <a:t>Jenkins </a:t>
            </a:r>
            <a:endParaRPr lang="uk-UA" dirty="0"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uk-UA" dirty="0">
                <a:cs typeface="Times New Roman" panose="02020603050405020304" pitchFamily="18" charset="0"/>
              </a:rPr>
              <a:t>Переходимо на </a:t>
            </a:r>
            <a:r>
              <a:rPr lang="en-US" dirty="0">
                <a:cs typeface="Times New Roman" panose="02020603050405020304" pitchFamily="18" charset="0"/>
                <a:hlinkClick r:id="rId2"/>
              </a:rPr>
              <a:t>https://www.oracle.com/europe/java/technologies/downloads/#jdk21-windows</a:t>
            </a:r>
            <a:r>
              <a:rPr lang="uk-UA" dirty="0">
                <a:cs typeface="Times New Roman" panose="02020603050405020304" pitchFamily="18" charset="0"/>
              </a:rPr>
              <a:t> та </a:t>
            </a:r>
            <a:r>
              <a:rPr lang="uk-UA" dirty="0" err="1">
                <a:cs typeface="Times New Roman" panose="02020603050405020304" pitchFamily="18" charset="0"/>
              </a:rPr>
              <a:t>вствновлюємо</a:t>
            </a:r>
            <a:r>
              <a:rPr lang="uk-UA" dirty="0">
                <a:cs typeface="Times New Roman" panose="02020603050405020304" pitchFamily="18" charset="0"/>
              </a:rPr>
              <a:t> </a:t>
            </a:r>
            <a:r>
              <a:rPr lang="en-US" dirty="0">
                <a:cs typeface="Times New Roman" panose="02020603050405020304" pitchFamily="18" charset="0"/>
              </a:rPr>
              <a:t>JDK-21 (Jenkins </a:t>
            </a:r>
            <a:r>
              <a:rPr lang="uk-UA" dirty="0">
                <a:cs typeface="Times New Roman" panose="02020603050405020304" pitchFamily="18" charset="0"/>
              </a:rPr>
              <a:t>також підтримує і 17 версію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uk-UA" dirty="0">
                <a:cs typeface="Times New Roman" panose="02020603050405020304" pitchFamily="18" charset="0"/>
              </a:rPr>
              <a:t>за необхідності можете встановити і її)</a:t>
            </a:r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200" y="3383377"/>
            <a:ext cx="4038600" cy="95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283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Продовжуємо встановлення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Запускаємо інсталяцію </a:t>
            </a:r>
            <a:r>
              <a:rPr lang="en-US" dirty="0"/>
              <a:t>.</a:t>
            </a:r>
            <a:r>
              <a:rPr lang="en-US" dirty="0" err="1"/>
              <a:t>msi</a:t>
            </a:r>
            <a:r>
              <a:rPr lang="en-US" dirty="0"/>
              <a:t> </a:t>
            </a:r>
            <a:r>
              <a:rPr lang="uk-UA" dirty="0"/>
              <a:t>файлу</a:t>
            </a:r>
            <a:endParaRPr lang="en-US" dirty="0"/>
          </a:p>
          <a:p>
            <a:r>
              <a:rPr lang="uk-UA" dirty="0"/>
              <a:t>Далі</a:t>
            </a:r>
            <a:r>
              <a:rPr lang="en-US" dirty="0"/>
              <a:t> </a:t>
            </a:r>
            <a:r>
              <a:rPr lang="uk-UA" dirty="0"/>
              <a:t>у вкладці </a:t>
            </a:r>
            <a:r>
              <a:rPr lang="en-US" dirty="0"/>
              <a:t>Logon Type </a:t>
            </a:r>
            <a:r>
              <a:rPr lang="uk-UA" dirty="0"/>
              <a:t>вибираємо </a:t>
            </a:r>
            <a:r>
              <a:rPr lang="en-US" i="1" dirty="0"/>
              <a:t>Run service as </a:t>
            </a:r>
            <a:r>
              <a:rPr lang="en-US" i="1" dirty="0" err="1"/>
              <a:t>LocalSystem</a:t>
            </a:r>
            <a:r>
              <a:rPr lang="en-US" i="1" dirty="0"/>
              <a:t> </a:t>
            </a:r>
            <a:r>
              <a:rPr lang="uk-UA" dirty="0"/>
              <a:t>для спрощення встановлення</a:t>
            </a:r>
            <a:endParaRPr lang="en-US" i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06482" y="1600200"/>
            <a:ext cx="3013788" cy="231601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6482" y="4098775"/>
            <a:ext cx="3013788" cy="232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Вибір </a:t>
            </a:r>
            <a:r>
              <a:rPr lang="uk-UA" dirty="0" err="1"/>
              <a:t>порта</a:t>
            </a:r>
            <a:r>
              <a:rPr lang="uk-UA" dirty="0"/>
              <a:t> та </a:t>
            </a:r>
            <a:r>
              <a:rPr lang="uk-UA" dirty="0" err="1"/>
              <a:t>версі</a:t>
            </a:r>
            <a:r>
              <a:rPr lang="uk-UA" dirty="0"/>
              <a:t> </a:t>
            </a:r>
            <a:r>
              <a:rPr lang="en-US" dirty="0"/>
              <a:t>Java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Лишаємо стандартний</a:t>
            </a:r>
            <a:r>
              <a:rPr lang="en-US" dirty="0"/>
              <a:t> </a:t>
            </a:r>
            <a:r>
              <a:rPr lang="uk-UA" dirty="0"/>
              <a:t>порт</a:t>
            </a:r>
            <a:r>
              <a:rPr lang="en-US" dirty="0"/>
              <a:t>, </a:t>
            </a:r>
            <a:r>
              <a:rPr lang="uk-UA" dirty="0"/>
              <a:t>змінюємо лише у випадку якщо він зайнятий</a:t>
            </a:r>
          </a:p>
          <a:p>
            <a:r>
              <a:rPr lang="uk-UA" dirty="0"/>
              <a:t>У вкладці з </a:t>
            </a:r>
            <a:r>
              <a:rPr lang="en-US" dirty="0"/>
              <a:t>Java </a:t>
            </a:r>
            <a:r>
              <a:rPr lang="uk-UA" dirty="0"/>
              <a:t>вказуємо куди ми її встановили перед тим</a:t>
            </a:r>
            <a:endParaRPr lang="en-US" dirty="0"/>
          </a:p>
          <a:p>
            <a:pPr marL="0" indent="0">
              <a:buNone/>
            </a:pPr>
            <a:endParaRPr lang="uk-UA" dirty="0"/>
          </a:p>
          <a:p>
            <a:endParaRPr lang="uk-UA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7029" y="1600200"/>
            <a:ext cx="3069771" cy="235013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029" y="4132898"/>
            <a:ext cx="3069771" cy="238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2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Вхід в </a:t>
            </a:r>
            <a:r>
              <a:rPr lang="en-US" dirty="0"/>
              <a:t>Jenkins </a:t>
            </a:r>
            <a:r>
              <a:rPr lang="uk-UA" dirty="0"/>
              <a:t>та налаштування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dirty="0"/>
              <a:t>Щоб зайти в </a:t>
            </a:r>
            <a:r>
              <a:rPr lang="en-US" dirty="0"/>
              <a:t>Jenkins </a:t>
            </a:r>
            <a:r>
              <a:rPr lang="uk-UA" dirty="0"/>
              <a:t>переходимо за </a:t>
            </a:r>
            <a:r>
              <a:rPr lang="uk-UA" dirty="0" err="1"/>
              <a:t>адресою</a:t>
            </a:r>
            <a:r>
              <a:rPr lang="uk-UA" dirty="0"/>
              <a:t> </a:t>
            </a:r>
            <a:r>
              <a:rPr lang="en-US" i="1" dirty="0">
                <a:hlinkClick r:id="rId2"/>
              </a:rPr>
              <a:t>http://localhost:8080/</a:t>
            </a:r>
            <a:r>
              <a:rPr lang="uk-UA" i="1" dirty="0"/>
              <a:t> </a:t>
            </a:r>
            <a:r>
              <a:rPr lang="uk-UA" dirty="0"/>
              <a:t>Де нас перекине на логін. Щоб розблокувати </a:t>
            </a:r>
            <a:r>
              <a:rPr lang="en-US" dirty="0"/>
              <a:t>Jenkins </a:t>
            </a:r>
            <a:r>
              <a:rPr lang="uk-UA" dirty="0"/>
              <a:t>він сам нам підказує куди потрібно перейти для отримання ключа </a:t>
            </a:r>
            <a:endParaRPr lang="uk-UA" i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48200" y="2800392"/>
            <a:ext cx="4038600" cy="212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11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4294967295"/>
          </p:nvPr>
        </p:nvSpPr>
        <p:spPr>
          <a:xfrm>
            <a:off x="261257" y="657808"/>
            <a:ext cx="4038600" cy="5794884"/>
          </a:xfrm>
        </p:spPr>
        <p:txBody>
          <a:bodyPr>
            <a:normAutofit fontScale="92500" lnSpcReduction="20000"/>
          </a:bodyPr>
          <a:lstStyle/>
          <a:p>
            <a:r>
              <a:rPr lang="uk-UA" dirty="0"/>
              <a:t>Після введення ключа вибираємо </a:t>
            </a:r>
            <a:r>
              <a:rPr lang="en-US" i="1" dirty="0"/>
              <a:t>Install suggested plugins</a:t>
            </a:r>
          </a:p>
          <a:p>
            <a:r>
              <a:rPr lang="uk-UA" dirty="0"/>
              <a:t>Після встановлення всіх </a:t>
            </a:r>
            <a:r>
              <a:rPr lang="uk-UA" dirty="0" err="1"/>
              <a:t>плагінів</a:t>
            </a:r>
            <a:r>
              <a:rPr lang="uk-UA" dirty="0"/>
              <a:t> реєструємо </a:t>
            </a:r>
            <a:r>
              <a:rPr lang="uk-UA" dirty="0" err="1"/>
              <a:t>адмін</a:t>
            </a:r>
            <a:r>
              <a:rPr lang="uk-UA" dirty="0"/>
              <a:t> </a:t>
            </a:r>
            <a:r>
              <a:rPr lang="uk-UA" dirty="0" err="1"/>
              <a:t>юзера</a:t>
            </a:r>
            <a:endParaRPr lang="uk-UA" dirty="0"/>
          </a:p>
          <a:p>
            <a:r>
              <a:rPr lang="uk-UA" dirty="0"/>
              <a:t>Далі все лишаємо по стандарту і закінчуємо встановлення і </a:t>
            </a:r>
            <a:r>
              <a:rPr lang="uk-UA" dirty="0" err="1"/>
              <a:t>базаве</a:t>
            </a:r>
            <a:r>
              <a:rPr lang="uk-UA" dirty="0"/>
              <a:t> налаштування </a:t>
            </a:r>
            <a:r>
              <a:rPr lang="en-US" dirty="0"/>
              <a:t>Jenkins</a:t>
            </a:r>
            <a:endParaRPr lang="uk-UA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4601547" y="349283"/>
            <a:ext cx="4038600" cy="283368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547" y="3627307"/>
            <a:ext cx="4038600" cy="282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58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BA857E-220D-43E0-985A-98445EEA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Встановлення на </a:t>
            </a:r>
            <a:r>
              <a:rPr lang="en-US" dirty="0"/>
              <a:t>Linux</a:t>
            </a:r>
            <a:r>
              <a:rPr lang="uk-UA" dirty="0"/>
              <a:t> 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63E39F-98A4-498D-8C30-5B9961268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uk-UA" dirty="0"/>
              <a:t>Оновити систему</a:t>
            </a:r>
            <a:r>
              <a:rPr lang="en-US" dirty="0"/>
              <a:t>: </a:t>
            </a:r>
            <a:r>
              <a:rPr lang="es-ES" i="1" dirty="0"/>
              <a:t>sudo apt update &amp;&amp; sudo apt upgrade -y</a:t>
            </a:r>
          </a:p>
          <a:p>
            <a:r>
              <a:rPr lang="ru-RU" dirty="0" err="1"/>
              <a:t>Встановити</a:t>
            </a:r>
            <a:r>
              <a:rPr lang="ru-RU" dirty="0"/>
              <a:t> </a:t>
            </a:r>
            <a:r>
              <a:rPr lang="ru-RU" dirty="0" err="1"/>
              <a:t>Java</a:t>
            </a:r>
            <a:r>
              <a:rPr lang="ru-RU" dirty="0"/>
              <a:t> (</a:t>
            </a:r>
            <a:r>
              <a:rPr lang="ru-RU" dirty="0" err="1"/>
              <a:t>Jenkins</a:t>
            </a:r>
            <a:r>
              <a:rPr lang="ru-RU" dirty="0"/>
              <a:t> </a:t>
            </a:r>
            <a:r>
              <a:rPr lang="ru-RU" dirty="0" err="1"/>
              <a:t>потребує</a:t>
            </a:r>
            <a:r>
              <a:rPr lang="ru-RU" dirty="0"/>
              <a:t> </a:t>
            </a:r>
            <a:r>
              <a:rPr lang="ru-RU" dirty="0" err="1"/>
              <a:t>Java</a:t>
            </a:r>
            <a:r>
              <a:rPr lang="ru-RU" dirty="0"/>
              <a:t> 11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вище</a:t>
            </a:r>
            <a:r>
              <a:rPr lang="ru-RU" dirty="0"/>
              <a:t>)</a:t>
            </a:r>
            <a:r>
              <a:rPr lang="en-US" dirty="0"/>
              <a:t>: </a:t>
            </a:r>
            <a:r>
              <a:rPr lang="en-US" i="1" dirty="0" err="1"/>
              <a:t>sudo</a:t>
            </a:r>
            <a:r>
              <a:rPr lang="en-US" i="1" dirty="0"/>
              <a:t> apt install openjdk-11-jdk –y java -version</a:t>
            </a:r>
          </a:p>
          <a:p>
            <a:r>
              <a:rPr lang="uk-UA" dirty="0"/>
              <a:t>Додати офіційний репозиторій </a:t>
            </a:r>
            <a:r>
              <a:rPr lang="en-US" dirty="0"/>
              <a:t>Jenkins: </a:t>
            </a:r>
            <a:r>
              <a:rPr lang="en-US" sz="3100" i="1" dirty="0"/>
              <a:t>curl -</a:t>
            </a:r>
            <a:r>
              <a:rPr lang="en-US" sz="3100" i="1" dirty="0" err="1"/>
              <a:t>fsSL</a:t>
            </a:r>
            <a:r>
              <a:rPr lang="en-US" sz="3100" i="1" dirty="0"/>
              <a:t> https://pkg.jenkins.io/debian-stable/jenkins.io-2023.key | </a:t>
            </a:r>
            <a:r>
              <a:rPr lang="en-US" sz="3100" i="1" dirty="0" err="1"/>
              <a:t>sudo</a:t>
            </a:r>
            <a:r>
              <a:rPr lang="en-US" sz="3100" i="1" dirty="0"/>
              <a:t> tee \</a:t>
            </a:r>
          </a:p>
          <a:p>
            <a:pPr marL="0" indent="0">
              <a:buNone/>
            </a:pPr>
            <a:r>
              <a:rPr lang="en-US" sz="3100" i="1" dirty="0"/>
              <a:t>	/</a:t>
            </a:r>
            <a:r>
              <a:rPr lang="en-US" sz="3100" i="1" dirty="0" err="1"/>
              <a:t>usr</a:t>
            </a:r>
            <a:r>
              <a:rPr lang="en-US" sz="3100" i="1" dirty="0"/>
              <a:t>/share/keyrings/</a:t>
            </a:r>
            <a:r>
              <a:rPr lang="en-US" sz="3100" i="1" dirty="0" err="1"/>
              <a:t>jenkins-keyring.asc</a:t>
            </a:r>
            <a:r>
              <a:rPr lang="en-US" sz="3100" i="1" dirty="0"/>
              <a:t> &gt; /dev/null</a:t>
            </a:r>
          </a:p>
          <a:p>
            <a:pPr marL="0" indent="0">
              <a:buNone/>
            </a:pPr>
            <a:r>
              <a:rPr lang="en-US" sz="3100" i="1" dirty="0"/>
              <a:t>	echo deb [signed-by=/</a:t>
            </a:r>
            <a:r>
              <a:rPr lang="en-US" sz="3100" i="1" dirty="0" err="1"/>
              <a:t>usr</a:t>
            </a:r>
            <a:r>
              <a:rPr lang="en-US" sz="3100" i="1" dirty="0"/>
              <a:t>/share/keyrings/</a:t>
            </a:r>
            <a:r>
              <a:rPr lang="en-US" sz="3100" i="1" dirty="0" err="1"/>
              <a:t>jenkins</a:t>
            </a:r>
            <a:r>
              <a:rPr lang="en-US" sz="3100" i="1" dirty="0"/>
              <a:t>-	</a:t>
            </a:r>
            <a:r>
              <a:rPr lang="en-US" sz="3100" i="1" dirty="0" err="1"/>
              <a:t>keyring.asc</a:t>
            </a:r>
            <a:r>
              <a:rPr lang="en-US" sz="3100" i="1" dirty="0"/>
              <a:t>] \</a:t>
            </a:r>
          </a:p>
          <a:p>
            <a:pPr marL="0" indent="0">
              <a:buNone/>
            </a:pPr>
            <a:r>
              <a:rPr lang="en-US" sz="3100" i="1" dirty="0"/>
              <a:t>	https://pkg.jenkins.io/debian-stable binary/ | </a:t>
            </a:r>
            <a:r>
              <a:rPr lang="en-US" sz="3100" i="1" dirty="0" err="1"/>
              <a:t>sudo</a:t>
            </a:r>
            <a:r>
              <a:rPr lang="en-US" sz="3100" i="1" dirty="0"/>
              <a:t> tee \</a:t>
            </a:r>
          </a:p>
          <a:p>
            <a:pPr marL="0" indent="0">
              <a:buNone/>
            </a:pPr>
            <a:r>
              <a:rPr lang="en-US" sz="3100" i="1" dirty="0"/>
              <a:t>	/</a:t>
            </a:r>
            <a:r>
              <a:rPr lang="en-US" sz="3100" i="1" dirty="0" err="1"/>
              <a:t>etc</a:t>
            </a:r>
            <a:r>
              <a:rPr lang="en-US" sz="3100" i="1" dirty="0"/>
              <a:t>/apt/</a:t>
            </a:r>
            <a:r>
              <a:rPr lang="en-US" sz="3100" i="1" dirty="0" err="1"/>
              <a:t>sources.list.d</a:t>
            </a:r>
            <a:r>
              <a:rPr lang="en-US" sz="3100" i="1" dirty="0"/>
              <a:t>/</a:t>
            </a:r>
            <a:r>
              <a:rPr lang="en-US" sz="3100" i="1" dirty="0" err="1"/>
              <a:t>jenkins.list</a:t>
            </a:r>
            <a:r>
              <a:rPr lang="en-US" sz="3100" i="1" dirty="0"/>
              <a:t> &gt; /dev/null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644962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166C6C-AA40-4F46-BF28-0A57BB79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Встановлення на </a:t>
            </a:r>
            <a:r>
              <a:rPr lang="en-US" dirty="0"/>
              <a:t>Linux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2566174-6DAF-406F-8E3D-1AFF5E67D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Оновити</a:t>
            </a:r>
            <a:r>
              <a:rPr lang="ru-RU" dirty="0"/>
              <a:t> </a:t>
            </a:r>
            <a:r>
              <a:rPr lang="ru-RU" dirty="0" err="1"/>
              <a:t>пакети</a:t>
            </a:r>
            <a:r>
              <a:rPr lang="ru-RU" dirty="0"/>
              <a:t> та </a:t>
            </a:r>
            <a:r>
              <a:rPr lang="ru-RU" dirty="0" err="1"/>
              <a:t>встановити</a:t>
            </a:r>
            <a:r>
              <a:rPr lang="ru-RU" dirty="0"/>
              <a:t> </a:t>
            </a:r>
            <a:r>
              <a:rPr lang="ru-RU" dirty="0" err="1"/>
              <a:t>Jenkins</a:t>
            </a:r>
            <a:r>
              <a:rPr lang="en-US" dirty="0"/>
              <a:t>: </a:t>
            </a:r>
            <a:r>
              <a:rPr lang="en-US" i="1" dirty="0" err="1"/>
              <a:t>sudo</a:t>
            </a:r>
            <a:r>
              <a:rPr lang="en-US" i="1" dirty="0"/>
              <a:t> apt update</a:t>
            </a:r>
          </a:p>
          <a:p>
            <a:pPr marL="0" indent="0">
              <a:buNone/>
            </a:pPr>
            <a:r>
              <a:rPr lang="en-US" i="1" dirty="0"/>
              <a:t>    </a:t>
            </a:r>
            <a:r>
              <a:rPr lang="en-US" i="1" dirty="0" err="1"/>
              <a:t>sudo</a:t>
            </a:r>
            <a:r>
              <a:rPr lang="en-US" i="1" dirty="0"/>
              <a:t> apt install </a:t>
            </a:r>
            <a:r>
              <a:rPr lang="en-US" i="1" dirty="0" err="1"/>
              <a:t>jenkins</a:t>
            </a:r>
            <a:r>
              <a:rPr lang="en-US" i="1" dirty="0"/>
              <a:t> -y</a:t>
            </a:r>
          </a:p>
          <a:p>
            <a:r>
              <a:rPr lang="ru-RU" dirty="0" err="1"/>
              <a:t>Запустити</a:t>
            </a:r>
            <a:r>
              <a:rPr lang="ru-RU" dirty="0"/>
              <a:t> та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Jenkins</a:t>
            </a:r>
            <a:r>
              <a:rPr lang="ru-RU" dirty="0"/>
              <a:t> в</a:t>
            </a:r>
            <a:r>
              <a:rPr lang="en-US" dirty="0"/>
              <a:t> </a:t>
            </a:r>
            <a:r>
              <a:rPr lang="ru-RU" dirty="0" err="1"/>
              <a:t>автозавантаження</a:t>
            </a:r>
            <a:r>
              <a:rPr lang="en-US" dirty="0"/>
              <a:t>: </a:t>
            </a:r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systemctl</a:t>
            </a:r>
            <a:r>
              <a:rPr lang="en-US" i="1" dirty="0"/>
              <a:t> start </a:t>
            </a:r>
            <a:r>
              <a:rPr lang="en-US" i="1" dirty="0" err="1"/>
              <a:t>jenkins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systemctl</a:t>
            </a:r>
            <a:r>
              <a:rPr lang="en-US" i="1" dirty="0"/>
              <a:t> enable </a:t>
            </a:r>
            <a:r>
              <a:rPr lang="en-US" i="1" dirty="0" err="1"/>
              <a:t>jenkins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systemctl</a:t>
            </a:r>
            <a:r>
              <a:rPr lang="en-US" i="1" dirty="0"/>
              <a:t> status Jenkins</a:t>
            </a:r>
          </a:p>
          <a:p>
            <a:r>
              <a:rPr lang="ru-RU" dirty="0" err="1"/>
              <a:t>Відкрити</a:t>
            </a:r>
            <a:r>
              <a:rPr lang="ru-RU" dirty="0"/>
              <a:t> порт 8080 (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використовується</a:t>
            </a:r>
            <a:r>
              <a:rPr lang="ru-RU" dirty="0"/>
              <a:t> UFW)</a:t>
            </a:r>
            <a:r>
              <a:rPr lang="en-US" dirty="0"/>
              <a:t>: </a:t>
            </a:r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ufw</a:t>
            </a:r>
            <a:r>
              <a:rPr lang="en-US" i="1" dirty="0"/>
              <a:t> allow 8080</a:t>
            </a:r>
          </a:p>
          <a:p>
            <a:pPr marL="0" indent="0">
              <a:buNone/>
            </a:pPr>
            <a:r>
              <a:rPr lang="en-US" i="1" dirty="0"/>
              <a:t>	</a:t>
            </a:r>
            <a:r>
              <a:rPr lang="en-US" i="1" dirty="0" err="1"/>
              <a:t>sudo</a:t>
            </a:r>
            <a:r>
              <a:rPr lang="en-US" i="1" dirty="0"/>
              <a:t> </a:t>
            </a:r>
            <a:r>
              <a:rPr lang="en-US" i="1" dirty="0" err="1"/>
              <a:t>ufw</a:t>
            </a:r>
            <a:r>
              <a:rPr lang="en-US" i="1" dirty="0"/>
              <a:t> reload</a:t>
            </a:r>
          </a:p>
          <a:p>
            <a:endParaRPr lang="en-US" i="1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81968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A00D40-5F12-41C1-9E41-976CB996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Встановлення на </a:t>
            </a:r>
            <a:r>
              <a:rPr lang="en-US" dirty="0"/>
              <a:t>Linux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E9E89F9-ADF7-42F1-816F-7F7785423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Отримати пароль адміністратора</a:t>
            </a:r>
            <a:r>
              <a:rPr lang="en-US" dirty="0"/>
              <a:t>: </a:t>
            </a:r>
            <a:r>
              <a:rPr lang="en-US" i="1" dirty="0" err="1"/>
              <a:t>sudo</a:t>
            </a:r>
            <a:r>
              <a:rPr lang="en-US" i="1" dirty="0"/>
              <a:t> cat /var/lib/</a:t>
            </a:r>
            <a:r>
              <a:rPr lang="en-US" i="1" dirty="0" err="1"/>
              <a:t>jenkins</a:t>
            </a:r>
            <a:r>
              <a:rPr lang="en-US" i="1" dirty="0"/>
              <a:t>/secrets/</a:t>
            </a:r>
            <a:r>
              <a:rPr lang="en-US" i="1" dirty="0" err="1"/>
              <a:t>initialAdminPassword</a:t>
            </a:r>
            <a:endParaRPr lang="en-US" i="1" dirty="0"/>
          </a:p>
          <a:p>
            <a:r>
              <a:rPr lang="uk-UA" dirty="0"/>
              <a:t>Відкрити </a:t>
            </a:r>
            <a:r>
              <a:rPr lang="en-US" dirty="0"/>
              <a:t>Jenkins </a:t>
            </a:r>
            <a:r>
              <a:rPr lang="uk-UA" dirty="0"/>
              <a:t>у браузері</a:t>
            </a:r>
            <a:r>
              <a:rPr lang="en-US" dirty="0"/>
              <a:t>: </a:t>
            </a:r>
            <a:r>
              <a:rPr lang="en-US" i="1" dirty="0"/>
              <a:t>http://&lt;IP_</a:t>
            </a:r>
            <a:r>
              <a:rPr lang="uk-UA" i="1" dirty="0" err="1"/>
              <a:t>адреса_сервера</a:t>
            </a:r>
            <a:r>
              <a:rPr lang="uk-UA" i="1" dirty="0"/>
              <a:t>&gt;:8080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32403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3E3785-E124-484B-9E1B-4CB318F32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плагіни </a:t>
            </a:r>
            <a:r>
              <a:rPr lang="en-US" dirty="0"/>
              <a:t>Jenkins</a:t>
            </a:r>
            <a:endParaRPr lang="uk-UA" dirty="0"/>
          </a:p>
        </p:txBody>
      </p:sp>
      <p:pic>
        <p:nvPicPr>
          <p:cNvPr id="2052" name="Picture 4" descr="Jenkins Docker Image with Pre-Installed Plugins | by VinothKumar P | Medium">
            <a:extLst>
              <a:ext uri="{FF2B5EF4-FFF2-40B4-BE49-F238E27FC236}">
                <a16:creationId xmlns:a16="http://schemas.microsoft.com/office/drawing/2014/main" id="{D9A02278-6F7C-4D44-BFB3-3F8BC83E26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014" y="1600200"/>
            <a:ext cx="6201972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679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A94211-F836-4B0C-A6FA-781BA40F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Короткий опис плагінів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C13BF7B-C1CF-4AF6-9E04-671C18E6A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Git Plugin – </a:t>
            </a:r>
            <a:r>
              <a:rPr lang="uk-UA" dirty="0"/>
              <a:t>інтеграція з </a:t>
            </a:r>
            <a:r>
              <a:rPr lang="en-US" dirty="0"/>
              <a:t>Git-</a:t>
            </a:r>
            <a:r>
              <a:rPr lang="uk-UA" dirty="0"/>
              <a:t>репозиторіями</a:t>
            </a:r>
          </a:p>
          <a:p>
            <a:r>
              <a:rPr lang="en-US" dirty="0"/>
              <a:t>Pipeline – </a:t>
            </a:r>
            <a:r>
              <a:rPr lang="uk-UA" dirty="0"/>
              <a:t>створення </a:t>
            </a:r>
            <a:r>
              <a:rPr lang="en-US" dirty="0"/>
              <a:t>CI/CD </a:t>
            </a:r>
            <a:r>
              <a:rPr lang="uk-UA" dirty="0" err="1"/>
              <a:t>пайплайнів</a:t>
            </a:r>
            <a:r>
              <a:rPr lang="uk-UA" dirty="0"/>
              <a:t> як код</a:t>
            </a:r>
          </a:p>
          <a:p>
            <a:r>
              <a:rPr lang="en-US" dirty="0"/>
              <a:t>Credentials Binding – </a:t>
            </a:r>
            <a:r>
              <a:rPr lang="uk-UA" dirty="0"/>
              <a:t>безпечне використання секретів у </a:t>
            </a:r>
            <a:r>
              <a:rPr lang="uk-UA" dirty="0" err="1"/>
              <a:t>джобах</a:t>
            </a:r>
            <a:endParaRPr lang="uk-UA" dirty="0"/>
          </a:p>
          <a:p>
            <a:r>
              <a:rPr lang="en-US" dirty="0"/>
              <a:t>Docker / Kubernetes Plugins – </a:t>
            </a:r>
            <a:r>
              <a:rPr lang="uk-UA" dirty="0"/>
              <a:t>інтеграція з контейнерами</a:t>
            </a:r>
          </a:p>
          <a:p>
            <a:r>
              <a:rPr lang="en-US" dirty="0"/>
              <a:t>Slack / Email Extension – </a:t>
            </a:r>
            <a:r>
              <a:rPr lang="uk-UA" dirty="0"/>
              <a:t>нотифікації про збірки</a:t>
            </a:r>
          </a:p>
          <a:p>
            <a:r>
              <a:rPr lang="en-US" dirty="0"/>
              <a:t>JUnit / Allure – </a:t>
            </a:r>
            <a:r>
              <a:rPr lang="uk-UA" dirty="0"/>
              <a:t>тест-репорти</a:t>
            </a:r>
          </a:p>
        </p:txBody>
      </p:sp>
    </p:spTree>
    <p:extLst>
      <p:ext uri="{BB962C8B-B14F-4D97-AF65-F5344CB8AC3E}">
        <p14:creationId xmlns:p14="http://schemas.microsoft.com/office/powerpoint/2010/main" val="3197407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2AFE2D-9E02-4BD6-97B7-0A5A7AA7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Credentials </a:t>
            </a:r>
            <a:r>
              <a:rPr lang="uk-UA" dirty="0"/>
              <a:t>(Секрети в </a:t>
            </a:r>
            <a:r>
              <a:rPr lang="uk-UA" dirty="0" err="1"/>
              <a:t>Дженкінс</a:t>
            </a:r>
            <a:r>
              <a:rPr lang="uk-UA" dirty="0"/>
              <a:t>)</a:t>
            </a:r>
          </a:p>
        </p:txBody>
      </p:sp>
      <p:pic>
        <p:nvPicPr>
          <p:cNvPr id="2050" name="Picture 2" descr="Using credentials">
            <a:extLst>
              <a:ext uri="{FF2B5EF4-FFF2-40B4-BE49-F238E27FC236}">
                <a16:creationId xmlns:a16="http://schemas.microsoft.com/office/drawing/2014/main" id="{2B7077C7-41ED-43AE-8196-79A0B2966A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" y="3709730"/>
            <a:ext cx="8229600" cy="283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2B2F301C-2CDC-46F7-A734-592F64A6BFC5}"/>
              </a:ext>
            </a:extLst>
          </p:cNvPr>
          <p:cNvSpPr/>
          <p:nvPr/>
        </p:nvSpPr>
        <p:spPr>
          <a:xfrm>
            <a:off x="619124" y="1417638"/>
            <a:ext cx="845820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Credentials</a:t>
            </a:r>
            <a:r>
              <a:rPr lang="en-US" sz="2400" dirty="0"/>
              <a:t> — </a:t>
            </a:r>
            <a:r>
              <a:rPr lang="uk-UA" sz="2400" dirty="0"/>
              <a:t>це спосіб безпечного зберігання секретних даних, які використовуються в </a:t>
            </a:r>
            <a:r>
              <a:rPr lang="en-US" sz="2400" dirty="0"/>
              <a:t>job </a:t>
            </a:r>
            <a:r>
              <a:rPr lang="uk-UA" sz="2400" dirty="0"/>
              <a:t>чи </a:t>
            </a:r>
            <a:r>
              <a:rPr lang="uk-UA" sz="2400" dirty="0" err="1"/>
              <a:t>пайплайнах</a:t>
            </a:r>
            <a:r>
              <a:rPr lang="uk-UA" sz="2400" dirty="0"/>
              <a:t> (наприклад, паролі, токени, ключі).</a:t>
            </a:r>
            <a:br>
              <a:rPr lang="uk-UA" sz="2400" dirty="0"/>
            </a:br>
            <a:r>
              <a:rPr lang="uk-UA" sz="2400" dirty="0"/>
              <a:t>Вони дозволяють не </a:t>
            </a:r>
            <a:r>
              <a:rPr lang="uk-UA" sz="2400" dirty="0" err="1"/>
              <a:t>хардкодити</a:t>
            </a:r>
            <a:r>
              <a:rPr lang="uk-UA" sz="2400" dirty="0"/>
              <a:t> секрети в коді чи скриптах, а централізовано керувати </a:t>
            </a:r>
            <a:r>
              <a:rPr lang="uk-UA" sz="2400" dirty="0" err="1"/>
              <a:t>доступами</a:t>
            </a:r>
            <a:r>
              <a:rPr lang="uk-UA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6990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062CA-77EA-4B71-818B-825CB743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Де зберігаються?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97C4378-36E9-4DAF-BEE9-F2C7A0BAE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/>
              <a:t>В </a:t>
            </a:r>
            <a:r>
              <a:rPr lang="en-US" dirty="0"/>
              <a:t>Jenkins </a:t>
            </a:r>
            <a:r>
              <a:rPr lang="uk-UA" dirty="0"/>
              <a:t>вони зберігаються у файлі </a:t>
            </a:r>
            <a:r>
              <a:rPr lang="en-US" dirty="0"/>
              <a:t>credentials.xml </a:t>
            </a:r>
            <a:r>
              <a:rPr lang="uk-UA" dirty="0"/>
              <a:t>у </a:t>
            </a:r>
            <a:r>
              <a:rPr lang="en-US" dirty="0"/>
              <a:t>Jenkins Home (/var/lib/</a:t>
            </a:r>
            <a:r>
              <a:rPr lang="en-US" dirty="0" err="1"/>
              <a:t>jenkins</a:t>
            </a:r>
            <a:r>
              <a:rPr lang="en-US" dirty="0"/>
              <a:t>/).</a:t>
            </a:r>
            <a:endParaRPr lang="uk-UA" dirty="0"/>
          </a:p>
          <a:p>
            <a:r>
              <a:rPr lang="uk-UA" dirty="0"/>
              <a:t>Усі секрети шифруються і ніколи не відображаються у відкритому вигляді в </a:t>
            </a:r>
            <a:r>
              <a:rPr lang="en-US" dirty="0"/>
              <a:t>UI </a:t>
            </a:r>
            <a:r>
              <a:rPr lang="uk-UA" dirty="0"/>
              <a:t>чи </a:t>
            </a:r>
            <a:r>
              <a:rPr lang="uk-UA" dirty="0" err="1"/>
              <a:t>логах</a:t>
            </a:r>
            <a:r>
              <a:rPr lang="uk-UA" dirty="0"/>
              <a:t>.</a:t>
            </a:r>
          </a:p>
          <a:p>
            <a:r>
              <a:rPr lang="uk-UA" dirty="0"/>
              <a:t>Для кожного </a:t>
            </a:r>
            <a:r>
              <a:rPr lang="en-US" dirty="0"/>
              <a:t>Jenkins-</a:t>
            </a:r>
            <a:r>
              <a:rPr lang="uk-UA" dirty="0"/>
              <a:t>сервера ключі унікально шифруються.</a:t>
            </a:r>
          </a:p>
        </p:txBody>
      </p:sp>
    </p:spTree>
    <p:extLst>
      <p:ext uri="{BB962C8B-B14F-4D97-AF65-F5344CB8AC3E}">
        <p14:creationId xmlns:p14="http://schemas.microsoft.com/office/powerpoint/2010/main" val="4169032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D6C96-DC2F-4257-A9A3-EC089A588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 </a:t>
            </a:r>
            <a:r>
              <a:rPr lang="ru-RU" dirty="0" err="1"/>
              <a:t>доступитись</a:t>
            </a:r>
            <a:r>
              <a:rPr lang="ru-RU" dirty="0"/>
              <a:t> до </a:t>
            </a:r>
            <a:r>
              <a:rPr lang="ru-RU" dirty="0" err="1"/>
              <a:t>Credentials</a:t>
            </a:r>
            <a:r>
              <a:rPr lang="ru-RU" dirty="0"/>
              <a:t> у </a:t>
            </a:r>
            <a:r>
              <a:rPr lang="ru-RU" dirty="0" err="1"/>
              <a:t>Jenkins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6A47445-7EF6-4734-A499-E7F91E20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uk-UA" dirty="0"/>
              <a:t>1. Через </a:t>
            </a:r>
            <a:r>
              <a:rPr lang="en-US" dirty="0"/>
              <a:t>UI Jenkins</a:t>
            </a:r>
            <a:endParaRPr lang="uk-UA" dirty="0"/>
          </a:p>
          <a:p>
            <a:pPr lvl="1"/>
            <a:r>
              <a:rPr lang="uk-UA" dirty="0"/>
              <a:t>Увійти як </a:t>
            </a:r>
            <a:r>
              <a:rPr lang="uk-UA" dirty="0" err="1"/>
              <a:t>адміністраторПерейти</a:t>
            </a:r>
            <a:r>
              <a:rPr lang="uk-UA" dirty="0"/>
              <a:t>: </a:t>
            </a:r>
            <a:r>
              <a:rPr lang="en-US" dirty="0"/>
              <a:t>Manage Jenkins → Credentials</a:t>
            </a:r>
            <a:endParaRPr lang="uk-UA" dirty="0"/>
          </a:p>
          <a:p>
            <a:pPr lvl="1"/>
            <a:r>
              <a:rPr lang="uk-UA" dirty="0"/>
              <a:t>Там видно список доменів (</a:t>
            </a:r>
            <a:r>
              <a:rPr lang="en-US" dirty="0"/>
              <a:t>Global, System, Folder)</a:t>
            </a:r>
            <a:endParaRPr lang="uk-UA" dirty="0"/>
          </a:p>
          <a:p>
            <a:pPr lvl="1"/>
            <a:r>
              <a:rPr lang="uk-UA" dirty="0"/>
              <a:t>Додати новий секрет: </a:t>
            </a:r>
            <a:r>
              <a:rPr lang="en-US" dirty="0"/>
              <a:t>Add Credentials</a:t>
            </a:r>
            <a:r>
              <a:rPr lang="uk-UA" dirty="0"/>
              <a:t>Вибрати тип (</a:t>
            </a:r>
            <a:r>
              <a:rPr lang="en-US" dirty="0"/>
              <a:t>Username/Password, Secret text, SSH Key </a:t>
            </a:r>
            <a:r>
              <a:rPr lang="uk-UA" dirty="0"/>
              <a:t>тощо)</a:t>
            </a:r>
          </a:p>
          <a:p>
            <a:pPr lvl="1"/>
            <a:r>
              <a:rPr lang="uk-UA" dirty="0"/>
              <a:t>Зберегти — </a:t>
            </a:r>
            <a:r>
              <a:rPr lang="en-US" dirty="0"/>
              <a:t>Jenkins </a:t>
            </a:r>
            <a:r>
              <a:rPr lang="uk-UA" dirty="0"/>
              <a:t>присвоює </a:t>
            </a:r>
            <a:r>
              <a:rPr lang="en-US" dirty="0" err="1"/>
              <a:t>credentialsId</a:t>
            </a:r>
            <a:r>
              <a:rPr lang="en-US" dirty="0"/>
              <a:t> (</a:t>
            </a:r>
            <a:r>
              <a:rPr lang="uk-UA" dirty="0"/>
              <a:t>ідентифікатор)</a:t>
            </a:r>
          </a:p>
        </p:txBody>
      </p:sp>
    </p:spTree>
    <p:extLst>
      <p:ext uri="{BB962C8B-B14F-4D97-AF65-F5344CB8AC3E}">
        <p14:creationId xmlns:p14="http://schemas.microsoft.com/office/powerpoint/2010/main" val="8252778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B4427D-A347-4F46-823F-07FEC1D68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 </a:t>
            </a:r>
            <a:r>
              <a:rPr lang="ru-RU" dirty="0" err="1"/>
              <a:t>доступитись</a:t>
            </a:r>
            <a:r>
              <a:rPr lang="ru-RU" dirty="0"/>
              <a:t> до </a:t>
            </a:r>
            <a:r>
              <a:rPr lang="ru-RU" dirty="0" err="1"/>
              <a:t>Credentials</a:t>
            </a:r>
            <a:r>
              <a:rPr lang="ru-RU" dirty="0"/>
              <a:t> у </a:t>
            </a:r>
            <a:r>
              <a:rPr lang="ru-RU" dirty="0" err="1"/>
              <a:t>Jenkins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EB41749-772F-4DC0-9730-595FF9966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533775"/>
          </a:xfrm>
        </p:spPr>
        <p:txBody>
          <a:bodyPr>
            <a:normAutofit/>
          </a:bodyPr>
          <a:lstStyle/>
          <a:p>
            <a:r>
              <a:rPr lang="uk-UA" dirty="0"/>
              <a:t>2. Використання у </a:t>
            </a:r>
            <a:r>
              <a:rPr lang="en-US" dirty="0"/>
              <a:t>Freestyle job</a:t>
            </a:r>
            <a:endParaRPr lang="uk-UA" dirty="0"/>
          </a:p>
          <a:p>
            <a:pPr lvl="1"/>
            <a:r>
              <a:rPr lang="uk-UA" dirty="0"/>
              <a:t>У </a:t>
            </a:r>
            <a:r>
              <a:rPr lang="en-US" dirty="0"/>
              <a:t>job → Configure</a:t>
            </a:r>
            <a:endParaRPr lang="uk-UA" dirty="0"/>
          </a:p>
          <a:p>
            <a:pPr lvl="1"/>
            <a:r>
              <a:rPr lang="uk-UA" dirty="0"/>
              <a:t>У секції </a:t>
            </a:r>
            <a:r>
              <a:rPr lang="en-US" dirty="0"/>
              <a:t>Build Environment → Use secret text(s) or file(s)</a:t>
            </a:r>
            <a:r>
              <a:rPr lang="uk-UA" dirty="0"/>
              <a:t>	</a:t>
            </a:r>
          </a:p>
          <a:p>
            <a:pPr lvl="1"/>
            <a:r>
              <a:rPr lang="uk-UA" dirty="0"/>
              <a:t>Обрати потрібні </a:t>
            </a:r>
            <a:r>
              <a:rPr lang="en-US" dirty="0"/>
              <a:t>credentials</a:t>
            </a:r>
            <a:endParaRPr lang="uk-UA" dirty="0"/>
          </a:p>
          <a:p>
            <a:pPr lvl="1"/>
            <a:r>
              <a:rPr lang="en-US" dirty="0"/>
              <a:t>Jenkins </a:t>
            </a:r>
            <a:r>
              <a:rPr lang="uk-UA" dirty="0"/>
              <a:t>автоматично підставить секрет у змінні середовища під час виконання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E4E0D-E621-42AA-BA5F-3DE44A0611FC}"/>
              </a:ext>
            </a:extLst>
          </p:cNvPr>
          <p:cNvSpPr txBox="1"/>
          <p:nvPr/>
        </p:nvSpPr>
        <p:spPr>
          <a:xfrm>
            <a:off x="457200" y="5198367"/>
            <a:ext cx="8020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sz="2800" dirty="0"/>
              <a:t>3. Також можна доступитися до </a:t>
            </a:r>
            <a:r>
              <a:rPr lang="uk-UA" sz="2800" dirty="0" err="1"/>
              <a:t>сікретів</a:t>
            </a:r>
            <a:r>
              <a:rPr lang="uk-UA" sz="2800" dirty="0"/>
              <a:t> через </a:t>
            </a:r>
            <a:r>
              <a:rPr lang="en-US" sz="2800" dirty="0"/>
              <a:t>Pipeline job ( </a:t>
            </a:r>
            <a:r>
              <a:rPr lang="uk-UA" sz="2800" dirty="0"/>
              <a:t>що буде розглядатись в наступній презентації).</a:t>
            </a:r>
          </a:p>
        </p:txBody>
      </p:sp>
    </p:spTree>
    <p:extLst>
      <p:ext uri="{BB962C8B-B14F-4D97-AF65-F5344CB8AC3E}">
        <p14:creationId xmlns:p14="http://schemas.microsoft.com/office/powerpoint/2010/main" val="2797715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Що таке </a:t>
            </a:r>
            <a:r>
              <a:rPr lang="en-US" dirty="0"/>
              <a:t>Job </a:t>
            </a:r>
            <a:r>
              <a:rPr lang="uk-UA" dirty="0"/>
              <a:t>в </a:t>
            </a:r>
            <a:r>
              <a:rPr lang="en-US" dirty="0"/>
              <a:t>Jenkins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</a:t>
            </a:r>
            <a:r>
              <a:rPr lang="ru-RU" dirty="0" err="1"/>
              <a:t>Jenkins</a:t>
            </a:r>
            <a:r>
              <a:rPr lang="ru-RU" dirty="0"/>
              <a:t> "</a:t>
            </a:r>
            <a:r>
              <a:rPr lang="ru-RU" dirty="0" err="1"/>
              <a:t>джоба</a:t>
            </a:r>
            <a:r>
              <a:rPr lang="ru-RU" dirty="0"/>
              <a:t>" (</a:t>
            </a:r>
            <a:r>
              <a:rPr lang="ru-RU" dirty="0" err="1"/>
              <a:t>або</a:t>
            </a:r>
            <a:r>
              <a:rPr lang="ru-RU" dirty="0"/>
              <a:t> англ. </a:t>
            </a:r>
            <a:r>
              <a:rPr lang="ru-RU" dirty="0" err="1"/>
              <a:t>job</a:t>
            </a:r>
            <a:r>
              <a:rPr lang="ru-RU" dirty="0"/>
              <a:t>)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основний</a:t>
            </a:r>
            <a:r>
              <a:rPr lang="ru-RU" dirty="0"/>
              <a:t> 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та </a:t>
            </a:r>
            <a:r>
              <a:rPr lang="ru-RU" dirty="0" err="1"/>
              <a:t>виконує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компіляцію</a:t>
            </a:r>
            <a:r>
              <a:rPr lang="ru-RU" dirty="0"/>
              <a:t> коду,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розгортання</a:t>
            </a:r>
            <a:r>
              <a:rPr lang="ru-RU" dirty="0"/>
              <a:t> </a:t>
            </a:r>
            <a:r>
              <a:rPr lang="ru-RU" dirty="0" err="1"/>
              <a:t>проєкту</a:t>
            </a:r>
            <a:r>
              <a:rPr lang="ru-RU" dirty="0"/>
              <a:t>. </a:t>
            </a:r>
            <a:r>
              <a:rPr lang="ru-RU" dirty="0" err="1"/>
              <a:t>Кожна</a:t>
            </a:r>
            <a:r>
              <a:rPr lang="ru-RU" dirty="0"/>
              <a:t> </a:t>
            </a:r>
            <a:r>
              <a:rPr lang="ru-RU" dirty="0" err="1"/>
              <a:t>джоба</a:t>
            </a:r>
            <a:r>
              <a:rPr lang="ru-RU" dirty="0"/>
              <a:t> є </a:t>
            </a:r>
            <a:r>
              <a:rPr lang="ru-RU" dirty="0" err="1"/>
              <a:t>окремим</a:t>
            </a:r>
            <a:r>
              <a:rPr lang="ru-RU" dirty="0"/>
              <a:t> </a:t>
            </a:r>
            <a:r>
              <a:rPr lang="ru-RU" dirty="0" err="1"/>
              <a:t>робочим</a:t>
            </a:r>
            <a:r>
              <a:rPr lang="ru-RU" dirty="0"/>
              <a:t> </a:t>
            </a:r>
            <a:r>
              <a:rPr lang="ru-RU" dirty="0" err="1"/>
              <a:t>процесом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налаштований</a:t>
            </a:r>
            <a:r>
              <a:rPr lang="ru-RU" dirty="0"/>
              <a:t> для автоматичного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певних</a:t>
            </a:r>
            <a:r>
              <a:rPr lang="ru-RU" dirty="0"/>
              <a:t> </a:t>
            </a:r>
            <a:r>
              <a:rPr lang="ru-RU" dirty="0" err="1"/>
              <a:t>кроків</a:t>
            </a:r>
            <a:r>
              <a:rPr lang="ru-RU" dirty="0"/>
              <a:t> у </a:t>
            </a:r>
            <a:r>
              <a:rPr lang="ru-RU" dirty="0" err="1"/>
              <a:t>циклі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 </a:t>
            </a:r>
            <a:endParaRPr lang="en-US" dirty="0"/>
          </a:p>
          <a:p>
            <a:r>
              <a:rPr lang="uk-UA" dirty="0"/>
              <a:t>На зображені є приклад як виглядають </a:t>
            </a:r>
            <a:r>
              <a:rPr lang="en-US" dirty="0"/>
              <a:t>job </a:t>
            </a:r>
            <a:r>
              <a:rPr lang="uk-UA" dirty="0"/>
              <a:t> в </a:t>
            </a:r>
            <a:r>
              <a:rPr lang="en-US" dirty="0"/>
              <a:t>Jenkins</a:t>
            </a:r>
            <a:endParaRPr lang="uk-UA" dirty="0"/>
          </a:p>
        </p:txBody>
      </p:sp>
      <p:pic>
        <p:nvPicPr>
          <p:cNvPr id="2053" name="Picture 5" descr="New Jenkins Jobs Tutorial - Developers - The Stan Forums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777159"/>
            <a:ext cx="4038600" cy="136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5157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джобів</a:t>
            </a:r>
            <a:r>
              <a:rPr lang="ru-RU" dirty="0"/>
              <a:t> та </a:t>
            </a:r>
            <a:r>
              <a:rPr lang="ru-RU" dirty="0" err="1"/>
              <a:t>інтеграція</a:t>
            </a:r>
            <a:r>
              <a:rPr lang="ru-RU" dirty="0"/>
              <a:t> з </a:t>
            </a:r>
            <a:r>
              <a:rPr lang="ru-RU" dirty="0" err="1"/>
              <a:t>Git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33398" y="1166019"/>
            <a:ext cx="8229600" cy="2262982"/>
          </a:xfrm>
        </p:spPr>
        <p:txBody>
          <a:bodyPr>
            <a:normAutofit fontScale="85000" lnSpcReduction="10000"/>
          </a:bodyPr>
          <a:lstStyle/>
          <a:p>
            <a:r>
              <a:rPr lang="uk-UA" dirty="0"/>
              <a:t>Перед створенням першої </a:t>
            </a:r>
            <a:r>
              <a:rPr lang="uk-UA" dirty="0" err="1"/>
              <a:t>джоби</a:t>
            </a:r>
            <a:r>
              <a:rPr lang="uk-UA" dirty="0"/>
              <a:t> ми маємо переконатися що в нас встановлений </a:t>
            </a:r>
            <a:r>
              <a:rPr lang="en-US" dirty="0" err="1"/>
              <a:t>Git</a:t>
            </a:r>
            <a:r>
              <a:rPr lang="uk-UA" dirty="0"/>
              <a:t> та у налаштуваннях вибрати вкладку </a:t>
            </a:r>
            <a:r>
              <a:rPr lang="en-US" dirty="0"/>
              <a:t>Tools </a:t>
            </a:r>
            <a:r>
              <a:rPr lang="uk-UA" dirty="0"/>
              <a:t>та знайти</a:t>
            </a: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uk-UA" dirty="0"/>
              <a:t>і ввести розташування </a:t>
            </a:r>
            <a:r>
              <a:rPr lang="en-US" dirty="0" err="1"/>
              <a:t>Git</a:t>
            </a:r>
            <a:r>
              <a:rPr lang="uk-UA" dirty="0"/>
              <a:t>-у щоб </a:t>
            </a:r>
            <a:r>
              <a:rPr lang="en-US" dirty="0"/>
              <a:t>Jenkins </a:t>
            </a:r>
            <a:r>
              <a:rPr lang="uk-UA" dirty="0"/>
              <a:t>міг ним користуватись</a:t>
            </a:r>
          </a:p>
          <a:p>
            <a:r>
              <a:rPr lang="uk-UA" dirty="0"/>
              <a:t>Для перегляду розташування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uk-UA" dirty="0"/>
              <a:t>можна ввести команду </a:t>
            </a:r>
            <a:r>
              <a:rPr lang="en-US" i="1" dirty="0"/>
              <a:t>where </a:t>
            </a:r>
            <a:r>
              <a:rPr lang="en-US" i="1" dirty="0" err="1"/>
              <a:t>git</a:t>
            </a:r>
            <a:endParaRPr lang="uk-UA" i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799" y="3050437"/>
            <a:ext cx="2876951" cy="466790"/>
          </a:xfrm>
          <a:prstGeom prst="rect">
            <a:avLst/>
          </a:prstGeom>
        </p:spPr>
      </p:pic>
      <p:pic>
        <p:nvPicPr>
          <p:cNvPr id="9" name="Объект 4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05995" y="3517227"/>
            <a:ext cx="8332010" cy="323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джобів</a:t>
            </a:r>
            <a:r>
              <a:rPr lang="ru-RU" dirty="0"/>
              <a:t> та </a:t>
            </a:r>
            <a:r>
              <a:rPr lang="ru-RU" dirty="0" err="1"/>
              <a:t>інтеграція</a:t>
            </a:r>
            <a:r>
              <a:rPr lang="ru-RU" dirty="0"/>
              <a:t> з </a:t>
            </a:r>
            <a:r>
              <a:rPr lang="ru-RU" dirty="0" err="1"/>
              <a:t>Git</a:t>
            </a:r>
            <a:endParaRPr lang="uk-UA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457200" y="1166019"/>
            <a:ext cx="8686800" cy="1558132"/>
          </a:xfrm>
        </p:spPr>
        <p:txBody>
          <a:bodyPr>
            <a:normAutofit fontScale="92500" lnSpcReduction="10000"/>
          </a:bodyPr>
          <a:lstStyle/>
          <a:p>
            <a:r>
              <a:rPr lang="uk-UA" sz="2400" dirty="0"/>
              <a:t>Створюємо перший </a:t>
            </a:r>
            <a:r>
              <a:rPr lang="en-US" sz="2400" dirty="0"/>
              <a:t>job </a:t>
            </a:r>
            <a:r>
              <a:rPr lang="uk-UA" sz="2400" dirty="0"/>
              <a:t>для </a:t>
            </a:r>
            <a:r>
              <a:rPr lang="en-US" sz="2400" dirty="0"/>
              <a:t>Jenkins</a:t>
            </a:r>
            <a:endParaRPr lang="uk-UA" sz="2400" dirty="0"/>
          </a:p>
          <a:p>
            <a:r>
              <a:rPr lang="uk-UA" sz="2400" dirty="0"/>
              <a:t>Тип </a:t>
            </a:r>
            <a:r>
              <a:rPr lang="en-US" sz="2400" i="1" dirty="0"/>
              <a:t>Freestyle project </a:t>
            </a:r>
            <a:r>
              <a:rPr lang="uk-UA" sz="2400" dirty="0"/>
              <a:t>для ознайомлення з базовим функціоналом</a:t>
            </a:r>
            <a:endParaRPr lang="en-US" sz="2400" dirty="0"/>
          </a:p>
          <a:p>
            <a:r>
              <a:rPr lang="uk-UA" sz="2400" dirty="0"/>
              <a:t>В цьому прикладі </a:t>
            </a:r>
            <a:r>
              <a:rPr lang="uk-UA" sz="2400" dirty="0" err="1"/>
              <a:t>джоба</a:t>
            </a:r>
            <a:r>
              <a:rPr lang="uk-UA" sz="2400" dirty="0"/>
              <a:t> буде виконувати простий </a:t>
            </a:r>
            <a:r>
              <a:rPr lang="en-US" sz="2400" dirty="0" err="1"/>
              <a:t>git</a:t>
            </a:r>
            <a:r>
              <a:rPr lang="en-US" sz="2400" dirty="0"/>
              <a:t> pull </a:t>
            </a:r>
            <a:r>
              <a:rPr lang="uk-UA" sz="2400" dirty="0"/>
              <a:t>для перевірки інтеграції </a:t>
            </a:r>
            <a:r>
              <a:rPr lang="en-US" sz="2400" dirty="0"/>
              <a:t>Jenkins </a:t>
            </a:r>
            <a:r>
              <a:rPr lang="uk-UA" sz="2400" dirty="0"/>
              <a:t>з </a:t>
            </a:r>
            <a:r>
              <a:rPr lang="en-US" sz="2400" dirty="0" err="1"/>
              <a:t>Git</a:t>
            </a:r>
            <a:endParaRPr lang="uk-UA" sz="2400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344833" y="2705482"/>
            <a:ext cx="6454334" cy="4152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32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93" y="5083809"/>
            <a:ext cx="8533097" cy="157872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93" y="1211131"/>
            <a:ext cx="8746457" cy="39269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3350" y="195468"/>
            <a:ext cx="90106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000" dirty="0"/>
              <a:t>В конфігурації </a:t>
            </a:r>
            <a:r>
              <a:rPr lang="en-US" sz="2000" dirty="0"/>
              <a:t>job </a:t>
            </a:r>
            <a:r>
              <a:rPr lang="uk-UA" sz="2000" dirty="0"/>
              <a:t>ми вводимо посилання на наш </a:t>
            </a:r>
            <a:r>
              <a:rPr lang="uk-UA" sz="2000" dirty="0" err="1"/>
              <a:t>гітхаб</a:t>
            </a:r>
            <a:r>
              <a:rPr lang="uk-UA" sz="2000" dirty="0"/>
              <a:t> </a:t>
            </a:r>
            <a:r>
              <a:rPr lang="uk-UA" sz="2000" dirty="0" err="1"/>
              <a:t>репозиторій</a:t>
            </a:r>
            <a:r>
              <a:rPr lang="uk-UA" sz="2000" dirty="0"/>
              <a:t> з </a:t>
            </a:r>
            <a:r>
              <a:rPr lang="uk-UA" sz="2000" dirty="0" err="1"/>
              <a:t>відки</a:t>
            </a:r>
            <a:r>
              <a:rPr lang="uk-UA" sz="2000" dirty="0"/>
              <a:t> він буде </a:t>
            </a:r>
            <a:r>
              <a:rPr lang="uk-UA" sz="2000" dirty="0" err="1"/>
              <a:t>пулити</a:t>
            </a:r>
            <a:r>
              <a:rPr lang="en-US" sz="2000" dirty="0"/>
              <a:t>, </a:t>
            </a:r>
            <a:r>
              <a:rPr lang="uk-UA" sz="2000" dirty="0"/>
              <a:t>якщо репозиторій приватний добавляємо дані для отримання доступу у вкладці </a:t>
            </a:r>
            <a:r>
              <a:rPr lang="en-US" sz="2000" i="1" dirty="0"/>
              <a:t>Credentials</a:t>
            </a:r>
          </a:p>
        </p:txBody>
      </p:sp>
    </p:spTree>
    <p:extLst>
      <p:ext uri="{BB962C8B-B14F-4D97-AF65-F5344CB8AC3E}">
        <p14:creationId xmlns:p14="http://schemas.microsoft.com/office/powerpoint/2010/main" val="3269499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кутник 1">
            <a:extLst>
              <a:ext uri="{FF2B5EF4-FFF2-40B4-BE49-F238E27FC236}">
                <a16:creationId xmlns:a16="http://schemas.microsoft.com/office/drawing/2014/main" id="{57387A40-8CA9-4940-8640-3BC1051EB1B7}"/>
              </a:ext>
            </a:extLst>
          </p:cNvPr>
          <p:cNvSpPr/>
          <p:nvPr/>
        </p:nvSpPr>
        <p:spPr>
          <a:xfrm>
            <a:off x="619125" y="385286"/>
            <a:ext cx="83248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k-UA" dirty="0"/>
              <a:t>Далі у вкладці </a:t>
            </a:r>
            <a:r>
              <a:rPr lang="en-US" i="1" dirty="0"/>
              <a:t>Build Steps</a:t>
            </a:r>
            <a:r>
              <a:rPr lang="uk-UA" i="1" dirty="0"/>
              <a:t> </a:t>
            </a:r>
            <a:r>
              <a:rPr lang="uk-UA" dirty="0"/>
              <a:t>вибираємо</a:t>
            </a:r>
            <a:r>
              <a:rPr lang="uk-UA" i="1" dirty="0"/>
              <a:t>  </a:t>
            </a:r>
            <a:r>
              <a:rPr lang="en-US" i="1" dirty="0"/>
              <a:t>Execute Windows batch command </a:t>
            </a:r>
            <a:r>
              <a:rPr lang="uk-UA" dirty="0"/>
              <a:t>і вводимо простеньку команду для виконання поставленого завдання </a:t>
            </a:r>
            <a:r>
              <a:rPr lang="en-US" i="1" dirty="0"/>
              <a:t>echo Hello, Jenkins!</a:t>
            </a:r>
            <a:r>
              <a:rPr lang="uk-UA" i="1" dirty="0"/>
              <a:t> </a:t>
            </a:r>
            <a:r>
              <a:rPr lang="en-US" i="1" dirty="0"/>
              <a:t>git pull origin main</a:t>
            </a:r>
            <a:endParaRPr lang="uk-UA" i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DE9E57-CD66-4AD0-8E2E-5ED266A79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699026"/>
            <a:ext cx="8203530" cy="345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11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23" y="1067595"/>
            <a:ext cx="8727220" cy="94494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193" y="2340941"/>
            <a:ext cx="7385613" cy="4317827"/>
          </a:xfrm>
          <a:prstGeom prst="rect">
            <a:avLst/>
          </a:prstGeom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200" dirty="0"/>
              <a:t>Результат створення та виконання </a:t>
            </a:r>
            <a:r>
              <a:rPr lang="uk-UA" sz="3200" dirty="0" err="1"/>
              <a:t>джоби</a:t>
            </a:r>
            <a:endParaRPr lang="uk-UA" sz="3200" dirty="0"/>
          </a:p>
        </p:txBody>
      </p:sp>
    </p:spTree>
    <p:extLst>
      <p:ext uri="{BB962C8B-B14F-4D97-AF65-F5344CB8AC3E}">
        <p14:creationId xmlns:p14="http://schemas.microsoft.com/office/powerpoint/2010/main" val="372547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7B7C3A0-F51A-40F8-882D-43FDAAE79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Build Nodes (</a:t>
            </a:r>
            <a:r>
              <a:rPr lang="uk-UA" sz="3200" dirty="0"/>
              <a:t>Агенти </a:t>
            </a:r>
            <a:r>
              <a:rPr lang="en-US" sz="3200" dirty="0"/>
              <a:t>Jenkins) — </a:t>
            </a:r>
            <a:r>
              <a:rPr lang="uk-UA" sz="3200" dirty="0"/>
              <a:t>що це таке?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913879B-2612-49B9-8104-C2EF1596C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uk-UA" dirty="0"/>
              <a:t>У </a:t>
            </a:r>
            <a:r>
              <a:rPr lang="en-US" dirty="0"/>
              <a:t>Jenkins </a:t>
            </a:r>
            <a:r>
              <a:rPr lang="uk-UA" dirty="0"/>
              <a:t>основний процес називається </a:t>
            </a:r>
            <a:r>
              <a:rPr lang="en-US" dirty="0"/>
              <a:t>Controller (</a:t>
            </a:r>
            <a:r>
              <a:rPr lang="uk-UA" dirty="0"/>
              <a:t>раніше — </a:t>
            </a:r>
            <a:r>
              <a:rPr lang="en-US" dirty="0"/>
              <a:t>Master). </a:t>
            </a:r>
            <a:r>
              <a:rPr lang="uk-UA" dirty="0"/>
              <a:t>Він керує всією системою: планує виконання </a:t>
            </a:r>
            <a:r>
              <a:rPr lang="en-US" dirty="0"/>
              <a:t>job, </a:t>
            </a:r>
            <a:r>
              <a:rPr lang="uk-UA" dirty="0"/>
              <a:t>керує плагінами та відслідковує статус збірок. Але сам </a:t>
            </a:r>
            <a:r>
              <a:rPr lang="en-US" dirty="0"/>
              <a:t>Controller </a:t>
            </a:r>
            <a:r>
              <a:rPr lang="uk-UA" dirty="0"/>
              <a:t>не завжди виконує збірки. Для цього існують </a:t>
            </a:r>
            <a:r>
              <a:rPr lang="en-US" dirty="0"/>
              <a:t>Build Nodes (</a:t>
            </a:r>
            <a:r>
              <a:rPr lang="uk-UA" dirty="0"/>
              <a:t>агенти) — окремі сервери, віртуальні машини або контейнери, які підключаються до </a:t>
            </a:r>
            <a:r>
              <a:rPr lang="en-US" dirty="0"/>
              <a:t>Jenkins </a:t>
            </a:r>
            <a:r>
              <a:rPr lang="uk-UA" dirty="0"/>
              <a:t>і виконують збірки та тести. Кожен агент має власні </a:t>
            </a:r>
            <a:r>
              <a:rPr lang="uk-UA" dirty="0" err="1"/>
              <a:t>екзек’ютори</a:t>
            </a:r>
            <a:r>
              <a:rPr lang="uk-UA" dirty="0"/>
              <a:t> (</a:t>
            </a:r>
            <a:r>
              <a:rPr lang="en-US" dirty="0"/>
              <a:t>executors) — </a:t>
            </a:r>
            <a:r>
              <a:rPr lang="uk-UA" dirty="0"/>
              <a:t>це "</a:t>
            </a:r>
            <a:r>
              <a:rPr lang="uk-UA" dirty="0" err="1"/>
              <a:t>слоти</a:t>
            </a:r>
            <a:r>
              <a:rPr lang="uk-UA" dirty="0"/>
              <a:t>" для одночасного виконання кількох </a:t>
            </a:r>
            <a:r>
              <a:rPr lang="en-US" dirty="0"/>
              <a:t>job. </a:t>
            </a:r>
            <a:r>
              <a:rPr lang="uk-UA" dirty="0"/>
              <a:t>Наприклад, якщо в </a:t>
            </a:r>
            <a:r>
              <a:rPr lang="uk-UA" dirty="0" err="1"/>
              <a:t>агента</a:t>
            </a:r>
            <a:r>
              <a:rPr lang="uk-UA" dirty="0"/>
              <a:t> 2 </a:t>
            </a:r>
            <a:r>
              <a:rPr lang="uk-UA" dirty="0" err="1"/>
              <a:t>екзек’ютори</a:t>
            </a:r>
            <a:r>
              <a:rPr lang="uk-UA" dirty="0"/>
              <a:t>, він може паралельно запускати дві збірки.</a:t>
            </a:r>
          </a:p>
        </p:txBody>
      </p:sp>
    </p:spTree>
    <p:extLst>
      <p:ext uri="{BB962C8B-B14F-4D97-AF65-F5344CB8AC3E}">
        <p14:creationId xmlns:p14="http://schemas.microsoft.com/office/powerpoint/2010/main" val="3226578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72CB2-2F1A-47D6-B0D2-6F5665CB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Схема роботи агентів</a:t>
            </a:r>
          </a:p>
        </p:txBody>
      </p:sp>
      <p:pic>
        <p:nvPicPr>
          <p:cNvPr id="4" name="Picture 2" descr="How to Configure Jenkins Master Slave Setup. - Digital Varys">
            <a:extLst>
              <a:ext uri="{FF2B5EF4-FFF2-40B4-BE49-F238E27FC236}">
                <a16:creationId xmlns:a16="http://schemas.microsoft.com/office/drawing/2014/main" id="{F3CCB2CB-7302-4D40-8589-85323C3D320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1404"/>
            <a:ext cx="8229600" cy="452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220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191CB0-05FF-4EFB-9149-4F379F52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Створення </a:t>
            </a:r>
            <a:r>
              <a:rPr lang="en-US" dirty="0"/>
              <a:t>Build Node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086D52B-39CE-4ED9-830F-B9CAC65C3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Manage Jenkins → Nodes and Clouds → New Node</a:t>
            </a:r>
            <a:endParaRPr lang="en-US" dirty="0"/>
          </a:p>
          <a:p>
            <a:r>
              <a:rPr lang="uk-UA" dirty="0"/>
              <a:t>Вказати ім’я, кількість </a:t>
            </a:r>
            <a:r>
              <a:rPr lang="en-US" dirty="0"/>
              <a:t>executor’</a:t>
            </a:r>
            <a:r>
              <a:rPr lang="uk-UA" dirty="0" err="1"/>
              <a:t>ів</a:t>
            </a:r>
            <a:endParaRPr lang="uk-UA" dirty="0"/>
          </a:p>
          <a:p>
            <a:r>
              <a:rPr lang="uk-UA" dirty="0"/>
              <a:t>Обрати спосіб підключення (</a:t>
            </a:r>
            <a:r>
              <a:rPr lang="en-US" dirty="0"/>
              <a:t>SSH, JNLP, Docker, K8s)</a:t>
            </a:r>
          </a:p>
          <a:p>
            <a:r>
              <a:rPr lang="uk-UA" dirty="0"/>
              <a:t>Зберегти та запустити агент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035140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uk-UA" sz="3200" dirty="0"/>
              <a:t>Створення </a:t>
            </a:r>
            <a:r>
              <a:rPr lang="uk-UA" sz="3200" dirty="0" err="1"/>
              <a:t>джоби</a:t>
            </a:r>
            <a:r>
              <a:rPr lang="uk-UA" sz="3200" dirty="0"/>
              <a:t> для збірки проекту (з підключенням </a:t>
            </a:r>
            <a:r>
              <a:rPr lang="uk-UA" sz="3200" dirty="0" err="1"/>
              <a:t>репозиторію</a:t>
            </a:r>
            <a:r>
              <a:rPr lang="uk-UA" sz="3200" dirty="0"/>
              <a:t> гіту треба повторити кроки з попередніх слайдів)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9737"/>
            <a:ext cx="7679094" cy="3429793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69530"/>
            <a:ext cx="7731599" cy="178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8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sz="3600" dirty="0"/>
              <a:t>Результат створення </a:t>
            </a:r>
            <a:r>
              <a:rPr lang="uk-UA" sz="3600" dirty="0" err="1"/>
              <a:t>Джоби</a:t>
            </a:r>
            <a:r>
              <a:rPr lang="uk-UA" sz="3600" dirty="0"/>
              <a:t> та її запуску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417638"/>
            <a:ext cx="8229600" cy="86966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457" y="2296244"/>
            <a:ext cx="4635085" cy="4006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73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Перегляд результату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786050" y="2932173"/>
            <a:ext cx="4038600" cy="331797"/>
          </a:xfrm>
          <a:prstGeom prst="rect">
            <a:avLst/>
          </a:prstGeom>
        </p:spPr>
      </p:pic>
      <p:sp>
        <p:nvSpPr>
          <p:cNvPr id="7" name="Объект 6"/>
          <p:cNvSpPr>
            <a:spLocks noGrp="1"/>
          </p:cNvSpPr>
          <p:nvPr>
            <p:ph sz="half" idx="2"/>
          </p:nvPr>
        </p:nvSpPr>
        <p:spPr>
          <a:xfrm>
            <a:off x="457200" y="1693506"/>
            <a:ext cx="4038600" cy="4525963"/>
          </a:xfrm>
        </p:spPr>
        <p:txBody>
          <a:bodyPr/>
          <a:lstStyle/>
          <a:p>
            <a:r>
              <a:rPr lang="uk-UA" dirty="0"/>
              <a:t>Внаслідок спрацювання </a:t>
            </a:r>
            <a:r>
              <a:rPr lang="uk-UA" dirty="0" err="1"/>
              <a:t>джоби</a:t>
            </a:r>
            <a:r>
              <a:rPr lang="uk-UA" dirty="0"/>
              <a:t> успішно </a:t>
            </a:r>
            <a:r>
              <a:rPr lang="uk-UA" dirty="0" err="1"/>
              <a:t>забілдився</a:t>
            </a:r>
            <a:r>
              <a:rPr lang="uk-UA" dirty="0"/>
              <a:t> артефакт </a:t>
            </a:r>
            <a:r>
              <a:rPr lang="en-US" dirty="0"/>
              <a:t>main.py </a:t>
            </a:r>
            <a:r>
              <a:rPr lang="uk-UA" dirty="0"/>
              <a:t>і ми можемо його скачати і запустити щоб перевірити що збірка відбулась успішно</a:t>
            </a:r>
          </a:p>
          <a:p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050" y="3737670"/>
            <a:ext cx="3762900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34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1231</Words>
  <Application>Microsoft Macintosh PowerPoint</Application>
  <PresentationFormat>On-screen Show (4:3)</PresentationFormat>
  <Paragraphs>107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Тема 10: Вступ до Jenkins</vt:lpstr>
      <vt:lpstr>План теми</vt:lpstr>
      <vt:lpstr>Що таке CI/CD</vt:lpstr>
      <vt:lpstr>Призначення Jenkins у CI/CD</vt:lpstr>
      <vt:lpstr>Встановлення та налаштування для Windows</vt:lpstr>
      <vt:lpstr>Встановлення Java для Jenkins </vt:lpstr>
      <vt:lpstr>Продовжуємо встановлення</vt:lpstr>
      <vt:lpstr>Вибір порта та версі Java</vt:lpstr>
      <vt:lpstr>Вхід в Jenkins та налаштування</vt:lpstr>
      <vt:lpstr>PowerPoint Presentation</vt:lpstr>
      <vt:lpstr>Встановлення на Linux </vt:lpstr>
      <vt:lpstr>Встановлення на Linux</vt:lpstr>
      <vt:lpstr>Встановлення на Linux</vt:lpstr>
      <vt:lpstr>Основні плагіни Jenkins</vt:lpstr>
      <vt:lpstr>Короткий опис плагінів</vt:lpstr>
      <vt:lpstr>Credentials (Секрети в Дженкінс)</vt:lpstr>
      <vt:lpstr>Де зберігаються?</vt:lpstr>
      <vt:lpstr>Як доступитись до Credentials у Jenkins</vt:lpstr>
      <vt:lpstr>Як доступитись до Credentials у Jenkins</vt:lpstr>
      <vt:lpstr>Що таке Job в Jenkins</vt:lpstr>
      <vt:lpstr>Створення джобів та інтеграція з Git</vt:lpstr>
      <vt:lpstr>Створення джобів та інтеграція з Git</vt:lpstr>
      <vt:lpstr>PowerPoint Presentation</vt:lpstr>
      <vt:lpstr>PowerPoint Presentation</vt:lpstr>
      <vt:lpstr>Результат створення та виконання джоби</vt:lpstr>
      <vt:lpstr>Build Nodes (Агенти Jenkins) — що це таке?</vt:lpstr>
      <vt:lpstr>Схема роботи агентів</vt:lpstr>
      <vt:lpstr>Створення Build Node</vt:lpstr>
      <vt:lpstr>Створення джоби для збірки проекту (з підключенням репозиторію гіту треба повторити кроки з попередніх слайдів)</vt:lpstr>
      <vt:lpstr>Результат створення Джоби та її запуску</vt:lpstr>
      <vt:lpstr>Перегляд результату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10: Вступ до Jenkins</dc:title>
  <dc:subject/>
  <dc:creator/>
  <cp:keywords/>
  <dc:description>generated using python-pptx</dc:description>
  <cp:lastModifiedBy>Nazar Pleskanka</cp:lastModifiedBy>
  <cp:revision>38</cp:revision>
  <dcterms:created xsi:type="dcterms:W3CDTF">2013-01-27T09:14:16Z</dcterms:created>
  <dcterms:modified xsi:type="dcterms:W3CDTF">2025-11-24T22:15:43Z</dcterms:modified>
  <cp:category/>
</cp:coreProperties>
</file>
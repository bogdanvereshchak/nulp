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88" r:id="rId10"/>
    <p:sldId id="264" r:id="rId11"/>
    <p:sldId id="265" r:id="rId12"/>
    <p:sldId id="266" r:id="rId13"/>
    <p:sldId id="267" r:id="rId14"/>
    <p:sldId id="268" r:id="rId15"/>
    <p:sldId id="270" r:id="rId16"/>
    <p:sldId id="272" r:id="rId17"/>
    <p:sldId id="274" r:id="rId18"/>
    <p:sldId id="283" r:id="rId19"/>
    <p:sldId id="284" r:id="rId20"/>
    <p:sldId id="285" r:id="rId21"/>
    <p:sldId id="286" r:id="rId22"/>
    <p:sldId id="279" r:id="rId23"/>
    <p:sldId id="287" r:id="rId2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88" autoAdjust="0"/>
    <p:restoredTop sz="94660"/>
  </p:normalViewPr>
  <p:slideViewPr>
    <p:cSldViewPr snapToGrid="0" showGuides="1">
      <p:cViewPr varScale="1">
        <p:scale>
          <a:sx n="124" d="100"/>
          <a:sy n="124" d="100"/>
        </p:scale>
        <p:origin x="752" y="16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8/24/25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8/24/25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5940" y="1600835"/>
            <a:ext cx="10775315" cy="55156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1915" y="341887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Вступ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DevOps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Мета презентації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Пояснити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сучасній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розробці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Порівняти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класичний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життєвий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підхід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Ознайомити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поняттями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їх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роллю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Розглянути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популярні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DevOps: Jenkins, Terraform, Ansible, Docker.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автоматизованого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порівнянні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ручним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DevOps?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11179810" cy="2617470"/>
          </a:xfrm>
        </p:spPr>
        <p:txBody>
          <a:bodyPr>
            <a:normAutofit fontScale="90000"/>
          </a:bodyPr>
          <a:lstStyle/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підхід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єднує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розробників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(Dev)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операційних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інженерів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(Ops)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єдину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стабільне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безпечне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нових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версій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Поєднує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культуру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співпраці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безперервний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(continuous development).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54375" y="3965575"/>
            <a:ext cx="5302885" cy="31172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/>
          <p:nvPr/>
        </p:nvPicPr>
        <p:blipFill>
          <a:blip r:embed="rId2"/>
          <a:srcRect r="13016"/>
          <a:stretch>
            <a:fillRect/>
          </a:stretch>
        </p:blipFill>
        <p:spPr>
          <a:xfrm>
            <a:off x="7524115" y="4061460"/>
            <a:ext cx="4667885" cy="279654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90195"/>
            <a:ext cx="10515600" cy="1325563"/>
          </a:xfrm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Історія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появи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DevOps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8462645" cy="3797935"/>
          </a:xfrm>
        </p:spPr>
        <p:txBody>
          <a:bodyPr>
            <a:normAutofit fontScale="70000"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2009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адміністрування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розділеними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світами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призводило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конфліктів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затримок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2009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рік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Бельгії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відбулася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перша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конференція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 Days,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офіційно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закріпили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термін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DevOps.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Ідея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виросла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Agile-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методології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розвитком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хмарних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сервісів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 DevOps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великих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компаніях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(Google, Netflix, Amazon).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Життєвий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DevOps</a:t>
            </a:r>
          </a:p>
        </p:txBody>
      </p:sp>
      <p:pic>
        <p:nvPicPr>
          <p:cNvPr id="8" name="Изображение 7"/>
          <p:cNvPicPr/>
          <p:nvPr/>
        </p:nvPicPr>
        <p:blipFill>
          <a:blip r:embed="rId2"/>
          <a:stretch>
            <a:fillRect/>
          </a:stretch>
        </p:blipFill>
        <p:spPr>
          <a:xfrm>
            <a:off x="1607185" y="982980"/>
            <a:ext cx="8597265" cy="5449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/>
          <p:nvPr/>
        </p:nvPicPr>
        <p:blipFill>
          <a:blip r:embed="rId2"/>
          <a:srcRect t="21957"/>
          <a:stretch>
            <a:fillRect/>
          </a:stretch>
        </p:blipFill>
        <p:spPr>
          <a:xfrm>
            <a:off x="0" y="2872105"/>
            <a:ext cx="8214360" cy="398589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Класичний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життєвий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програмного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забезпечення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19910"/>
            <a:ext cx="11137265" cy="816610"/>
          </a:xfrm>
        </p:spPr>
        <p:txBody>
          <a:bodyPr>
            <a:normAutofit lnSpcReduction="20000"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Життєвий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цикл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(SDLC — Software Development Life Cycle)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складається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послідовних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етапів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Проблеми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класичного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підходу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ПЗ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Тривалі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релізи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оновлення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можуть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виходити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кілька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місяців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років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Стіна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Ops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розробники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хочуть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випускати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адміністратори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бояться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нестабільності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виправляти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пізніх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етапах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кожна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зміна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тягне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собою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переробку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кількох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етапів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Мало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більшість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вручну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Повільна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реакція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бізнесу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довгий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ідеї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реального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Класичний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підхід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vs DevOps</a:t>
            </a:r>
          </a:p>
        </p:txBody>
      </p:sp>
      <p:graphicFrame>
        <p:nvGraphicFramePr>
          <p:cNvPr id="5" name="Таблица 4"/>
          <p:cNvGraphicFramePr/>
          <p:nvPr>
            <p:custDataLst>
              <p:tags r:id="rId1"/>
            </p:custDataLst>
          </p:nvPr>
        </p:nvGraphicFramePr>
        <p:xfrm>
          <a:off x="940435" y="1437640"/>
          <a:ext cx="9949815" cy="512064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6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Класичний підхід (Waterfall)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DevOps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Організація роботи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Розділені команди (Dev і Ops окремо)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Єдина команда DevOps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Швидкість релізів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Рідкісні релізи (раз на місяці)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Часті, навіть кілька разів на день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Тестування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Після завершення розробки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Безперервне тестування (CI)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Розгортання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Переважно вручну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Автоматизоване (CD)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Ризики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Високі через великі зміни за раз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Менші, бо релізи маленькі й часті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Зворотний зв’язок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Повільний, після завершення проекту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Швидкий, у режимі реального часу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Docker Architecture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rcRect t="14537" b="8231"/>
          <a:stretch>
            <a:fillRect/>
          </a:stretch>
        </p:blipFill>
        <p:spPr>
          <a:xfrm>
            <a:off x="451485" y="1435735"/>
            <a:ext cx="10907395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00" y="1414145"/>
            <a:ext cx="11189335" cy="5238115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770255" y="306070"/>
            <a:ext cx="9488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altLang="ru-RU" sz="4800" b="1">
                <a:latin typeface="Arial" panose="020B0604020202020204" pitchFamily="34" charset="0"/>
                <a:cs typeface="Arial" panose="020B0604020202020204" pitchFamily="34" charset="0"/>
              </a:rPr>
              <a:t>Основи </a:t>
            </a:r>
            <a:r>
              <a:rPr lang="en-US" altLang="ru-RU" sz="4800" b="1">
                <a:latin typeface="Arial" panose="020B0604020202020204" pitchFamily="34" charset="0"/>
                <a:cs typeface="Arial" panose="020B0604020202020204" pitchFamily="34" charset="0"/>
              </a:rPr>
              <a:t>CI/DC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Безперервна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інтеграція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(CI</a:t>
            </a:r>
            <a:r>
              <a:rPr lang="en-US" altLang="ru-RU"/>
              <a:t>)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практика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частої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інтеграції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змін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спільну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гілку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(main/master).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Кожен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коміт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автоматично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Збирає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(build).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Проганяє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(automated testing).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Перевіряє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відповідність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стандартам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(linting, code quality).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виявлення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ранньому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етапі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щоб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накопичувалися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Поширені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Jenkins, GitHub Actions, GitLab CI, CircleCI.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Безперервна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доставка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(CD)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Delivery (CD):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підготовлення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Реліз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вручну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Deployment: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тестові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бойові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після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успішного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Кожна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змiна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потрапляє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Мета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CD: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Зменшити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між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написанням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доставкою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продукту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Підвищити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стабільність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надійність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релізів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CI/CD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конвеєр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(Pipeline)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4236085"/>
            <a:ext cx="10732135" cy="2272030"/>
          </a:xfrm>
        </p:spPr>
        <p:txBody>
          <a:bodyPr>
            <a:noAutofit/>
          </a:bodyPr>
          <a:lstStyle/>
          <a:p>
            <a:endParaRPr lang="en-US" altLang="ru-RU" sz="1300"/>
          </a:p>
          <a:p>
            <a:r>
              <a:rPr lang="en-US" alt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pipeline: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Мінімізація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ручної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Швидке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виявлення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Безпечний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контрольований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реліз</a:t>
            </a:r>
            <a:r>
              <a:rPr lang="en-US" altLang="ru-RU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431165" y="1270635"/>
            <a:ext cx="102616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/>
          <p:nvPr/>
        </p:nvPicPr>
        <p:blipFill>
          <a:blip r:embed="rId2"/>
          <a:srcRect r="9715"/>
          <a:stretch>
            <a:fillRect/>
          </a:stretch>
        </p:blipFill>
        <p:spPr>
          <a:xfrm>
            <a:off x="7319645" y="3341370"/>
            <a:ext cx="4508500" cy="33178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Jenkins —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інструмент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CI/CD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825625"/>
            <a:ext cx="9505950" cy="4077335"/>
          </a:xfrm>
        </p:spPr>
        <p:txBody>
          <a:bodyPr>
            <a:normAutofit lnSpcReduction="10000"/>
          </a:bodyPr>
          <a:lstStyle/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Jenkins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популярний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допомагає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реалізувати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можливості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збірка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після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коміту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перевірок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якості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Деплой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тестові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або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продакшн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Підтримка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плагінів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інтеграції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іншими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(Git, Docker, Ansible).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Terraform —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інфраструктура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як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(IaC)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74345" y="1493520"/>
            <a:ext cx="10688320" cy="2850515"/>
          </a:xfrm>
        </p:spPr>
        <p:txBody>
          <a:bodyPr>
            <a:normAutofit fontScale="70000"/>
          </a:bodyPr>
          <a:lstStyle/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Terraform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автоматизованого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керування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інфраструктурою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ідея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Infrastructure as Code (IaC)</a:t>
            </a:r>
            <a:r>
              <a:rPr lang="uk-UA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Усі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мережі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бази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описуються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конфігураційних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файлах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Прозорість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версій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інфраструктури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Можливість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відтворювати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інтегрується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хмарними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провайдерами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(AWS, GCP, Azure).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01420" y="4109720"/>
            <a:ext cx="8455025" cy="2618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Ansible —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автоматизація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конфігурацій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680845"/>
            <a:ext cx="10427970" cy="1337310"/>
          </a:xfrm>
        </p:spPr>
        <p:txBody>
          <a:bodyPr>
            <a:normAutofit fontScale="80000"/>
          </a:bodyPr>
          <a:lstStyle/>
          <a:p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Ansible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управління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Працює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принципом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agentless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встановлення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додаткового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серверах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2894330"/>
            <a:ext cx="5676265" cy="3429635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3"/>
          <a:stretch>
            <a:fillRect/>
          </a:stretch>
        </p:blipFill>
        <p:spPr>
          <a:xfrm>
            <a:off x="951865" y="2894330"/>
            <a:ext cx="4597400" cy="34296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Docker —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контейнеризація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додатків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>
            <a:normAutofit fontScale="65000"/>
          </a:bodyPr>
          <a:lstStyle/>
          <a:p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платформа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контейнерах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ізольований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містить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необхідне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роботи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бібліотеки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залежності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Docker: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Портативність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працює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однаково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будь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стартують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секунди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Ізоляція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кожен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незалежний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інших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Основні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компоненти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Engine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Images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шаблони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створення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Hub —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публічне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сховище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73240" y="4271645"/>
            <a:ext cx="5318760" cy="23101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Що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таке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програмного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забезпечення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перенесення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середовища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його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будуть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користувачі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Існують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підходи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Ручне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розробник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кроки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вручну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Автоматизоване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контролюється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системою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мінімізуючи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участь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людини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Ручне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Ручне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коли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розробник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виконує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кроки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переносу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сервер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Просте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налаштування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невеликих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проєктів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Повний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контроль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кожним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кроком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Недоліки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Потребує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багато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повторювані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Високий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ризик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людський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фактор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Важко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великих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проєктів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3" name="Изображение 12"/>
          <p:cNvPicPr/>
          <p:nvPr/>
        </p:nvPicPr>
        <p:blipFill>
          <a:blip r:embed="rId2"/>
          <a:stretch>
            <a:fillRect/>
          </a:stretch>
        </p:blipFill>
        <p:spPr>
          <a:xfrm>
            <a:off x="7872095" y="2613660"/>
            <a:ext cx="3291205" cy="37585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Автоматизоване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815840"/>
          </a:xfrm>
        </p:spPr>
        <p:txBody>
          <a:bodyPr>
            <a:normAutofit fontScale="90000" lnSpcReduction="10000"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Автоматизоване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використовує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інструменти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безпомилкового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переносу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повторюване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Мінімізація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людських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Легке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часті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оновлення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Відстеження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через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логування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90900" y="1939290"/>
            <a:ext cx="541020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Порівняння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результатів</a:t>
            </a:r>
          </a:p>
        </p:txBody>
      </p:sp>
      <p:graphicFrame>
        <p:nvGraphicFramePr>
          <p:cNvPr id="4" name="Таблица 3"/>
          <p:cNvGraphicFramePr/>
          <p:nvPr>
            <p:custDataLst>
              <p:tags r:id="rId1"/>
            </p:custDataLst>
          </p:nvPr>
        </p:nvGraphicFramePr>
        <p:xfrm>
          <a:off x="853440" y="2111375"/>
          <a:ext cx="10471785" cy="3565525"/>
        </p:xfrm>
        <a:graphic>
          <a:graphicData uri="http://schemas.openxmlformats.org/drawingml/2006/table">
            <a:tbl>
              <a:tblPr/>
              <a:tblGrid>
                <a:gridCol w="3490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Характеристика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Ручне розгортання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Автоматизоване розгортання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Швидкість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Повільно, залежить від людини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Швидко та стабільно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Ризик помилок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Високий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Мінімальний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Масштабування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Важко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Легко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1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Частота оновлень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Рідко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Часто, навіть кілька разів на день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Переваги</a:t>
            </a:r>
            <a:r>
              <a:rPr lang="en-US" altLang="ru-RU">
                <a:latin typeface="Arial" panose="020B0604020202020204" pitchFamily="34" charset="0"/>
                <a:cs typeface="Arial" panose="020B0604020202020204" pitchFamily="34" charset="0"/>
              </a:rPr>
              <a:t> Docker 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47700" y="1584325"/>
            <a:ext cx="10515600" cy="435133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Портативність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працюють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однаково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будь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якій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стартують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секунди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Ізоляція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забезпечує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незалежність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додатків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один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одного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Легка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масштабованість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можна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запускати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кілька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контейнерів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Автоматизація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інтегрується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CI/CD pipeline.</a:t>
            </a: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altLang="ru-RU">
                <a:latin typeface="Arial" panose="020B0604020202020204" pitchFamily="34" charset="0"/>
                <a:cs typeface="Arial" panose="020B0604020202020204" pitchFamily="34" charset="0"/>
              </a:rPr>
              <a:t>Висновок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Docker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спрощує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розробку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тестування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розгортання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додатків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Контейнери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роблять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процес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доставки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продукту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швидким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надійним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відтворюваним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Ідеально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поєднується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з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DevOps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практиками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та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іншими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інструментами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автоматизації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en-US"/>
          </a:p>
        </p:txBody>
      </p:sp>
      <p:pic>
        <p:nvPicPr>
          <p:cNvPr id="5" name="Изображение 4"/>
          <p:cNvPicPr/>
          <p:nvPr/>
        </p:nvPicPr>
        <p:blipFill>
          <a:blip r:embed="rId2"/>
          <a:stretch>
            <a:fillRect/>
          </a:stretch>
        </p:blipFill>
        <p:spPr>
          <a:xfrm>
            <a:off x="7511415" y="4123055"/>
            <a:ext cx="4147185" cy="244856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7*364"/>
  <p:tag name="TABLE_ENDDRAG_RECT" val="54*152*867*36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4*209"/>
  <p:tag name="TABLE_ENDDRAG_RECT" val="67*237*824*20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Macintosh PowerPoint</Application>
  <PresentationFormat>Widescreen</PresentationFormat>
  <Paragraphs>174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Office Theme</vt:lpstr>
      <vt:lpstr>Вступ до DevOps та автоматизації розгортання</vt:lpstr>
      <vt:lpstr>Мета презентації</vt:lpstr>
      <vt:lpstr>Що таке DevOps?</vt:lpstr>
      <vt:lpstr>Історія появи DevOps</vt:lpstr>
      <vt:lpstr>Життєвий цикл розробки в DevOps</vt:lpstr>
      <vt:lpstr>Класичний життєвий цикл програмного забезпечення</vt:lpstr>
      <vt:lpstr>Проблеми класичного підходу до розробки ПЗ</vt:lpstr>
      <vt:lpstr>Класичний підхід vs DevOps</vt:lpstr>
      <vt:lpstr>Docker Architecture</vt:lpstr>
      <vt:lpstr>PowerPoint Presentation</vt:lpstr>
      <vt:lpstr>Безперервна інтеграція (CI)</vt:lpstr>
      <vt:lpstr>Безперервна доставка та розгортання (CD)</vt:lpstr>
      <vt:lpstr>CI/CD конвеєр (Pipeline)</vt:lpstr>
      <vt:lpstr>Jenkins — інструмент для автоматизації CI/CD</vt:lpstr>
      <vt:lpstr>Terraform — інфраструктура як код (IaC)</vt:lpstr>
      <vt:lpstr>Ansible — автоматизація конфігурацій і розгортання</vt:lpstr>
      <vt:lpstr>Docker — контейнеризація додатків</vt:lpstr>
      <vt:lpstr>Що таке розгортання програмного забезпечення</vt:lpstr>
      <vt:lpstr>Ручне розгортання</vt:lpstr>
      <vt:lpstr>Автоматизоване розгортання</vt:lpstr>
      <vt:lpstr>Порівняння результатів</vt:lpstr>
      <vt:lpstr>Переваги Docker </vt:lpstr>
      <vt:lpstr>Висновок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Nazar Pleskanka</cp:lastModifiedBy>
  <cp:revision>8</cp:revision>
  <dcterms:created xsi:type="dcterms:W3CDTF">2025-08-13T18:40:00Z</dcterms:created>
  <dcterms:modified xsi:type="dcterms:W3CDTF">2025-08-24T14:00:49Z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1049-12.2.0.21931</vt:lpwstr>
  </property>
  <property fmtid="{D5CDD505-2E9C-101B-9397-08002B2CF9AE}" pid="3" name="ICV">
    <vt:lpwstr>8FD3ABD1F3684A03A48896EF02C3735C_13</vt:lpwstr>
  </property>
</Properties>
</file>
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63" r:id="rId2"/>
    <p:sldId id="265" r:id="rId3"/>
    <p:sldId id="264" r:id="rId4"/>
    <p:sldId id="266" r:id="rId5"/>
    <p:sldId id="281" r:id="rId6"/>
    <p:sldId id="267" r:id="rId7"/>
    <p:sldId id="268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78" r:id="rId17"/>
    <p:sldId id="280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</p:sldIdLst>
  <p:sldSz cx="12192000" cy="6858000"/>
  <p:notesSz cx="6858000" cy="9144000"/>
  <p:defaultTextStyle>
    <a:defPPr rtl="0"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промовчанням" id="{32F47ED6-EBAB-4208-8BF1-A65A5466A4F8}">
          <p14:sldIdLst>
            <p14:sldId id="263"/>
            <p14:sldId id="265"/>
            <p14:sldId id="264"/>
            <p14:sldId id="266"/>
            <p14:sldId id="281"/>
            <p14:sldId id="267"/>
            <p14:sldId id="268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78"/>
            <p14:sldId id="280"/>
            <p14:sldId id="282"/>
            <p14:sldId id="283"/>
            <p14:sldId id="284"/>
            <p14:sldId id="285"/>
          </p14:sldIdLst>
        </p14:section>
        <p14:section name="Розділ без заголовка" id="{D6C489FE-D46D-4E36-BB60-BCEED348840A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04" autoAdjust="0"/>
    <p:restoredTop sz="94704" autoAdjust="0"/>
  </p:normalViewPr>
  <p:slideViewPr>
    <p:cSldViewPr snapToGrid="0">
      <p:cViewPr varScale="1">
        <p:scale>
          <a:sx n="154" d="100"/>
          <a:sy n="154" d="100"/>
        </p:scale>
        <p:origin x="23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custSel modSld modMainMaster modNotesMaster modHandout">
      <pc:chgData name="Fake Test User" userId="SID-0" providerId="Test" clId="FakeClientId" dt="2019-02-02T02:15:52.729" v="31" actId="790"/>
      <pc:docMkLst>
        <pc:docMk/>
      </pc:docMkLst>
      <pc:sldChg chg="modSp modNotes">
        <pc:chgData name="Fake Test User" userId="SID-0" providerId="Test" clId="FakeClientId" dt="2019-02-02T02:15:21.965" v="28" actId="790"/>
        <pc:sldMkLst>
          <pc:docMk/>
          <pc:sldMk cId="2120883542" sldId="259"/>
        </pc:sldMkLst>
        <pc:spChg chg="mod">
          <ac:chgData name="Fake Test User" userId="SID-0" providerId="Test" clId="FakeClientId" dt="2019-02-02T01:44:58.109" v="2" actId="27636"/>
          <ac:spMkLst>
            <pc:docMk/>
            <pc:sldMk cId="2120883542" sldId="259"/>
            <ac:spMk id="13" creationId="{00000000-0000-0000-0000-000000000000}"/>
          </ac:spMkLst>
        </pc:spChg>
        <pc:spChg chg="mod">
          <ac:chgData name="Fake Test User" userId="SID-0" providerId="Test" clId="FakeClientId" dt="2019-02-02T01:44:58" v="1" actId="790"/>
          <ac:spMkLst>
            <pc:docMk/>
            <pc:sldMk cId="2120883542" sldId="259"/>
            <ac:spMk id="14" creationId="{00000000-0000-0000-0000-000000000000}"/>
          </ac:spMkLst>
        </pc:spChg>
      </pc:sldChg>
      <pc:sldChg chg="modSp mod modNotes">
        <pc:chgData name="Fake Test User" userId="SID-0" providerId="Test" clId="FakeClientId" dt="2019-02-02T02:15:28.840" v="29" actId="790"/>
        <pc:sldMkLst>
          <pc:docMk/>
          <pc:sldMk cId="1673355267" sldId="260"/>
        </pc:sldMkLst>
        <pc:spChg chg="mod">
          <ac:chgData name="Fake Test User" userId="SID-0" providerId="Test" clId="FakeClientId" dt="2019-02-02T01:45:31.231" v="7" actId="27636"/>
          <ac:spMkLst>
            <pc:docMk/>
            <pc:sldMk cId="1673355267" sldId="260"/>
            <ac:spMk id="2" creationId="{00000000-0000-0000-0000-000000000000}"/>
          </ac:spMkLst>
        </pc:spChg>
        <pc:graphicFrameChg chg="mod">
          <ac:chgData name="Fake Test User" userId="SID-0" providerId="Test" clId="FakeClientId" dt="2019-02-02T01:45:31.231" v="7" actId="27636"/>
          <ac:graphicFrameMkLst>
            <pc:docMk/>
            <pc:sldMk cId="1673355267" sldId="260"/>
            <ac:graphicFrameMk id="10" creationId="{00000000-0000-0000-0000-000000000000}"/>
          </ac:graphicFrameMkLst>
        </pc:graphicFrameChg>
      </pc:sldChg>
      <pc:sldChg chg="modSp modNotes">
        <pc:chgData name="Fake Test User" userId="SID-0" providerId="Test" clId="FakeClientId" dt="2019-02-02T02:15:35.089" v="30" actId="790"/>
        <pc:sldMkLst>
          <pc:docMk/>
          <pc:sldMk cId="3291707652" sldId="261"/>
        </pc:sldMkLst>
        <pc:spChg chg="mod">
          <ac:chgData name="Fake Test User" userId="SID-0" providerId="Test" clId="FakeClientId" dt="2019-02-02T01:45:56.246" v="8" actId="790"/>
          <ac:spMkLst>
            <pc:docMk/>
            <pc:sldMk cId="3291707652" sldId="261"/>
            <ac:spMk id="2" creationId="{00000000-0000-0000-0000-000000000000}"/>
          </ac:spMkLst>
        </pc:spChg>
        <pc:spChg chg="mod">
          <ac:chgData name="Fake Test User" userId="SID-0" providerId="Test" clId="FakeClientId" dt="2019-02-02T01:45:56.246" v="8" actId="790"/>
          <ac:spMkLst>
            <pc:docMk/>
            <pc:sldMk cId="3291707652" sldId="261"/>
            <ac:spMk id="5" creationId="{00000000-0000-0000-0000-000000000000}"/>
          </ac:spMkLst>
        </pc:spChg>
        <pc:graphicFrameChg chg="modGraphic">
          <ac:chgData name="Fake Test User" userId="SID-0" providerId="Test" clId="FakeClientId" dt="2019-02-02T01:46:16.056" v="10" actId="790"/>
          <ac:graphicFrameMkLst>
            <pc:docMk/>
            <pc:sldMk cId="3291707652" sldId="261"/>
            <ac:graphicFrameMk id="9" creationId="{00000000-0000-0000-0000-000000000000}"/>
          </ac:graphicFrameMkLst>
        </pc:graphicFrameChg>
      </pc:sldChg>
      <pc:sldChg chg="modNotes">
        <pc:chgData name="Fake Test User" userId="SID-0" providerId="Test" clId="FakeClientId" dt="2019-02-02T02:15:52.729" v="31" actId="790"/>
        <pc:sldMkLst>
          <pc:docMk/>
          <pc:sldMk cId="72188550" sldId="262"/>
        </pc:sldMkLst>
      </pc:sldChg>
      <pc:sldChg chg="modSp modNotes">
        <pc:chgData name="Fake Test User" userId="SID-0" providerId="Test" clId="FakeClientId" dt="2019-02-02T02:15:14.684" v="27" actId="790"/>
        <pc:sldMkLst>
          <pc:docMk/>
          <pc:sldMk cId="4272805816" sldId="263"/>
        </pc:sldMkLst>
        <pc:spChg chg="mod">
          <ac:chgData name="Fake Test User" userId="SID-0" providerId="Test" clId="FakeClientId" dt="2019-02-02T01:43:49.957" v="0" actId="790"/>
          <ac:spMkLst>
            <pc:docMk/>
            <pc:sldMk cId="4272805816" sldId="263"/>
            <ac:spMk id="9" creationId="{00000000-0000-0000-0000-000000000000}"/>
          </ac:spMkLst>
        </pc:spChg>
        <pc:spChg chg="mod">
          <ac:chgData name="Fake Test User" userId="SID-0" providerId="Test" clId="FakeClientId" dt="2019-02-02T01:43:49.957" v="0" actId="790"/>
          <ac:spMkLst>
            <pc:docMk/>
            <pc:sldMk cId="4272805816" sldId="263"/>
            <ac:spMk id="10" creationId="{00000000-0000-0000-0000-000000000000}"/>
          </ac:spMkLst>
        </pc:spChg>
      </pc:sldChg>
      <pc:sldMasterChg chg="modSldLayout">
        <pc:chgData name="Fake Test User" userId="SID-0" providerId="Test" clId="FakeClientId" dt="2019-02-02T02:13:16.756" v="23" actId="790"/>
        <pc:sldMasterMkLst>
          <pc:docMk/>
          <pc:sldMasterMk cId="2418306645" sldId="2147483660"/>
        </pc:sldMasterMkLst>
        <pc:sldLayoutChg chg="modSp">
          <pc:chgData name="Fake Test User" userId="SID-0" providerId="Test" clId="FakeClientId" dt="2019-02-02T01:49:58.400" v="11" actId="790"/>
          <pc:sldLayoutMkLst>
            <pc:docMk/>
            <pc:sldMasterMk cId="2418306645" sldId="2147483660"/>
            <pc:sldLayoutMk cId="2387230882" sldId="2147483662"/>
          </pc:sldLayoutMkLst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0:06.494" v="12" actId="790"/>
          <pc:sldLayoutMkLst>
            <pc:docMk/>
            <pc:sldMasterMk cId="2418306645" sldId="2147483660"/>
            <pc:sldLayoutMk cId="3112303157" sldId="2147483663"/>
          </pc:sldLayoutMkLst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08.495" v="14" actId="790"/>
          <pc:sldLayoutMkLst>
            <pc:docMk/>
            <pc:sldMasterMk cId="2418306645" sldId="2147483660"/>
            <pc:sldLayoutMk cId="3578019991" sldId="2147483664"/>
          </pc:sldLayoutMkLst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35.306" v="16" actId="790"/>
          <pc:sldLayoutMkLst>
            <pc:docMk/>
            <pc:sldMasterMk cId="2418306645" sldId="2147483660"/>
            <pc:sldLayoutMk cId="941831192" sldId="2147483665"/>
          </pc:sldLayoutMkLst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5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0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1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2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49.555" v="17" actId="790"/>
          <pc:sldLayoutMkLst>
            <pc:docMk/>
            <pc:sldMasterMk cId="2418306645" sldId="2147483660"/>
            <pc:sldLayoutMk cId="3382545829" sldId="2147483666"/>
          </pc:sldLayoutMkLst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8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05.182" v="19" actId="790"/>
          <pc:sldLayoutMkLst>
            <pc:docMk/>
            <pc:sldMasterMk cId="2418306645" sldId="2147483660"/>
            <pc:sldLayoutMk cId="797648398" sldId="2147483667"/>
          </pc:sldLayoutMkLst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5" creationId="{00000000-0000-0000-0000-000000000000}"/>
            </ac:spMkLst>
          </pc:spChg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26.087" v="20" actId="790"/>
          <pc:sldLayoutMkLst>
            <pc:docMk/>
            <pc:sldMasterMk cId="2418306645" sldId="2147483660"/>
            <pc:sldLayoutMk cId="1664369684" sldId="2147483668"/>
          </pc:sldLayoutMkLst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45.085" v="21" actId="790"/>
          <pc:sldLayoutMkLst>
            <pc:docMk/>
            <pc:sldMasterMk cId="2418306645" sldId="2147483660"/>
            <pc:sldLayoutMk cId="3953468857" sldId="2147483669"/>
          </pc:sldLayoutMkLst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58.835" v="22" actId="790"/>
          <pc:sldLayoutMkLst>
            <pc:docMk/>
            <pc:sldMasterMk cId="2418306645" sldId="2147483660"/>
            <pc:sldLayoutMk cId="4006949616" sldId="2147483670"/>
          </pc:sldLayoutMkLst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3:16.756" v="23" actId="790"/>
          <pc:sldLayoutMkLst>
            <pc:docMk/>
            <pc:sldMasterMk cId="2418306645" sldId="2147483660"/>
            <pc:sldLayoutMk cId="1676023556" sldId="2147483671"/>
          </pc:sldLayoutMkLst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F71AF1-BFF6-4CB8-A9A9-BB035F965074}" type="datetime1">
              <a:rPr lang="uk-UA" smtClean="0"/>
              <a:t>04.11.25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F910782-FDC2-4F7C-A018-7A502E5089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483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59F760-76B7-4CBB-856D-8F0D61B07A8A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uk-UA" noProof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936D52-512B-47DE-BC94-6C88A56CE986}" type="slidenum">
              <a:rPr lang="uk-UA" noProof="0" smtClean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3409969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C936D52-512B-47DE-BC94-6C88A56CE986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3922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94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8712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6280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230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3753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2486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6978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3443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2075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204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9685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8671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9520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452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2173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2863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103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944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4041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8716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652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6410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0061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0973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78468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30234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39825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46951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31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1212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32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28645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33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0650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а 15"/>
          <p:cNvGrpSpPr/>
          <p:nvPr userDrawn="1"/>
        </p:nvGrpSpPr>
        <p:grpSpPr bwMode="ltGray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Прямокутник 13"/>
            <p:cNvSpPr/>
            <p:nvPr/>
          </p:nvSpPr>
          <p:spPr bwMode="ltGray"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uk-UA" noProof="0" dirty="0"/>
            </a:p>
          </p:txBody>
        </p:sp>
        <p:sp>
          <p:nvSpPr>
            <p:cNvPr id="8" name="Овал 2"/>
            <p:cNvSpPr>
              <a:spLocks noChangeArrowheads="1"/>
            </p:cNvSpPr>
            <p:nvPr/>
          </p:nvSpPr>
          <p:spPr bwMode="ltGray">
            <a:xfrm flipH="1">
              <a:off x="9045819" y="16002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9" name="Овал 3"/>
            <p:cNvSpPr>
              <a:spLocks noChangeArrowheads="1"/>
            </p:cNvSpPr>
            <p:nvPr/>
          </p:nvSpPr>
          <p:spPr bwMode="ltGray">
            <a:xfrm flipH="1">
              <a:off x="7255119" y="16002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0" name="Овал 4"/>
            <p:cNvSpPr>
              <a:spLocks noChangeArrowheads="1"/>
            </p:cNvSpPr>
            <p:nvPr/>
          </p:nvSpPr>
          <p:spPr bwMode="ltGray">
            <a:xfrm flipH="1">
              <a:off x="5464419" y="1600200"/>
              <a:ext cx="1524000" cy="1524000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1" name="Овал 5"/>
            <p:cNvSpPr>
              <a:spLocks noChangeArrowheads="1"/>
            </p:cNvSpPr>
            <p:nvPr/>
          </p:nvSpPr>
          <p:spPr bwMode="ltGray">
            <a:xfrm flipH="1">
              <a:off x="5464419" y="32766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2" name="Овал 6"/>
            <p:cNvSpPr>
              <a:spLocks noChangeArrowheads="1"/>
            </p:cNvSpPr>
            <p:nvPr/>
          </p:nvSpPr>
          <p:spPr bwMode="ltGray">
            <a:xfrm flipH="1">
              <a:off x="3732457" y="32766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3" name="Овал 7"/>
            <p:cNvSpPr>
              <a:spLocks noChangeArrowheads="1"/>
            </p:cNvSpPr>
            <p:nvPr/>
          </p:nvSpPr>
          <p:spPr bwMode="ltGray">
            <a:xfrm flipH="1">
              <a:off x="9045819" y="3276600"/>
              <a:ext cx="1524000" cy="1524000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l">
              <a:defRPr sz="6000"/>
            </a:lvl1pPr>
          </a:lstStyle>
          <a:p>
            <a:pPr rtl="0"/>
            <a:r>
              <a:rPr lang="uk-UA" noProof="0"/>
              <a:t>Зразок заголовка</a:t>
            </a:r>
            <a:endParaRPr lang="uk-UA" noProof="0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 b="1" i="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uk-UA" noProof="0"/>
              <a:t>Зразок підзаголовка</a:t>
            </a:r>
            <a:endParaRPr lang="uk-UA" noProof="0" dirty="0"/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62C269-D084-4370-B4B0-7C3E8820E28B}" type="datetime1">
              <a:rPr lang="uk-UA" noProof="0" smtClean="0"/>
              <a:t>04.11.25</a:t>
            </a:fld>
            <a:endParaRPr lang="uk-UA" noProof="0" dirty="0"/>
          </a:p>
        </p:txBody>
      </p:sp>
      <p:sp>
        <p:nvSpPr>
          <p:cNvPr id="29" name="Заповнювач для нижнього колонтитула 2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 dirty="0"/>
              <a:t>Додайте нижній колонтитул</a:t>
            </a:r>
          </a:p>
        </p:txBody>
      </p:sp>
      <p:sp>
        <p:nvSpPr>
          <p:cNvPr id="30" name="Заповнювач для номера слайда 2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419750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A9CF2D1-7D48-4340-990C-36E233E06D2F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8" name="Заповнювач для нижнього колонтитула 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238723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62262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66ED3F-1686-46CB-8995-B9D1E7F0D8B8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11230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лемент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18079F-4C55-45F4-A7AE-2247E70E2AF0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5780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274638"/>
            <a:ext cx="10515600" cy="1143000"/>
          </a:xfrm>
        </p:spPr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831850" y="1489075"/>
            <a:ext cx="5156200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831850" y="2193925"/>
            <a:ext cx="515620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 hasCustomPrompt="1"/>
          </p:nvPr>
        </p:nvSpPr>
        <p:spPr>
          <a:xfrm>
            <a:off x="6189663" y="1489075"/>
            <a:ext cx="5157787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 hasCustomPrompt="1"/>
          </p:nvPr>
        </p:nvSpPr>
        <p:spPr>
          <a:xfrm>
            <a:off x="6189663" y="2193925"/>
            <a:ext cx="5157787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10" name="Заповнювач для дати 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6B0831-F4C6-4BEF-9C4F-27729561C8BF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11" name="Заповнювач для нижнього колонтитула 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2" name="Заповнювач для номера слайда 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94183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6" name="Заповнювач для дати 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2D664-4F5F-4CE1-9DD4-F4911B007F8B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7" name="Заповнювач для нижнього колонтитула 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8" name="Місце для номера слайда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38254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повнювач для дати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50C221-C4A2-48F1-9BC7-1A582A35B2B6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6" name="Заповнювач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79764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338138" indent="-338138"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833521-5C7D-482C-9877-FC73F3A75E95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66436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зображення 2" descr="Пустий покажчик місця заповнення для зображення Клацніть цей покажчик і виберіть зображення, яке потрібно додати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F6CF3A-069D-480F-B7E0-44D0D3A5D8A1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9534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62EF3B-FE2B-469D-B919-DB7024896F56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400694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 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30C3FD-AA51-4EC7-8233-3F59BCA42C8A}" type="datetime1">
              <a:rPr lang="uk-UA" noProof="0" smtClean="0"/>
              <a:t>04.11.25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676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а 20"/>
          <p:cNvGrpSpPr/>
          <p:nvPr userDrawn="1"/>
        </p:nvGrpSpPr>
        <p:grpSpPr>
          <a:xfrm>
            <a:off x="1860687" y="450998"/>
            <a:ext cx="7620000" cy="1139952"/>
            <a:chOff x="1860687" y="450998"/>
            <a:chExt cx="7620000" cy="1139952"/>
          </a:xfrm>
        </p:grpSpPr>
        <p:pic>
          <p:nvPicPr>
            <p:cNvPr id="22" name="Зображення 21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60687" y="450998"/>
              <a:ext cx="7620000" cy="1139952"/>
            </a:xfrm>
            <a:prstGeom prst="rect">
              <a:avLst/>
            </a:prstGeom>
          </p:spPr>
        </p:pic>
        <p:grpSp>
          <p:nvGrpSpPr>
            <p:cNvPr id="23" name="Група 22"/>
            <p:cNvGrpSpPr/>
            <p:nvPr userDrawn="1"/>
          </p:nvGrpSpPr>
          <p:grpSpPr>
            <a:xfrm>
              <a:off x="1860687" y="450998"/>
              <a:ext cx="7615237" cy="1106488"/>
              <a:chOff x="1891518" y="519806"/>
              <a:chExt cx="7615237" cy="1106488"/>
            </a:xfrm>
          </p:grpSpPr>
          <p:sp>
            <p:nvSpPr>
              <p:cNvPr id="24" name="Овал 6"/>
              <p:cNvSpPr>
                <a:spLocks noChangeArrowheads="1"/>
              </p:cNvSpPr>
              <p:nvPr/>
            </p:nvSpPr>
            <p:spPr bwMode="hidden">
              <a:xfrm flipH="1">
                <a:off x="5688818" y="519806"/>
                <a:ext cx="1104900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5" name="Овал 7"/>
              <p:cNvSpPr>
                <a:spLocks noChangeArrowheads="1"/>
              </p:cNvSpPr>
              <p:nvPr/>
            </p:nvSpPr>
            <p:spPr bwMode="hidden">
              <a:xfrm flipH="1">
                <a:off x="8403443" y="519806"/>
                <a:ext cx="1103312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6" name="Овал 8"/>
              <p:cNvSpPr>
                <a:spLocks noChangeArrowheads="1"/>
              </p:cNvSpPr>
              <p:nvPr/>
            </p:nvSpPr>
            <p:spPr bwMode="hidden">
              <a:xfrm flipH="1">
                <a:off x="1891518" y="521394"/>
                <a:ext cx="1103312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7" name="Овал 9"/>
              <p:cNvSpPr>
                <a:spLocks noChangeArrowheads="1"/>
              </p:cNvSpPr>
              <p:nvPr/>
            </p:nvSpPr>
            <p:spPr bwMode="hidden">
              <a:xfrm flipH="1">
                <a:off x="7144555" y="519806"/>
                <a:ext cx="1103312" cy="110490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0E0F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8" name="Овал 10"/>
              <p:cNvSpPr>
                <a:spLocks noChangeArrowheads="1"/>
              </p:cNvSpPr>
              <p:nvPr/>
            </p:nvSpPr>
            <p:spPr bwMode="hidden">
              <a:xfrm flipH="1">
                <a:off x="3178980" y="519806"/>
                <a:ext cx="1103312" cy="110490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</p:grpSp>
      </p:grpSp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uk-UA" noProof="0" dirty="0"/>
              <a:t>Клацніть, щоб редагувати стиль зразка заголовка</a:t>
            </a:r>
          </a:p>
        </p:txBody>
      </p:sp>
      <p:sp>
        <p:nvSpPr>
          <p:cNvPr id="3" name="Заповнювач для тексту 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uk-UA" noProof="0" dirty="0"/>
              <a:t>Зразки заголовків</a:t>
            </a:r>
          </a:p>
          <a:p>
            <a:pPr lvl="1" rtl="0"/>
            <a:r>
              <a:rPr lang="uk-UA" noProof="0" dirty="0"/>
              <a:t>Другий рівень</a:t>
            </a:r>
          </a:p>
          <a:p>
            <a:pPr lvl="2" rtl="0"/>
            <a:r>
              <a:rPr lang="uk-UA" noProof="0" dirty="0"/>
              <a:t>Третій рівень</a:t>
            </a:r>
          </a:p>
          <a:p>
            <a:pPr lvl="3" rtl="0"/>
            <a:r>
              <a:rPr lang="uk-UA" noProof="0" dirty="0"/>
              <a:t>Четвертий рівень</a:t>
            </a:r>
          </a:p>
          <a:p>
            <a:pPr lvl="4" rtl="0"/>
            <a:r>
              <a:rPr lang="uk-UA" noProof="0" dirty="0"/>
              <a:t>П’ятий рівень</a:t>
            </a:r>
          </a:p>
          <a:p>
            <a:pPr lvl="8" rtl="0"/>
            <a:endParaRPr lang="uk-UA" noProof="0" dirty="0"/>
          </a:p>
        </p:txBody>
      </p:sp>
      <p:sp>
        <p:nvSpPr>
          <p:cNvPr id="31" name="Заповнювач для дати 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0FA2FB0D-317C-4778-BAFD-F0F2D74BE974}" type="datetime1">
              <a:rPr lang="uk-UA" noProof="0" smtClean="0"/>
              <a:t>04.11.25</a:t>
            </a:fld>
            <a:endParaRPr lang="uk-UA" noProof="0" dirty="0"/>
          </a:p>
        </p:txBody>
      </p:sp>
      <p:sp>
        <p:nvSpPr>
          <p:cNvPr id="32" name="Заповнювач для нижнього колонтитула 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uk-UA" noProof="0" dirty="0"/>
              <a:t>Додайте нижній колонтитул</a:t>
            </a:r>
          </a:p>
        </p:txBody>
      </p:sp>
      <p:sp>
        <p:nvSpPr>
          <p:cNvPr id="33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241830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 cap="none" spc="0">
          <a:ln w="22225">
            <a:solidFill>
              <a:schemeClr val="tx2"/>
            </a:solidFill>
            <a:prstDash val="solid"/>
          </a:ln>
          <a:solidFill>
            <a:schemeClr val="tx2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87338" indent="-287338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>
            <a:lumMod val="75000"/>
          </a:schemeClr>
        </a:buClr>
        <a:buSzPct val="70000"/>
        <a:buFont typeface="Wingdings" panose="05000000000000000000" pitchFamily="2" charset="2"/>
        <a:buChar char="¤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>
            <a:lumMod val="75000"/>
          </a:schemeClr>
        </a:buClr>
        <a:buSzPct val="70000"/>
        <a:buFont typeface="Wingdings" panose="05000000000000000000" pitchFamily="2" charset="2"/>
        <a:buChar char="¤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4">
            <a:lumMod val="75000"/>
          </a:schemeClr>
        </a:buClr>
        <a:buSzPct val="70000"/>
        <a:buFont typeface="Wingdings" panose="05000000000000000000" pitchFamily="2" charset="2"/>
        <a:buChar char="¤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5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6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6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8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uk-UA" dirty="0"/>
              <a:t>Основи </a:t>
            </a:r>
            <a:r>
              <a:rPr lang="en-US" dirty="0" err="1"/>
              <a:t>Ansible</a:t>
            </a:r>
            <a:endParaRPr lang="uk-UA" dirty="0"/>
          </a:p>
        </p:txBody>
      </p:sp>
      <p:sp>
        <p:nvSpPr>
          <p:cNvPr id="10" name="Підзаголовок 9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ru-RU" dirty="0"/>
              <a:t>Курс: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 </a:t>
            </a:r>
            <a:r>
              <a:rPr lang="ru-RU" dirty="0" err="1"/>
              <a:t>інформаційних</a:t>
            </a:r>
            <a:r>
              <a:rPr lang="ru-RU" dirty="0"/>
              <a:t> систем</a:t>
            </a:r>
          </a:p>
          <a:p>
            <a:pPr rt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280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ісце для вмісту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211" y="380001"/>
            <a:ext cx="11268287" cy="520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4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/>
            <a:r>
              <a:rPr lang="uk-UA" dirty="0"/>
              <a:t>Основні випадки використання</a:t>
            </a:r>
            <a:r>
              <a:rPr lang="en-US" dirty="0"/>
              <a:t>: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9269" y="1628503"/>
            <a:ext cx="6696892" cy="4807131"/>
          </a:xfrm>
        </p:spPr>
        <p:txBody>
          <a:bodyPr rtlCol="0">
            <a:noAutofit/>
          </a:bodyPr>
          <a:lstStyle/>
          <a:p>
            <a:r>
              <a:rPr lang="uk-UA" sz="2400" dirty="0"/>
              <a:t>налаштування серверів;</a:t>
            </a:r>
          </a:p>
          <a:p>
            <a:r>
              <a:rPr lang="uk-UA" sz="2400" dirty="0"/>
              <a:t>підтримка конфігурацій;</a:t>
            </a:r>
          </a:p>
          <a:p>
            <a:r>
              <a:rPr lang="uk-UA" sz="2400" dirty="0"/>
              <a:t>автоматизація розгортання ПЗ;</a:t>
            </a:r>
          </a:p>
          <a:p>
            <a:r>
              <a:rPr lang="uk-UA" sz="2400" dirty="0"/>
              <a:t>автоматизація конвеєрів </a:t>
            </a:r>
            <a:r>
              <a:rPr lang="en-US" sz="2400" dirty="0"/>
              <a:t>CI/CD;</a:t>
            </a:r>
          </a:p>
          <a:p>
            <a:r>
              <a:rPr lang="uk-UA" sz="2400" dirty="0"/>
              <a:t>моніторинг;</a:t>
            </a:r>
          </a:p>
          <a:p>
            <a:r>
              <a:rPr lang="uk-UA" sz="2400" dirty="0"/>
              <a:t>автоматизація рутинних задач, як резервне копіювання даних, управління користувачами, налаштування системних параметрів тощо. </a:t>
            </a:r>
          </a:p>
          <a:p>
            <a:pPr marL="0" lvl="0" indent="0">
              <a:buNone/>
            </a:pPr>
            <a:endParaRPr lang="uk-UA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505" y="2125299"/>
            <a:ext cx="4096620" cy="334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/>
              <a:t>Особливості інструменту </a:t>
            </a:r>
            <a:r>
              <a:rPr lang="en-US" dirty="0" err="1"/>
              <a:t>Ansible</a:t>
            </a:r>
            <a:endParaRPr lang="en-US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200" y="2364242"/>
            <a:ext cx="11120846" cy="3670800"/>
          </a:xfrm>
        </p:spPr>
        <p:txBody>
          <a:bodyPr rtlCol="0">
            <a:noAutofit/>
          </a:bodyPr>
          <a:lstStyle/>
          <a:p>
            <a:r>
              <a:rPr lang="uk-UA" sz="2400" dirty="0"/>
              <a:t>підключення без </a:t>
            </a:r>
            <a:r>
              <a:rPr lang="uk-UA" sz="2400" dirty="0" err="1"/>
              <a:t>агента</a:t>
            </a:r>
            <a:endParaRPr lang="uk-UA" sz="2400" dirty="0"/>
          </a:p>
          <a:p>
            <a:r>
              <a:rPr lang="en-US" sz="2400" dirty="0"/>
              <a:t>YAML-</a:t>
            </a:r>
            <a:r>
              <a:rPr lang="uk-UA" sz="2400" dirty="0"/>
              <a:t>синтаксис</a:t>
            </a:r>
          </a:p>
          <a:p>
            <a:r>
              <a:rPr lang="uk-UA" sz="2400" dirty="0"/>
              <a:t>модульність</a:t>
            </a:r>
          </a:p>
          <a:p>
            <a:r>
              <a:rPr lang="uk-UA" sz="2400" dirty="0"/>
              <a:t>розширюваність</a:t>
            </a:r>
          </a:p>
          <a:p>
            <a:r>
              <a:rPr lang="uk-UA" sz="2400" dirty="0"/>
              <a:t>підтримка багатьох платформ</a:t>
            </a:r>
          </a:p>
          <a:p>
            <a:r>
              <a:rPr lang="uk-UA" sz="2400" dirty="0"/>
              <a:t>легка інтеграція</a:t>
            </a:r>
          </a:p>
        </p:txBody>
      </p:sp>
    </p:spTree>
    <p:extLst>
      <p:ext uri="{BB962C8B-B14F-4D97-AF65-F5344CB8AC3E}">
        <p14:creationId xmlns:p14="http://schemas.microsoft.com/office/powerpoint/2010/main" val="336518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131" y="123917"/>
            <a:ext cx="6351299" cy="314879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131" y="3481055"/>
            <a:ext cx="6351299" cy="316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6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/>
              <a:t>Як працює </a:t>
            </a:r>
            <a:r>
              <a:rPr lang="en-US" dirty="0" err="1"/>
              <a:t>Ansible</a:t>
            </a:r>
            <a:r>
              <a:rPr lang="en-US" dirty="0"/>
              <a:t>?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13" y="1618061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ru-RU" sz="1800" dirty="0" err="1"/>
              <a:t>Ansible</a:t>
            </a:r>
            <a:r>
              <a:rPr lang="ru-RU" sz="1800" dirty="0"/>
              <a:t> </a:t>
            </a:r>
            <a:r>
              <a:rPr lang="ru-RU" sz="1800" dirty="0" err="1"/>
              <a:t>автоматизує</a:t>
            </a:r>
            <a:r>
              <a:rPr lang="ru-RU" sz="1800" dirty="0"/>
              <a:t> </a:t>
            </a:r>
            <a:r>
              <a:rPr lang="ru-RU" sz="1800" dirty="0" err="1"/>
              <a:t>завдання</a:t>
            </a:r>
            <a:r>
              <a:rPr lang="ru-RU" sz="1800" dirty="0"/>
              <a:t> за </a:t>
            </a:r>
            <a:r>
              <a:rPr lang="ru-RU" sz="1800" dirty="0" err="1"/>
              <a:t>допомогою</a:t>
            </a:r>
            <a:r>
              <a:rPr lang="ru-RU" sz="1800" dirty="0"/>
              <a:t> декларативного </a:t>
            </a:r>
            <a:r>
              <a:rPr lang="ru-RU" sz="1800" dirty="0" err="1"/>
              <a:t>підходу</a:t>
            </a:r>
            <a:r>
              <a:rPr lang="ru-RU" sz="1800" dirty="0"/>
              <a:t>. </a:t>
            </a:r>
            <a:r>
              <a:rPr lang="ru-RU" sz="1800" dirty="0" err="1"/>
              <a:t>Тобто</a:t>
            </a:r>
            <a:r>
              <a:rPr lang="ru-RU" sz="1800" dirty="0"/>
              <a:t> </a:t>
            </a:r>
            <a:r>
              <a:rPr lang="ru-RU" sz="1800" dirty="0" err="1"/>
              <a:t>користувачі</a:t>
            </a:r>
            <a:r>
              <a:rPr lang="ru-RU" sz="1800" dirty="0"/>
              <a:t> </a:t>
            </a:r>
            <a:r>
              <a:rPr lang="ru-RU" sz="1800" dirty="0" err="1"/>
              <a:t>вказують</a:t>
            </a:r>
            <a:r>
              <a:rPr lang="ru-RU" sz="1800" dirty="0"/>
              <a:t> </a:t>
            </a:r>
            <a:r>
              <a:rPr lang="ru-RU" sz="1800" dirty="0" err="1"/>
              <a:t>бажаний</a:t>
            </a:r>
            <a:r>
              <a:rPr lang="ru-RU" sz="1800" dirty="0"/>
              <a:t> стан </a:t>
            </a:r>
            <a:r>
              <a:rPr lang="ru-RU" sz="1800" dirty="0" err="1"/>
              <a:t>системи</a:t>
            </a:r>
            <a:r>
              <a:rPr lang="ru-RU" sz="1800" dirty="0"/>
              <a:t>, а </a:t>
            </a:r>
            <a:r>
              <a:rPr lang="ru-RU" sz="1800" dirty="0" err="1"/>
              <a:t>інструмент</a:t>
            </a:r>
            <a:r>
              <a:rPr lang="ru-RU" sz="1800" dirty="0"/>
              <a:t> </a:t>
            </a:r>
            <a:r>
              <a:rPr lang="ru-RU" sz="1800" dirty="0" err="1"/>
              <a:t>визначає</a:t>
            </a:r>
            <a:r>
              <a:rPr lang="ru-RU" sz="1800" dirty="0"/>
              <a:t> кроки, </a:t>
            </a:r>
            <a:r>
              <a:rPr lang="ru-RU" sz="1800" dirty="0" err="1"/>
              <a:t>які</a:t>
            </a:r>
            <a:r>
              <a:rPr lang="ru-RU" sz="1800" dirty="0"/>
              <a:t> для </a:t>
            </a:r>
            <a:r>
              <a:rPr lang="ru-RU" sz="1800" dirty="0" err="1"/>
              <a:t>цього</a:t>
            </a:r>
            <a:r>
              <a:rPr lang="ru-RU" sz="1800" dirty="0"/>
              <a:t> треба </a:t>
            </a:r>
            <a:r>
              <a:rPr lang="ru-RU" sz="1800" dirty="0" err="1"/>
              <a:t>зробити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905" b="6939"/>
          <a:stretch/>
        </p:blipFill>
        <p:spPr>
          <a:xfrm>
            <a:off x="2427900" y="2290352"/>
            <a:ext cx="7336198" cy="410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3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uk-UA" dirty="0"/>
              <a:t>Крок 1. Підготовка контролера (</a:t>
            </a:r>
            <a:r>
              <a:rPr lang="en-US" dirty="0" err="1"/>
              <a:t>Ansible</a:t>
            </a:r>
            <a:r>
              <a:rPr lang="en-US" dirty="0"/>
              <a:t> Control Node)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12" y="1690688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ru-RU" sz="1800" dirty="0"/>
              <a:t>Контролер —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центральний</a:t>
            </a:r>
            <a:r>
              <a:rPr lang="ru-RU" sz="1800" dirty="0"/>
              <a:t> </a:t>
            </a:r>
            <a:r>
              <a:rPr lang="ru-RU" sz="1800" dirty="0" err="1"/>
              <a:t>вузол</a:t>
            </a:r>
            <a:r>
              <a:rPr lang="ru-RU" sz="1800" dirty="0"/>
              <a:t>, з </a:t>
            </a:r>
            <a:r>
              <a:rPr lang="ru-RU" sz="1800" dirty="0" err="1"/>
              <a:t>якого</a:t>
            </a:r>
            <a:r>
              <a:rPr lang="ru-RU" sz="1800" dirty="0"/>
              <a:t> </a:t>
            </a:r>
            <a:r>
              <a:rPr lang="ru-RU" sz="1800" dirty="0" err="1"/>
              <a:t>запускаються</a:t>
            </a:r>
            <a:r>
              <a:rPr lang="ru-RU" sz="1800" dirty="0"/>
              <a:t> </a:t>
            </a:r>
            <a:r>
              <a:rPr lang="ru-RU" sz="1800" dirty="0" err="1"/>
              <a:t>плейбуки</a:t>
            </a:r>
            <a:r>
              <a:rPr lang="ru-RU" sz="1800" dirty="0"/>
              <a:t>. В </a:t>
            </a:r>
            <a:r>
              <a:rPr lang="ru-RU" sz="1800" dirty="0" err="1"/>
              <a:t>якості</a:t>
            </a:r>
            <a:r>
              <a:rPr lang="ru-RU" sz="1800" dirty="0"/>
              <a:t> </a:t>
            </a:r>
            <a:r>
              <a:rPr lang="ru-RU" sz="1800" dirty="0" err="1"/>
              <a:t>цієї</a:t>
            </a:r>
            <a:r>
              <a:rPr lang="ru-RU" sz="1800" dirty="0"/>
              <a:t> </a:t>
            </a:r>
            <a:r>
              <a:rPr lang="ru-RU" sz="1800" dirty="0" err="1"/>
              <a:t>ноди</a:t>
            </a:r>
            <a:r>
              <a:rPr lang="ru-RU" sz="1800" dirty="0"/>
              <a:t> </a:t>
            </a:r>
            <a:r>
              <a:rPr lang="ru-RU" sz="1800" dirty="0" err="1"/>
              <a:t>може</a:t>
            </a:r>
            <a:r>
              <a:rPr lang="ru-RU" sz="1800" dirty="0"/>
              <a:t> </a:t>
            </a:r>
            <a:r>
              <a:rPr lang="ru-RU" sz="1800" dirty="0" err="1"/>
              <a:t>виступати</a:t>
            </a:r>
            <a:r>
              <a:rPr lang="ru-RU" sz="1800" dirty="0"/>
              <a:t> </a:t>
            </a:r>
            <a:r>
              <a:rPr lang="ru-RU" sz="1800" dirty="0" err="1"/>
              <a:t>звичайний</a:t>
            </a:r>
            <a:r>
              <a:rPr lang="ru-RU" sz="1800" dirty="0"/>
              <a:t> </a:t>
            </a:r>
            <a:r>
              <a:rPr lang="ru-RU" sz="1800" dirty="0" err="1"/>
              <a:t>комп’ютер</a:t>
            </a:r>
            <a:r>
              <a:rPr lang="ru-RU" sz="1800" dirty="0"/>
              <a:t> </a:t>
            </a:r>
            <a:r>
              <a:rPr lang="ru-RU" sz="1800" dirty="0" err="1"/>
              <a:t>чи</a:t>
            </a:r>
            <a:r>
              <a:rPr lang="ru-RU" sz="1800" dirty="0"/>
              <a:t> сервер на </a:t>
            </a:r>
            <a:r>
              <a:rPr lang="ru-RU" sz="1800" dirty="0" err="1"/>
              <a:t>базі</a:t>
            </a:r>
            <a:r>
              <a:rPr lang="ru-RU" sz="1800" dirty="0"/>
              <a:t> </a:t>
            </a:r>
            <a:r>
              <a:rPr lang="ru-RU" sz="1800" dirty="0" err="1"/>
              <a:t>Linux</a:t>
            </a:r>
            <a:r>
              <a:rPr lang="ru-RU" sz="1800" dirty="0"/>
              <a:t>, де </a:t>
            </a:r>
            <a:r>
              <a:rPr lang="ru-RU" sz="1800" dirty="0" err="1"/>
              <a:t>встановлений</a:t>
            </a:r>
            <a:r>
              <a:rPr lang="ru-RU" sz="1800" dirty="0"/>
              <a:t> </a:t>
            </a:r>
            <a:r>
              <a:rPr lang="ru-RU" sz="1800" dirty="0" err="1"/>
              <a:t>Ansible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905" b="6939"/>
          <a:stretch/>
        </p:blipFill>
        <p:spPr>
          <a:xfrm>
            <a:off x="2427900" y="2290352"/>
            <a:ext cx="7336198" cy="410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4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ru-RU" dirty="0" err="1"/>
              <a:t>Крок</a:t>
            </a:r>
            <a:r>
              <a:rPr lang="ru-RU" dirty="0"/>
              <a:t> 2. </a:t>
            </a:r>
            <a:r>
              <a:rPr lang="ru-RU" dirty="0" err="1"/>
              <a:t>Завантаження</a:t>
            </a:r>
            <a:r>
              <a:rPr lang="ru-RU" dirty="0"/>
              <a:t> </a:t>
            </a:r>
            <a:r>
              <a:rPr lang="ru-RU" dirty="0" err="1"/>
              <a:t>інвентарного</a:t>
            </a:r>
            <a:r>
              <a:rPr lang="ru-RU" dirty="0"/>
              <a:t> файлу (</a:t>
            </a:r>
            <a:r>
              <a:rPr lang="ru-RU" dirty="0" err="1"/>
              <a:t>Inventory</a:t>
            </a:r>
            <a:r>
              <a:rPr lang="ru-RU" dirty="0"/>
              <a:t>)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11" y="1812608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У цьому файлі перераховані всі </a:t>
            </a:r>
            <a:r>
              <a:rPr lang="uk-UA" sz="1800" dirty="0" err="1"/>
              <a:t>хости</a:t>
            </a:r>
            <a:r>
              <a:rPr lang="uk-UA" sz="1800" dirty="0"/>
              <a:t> (вузли), якими буде управляти </a:t>
            </a:r>
            <a:r>
              <a:rPr lang="en-US" sz="1800" dirty="0" err="1"/>
              <a:t>Ansible</a:t>
            </a:r>
            <a:r>
              <a:rPr lang="en-US" sz="1800" dirty="0"/>
              <a:t>. </a:t>
            </a:r>
            <a:r>
              <a:rPr lang="uk-UA" sz="1800" dirty="0"/>
              <a:t>Інвентарний файл може включати </a:t>
            </a:r>
            <a:r>
              <a:rPr lang="en-US" sz="1800" dirty="0"/>
              <a:t>IP-</a:t>
            </a:r>
            <a:r>
              <a:rPr lang="uk-UA" sz="1800" dirty="0"/>
              <a:t>адреси, доменні імена або будь-які інші ідентифікатори </a:t>
            </a:r>
            <a:r>
              <a:rPr lang="uk-UA" sz="1800" dirty="0" err="1"/>
              <a:t>хостів</a:t>
            </a:r>
            <a:r>
              <a:rPr lang="uk-UA" sz="1800" dirty="0"/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905" b="6939"/>
          <a:stretch/>
        </p:blipFill>
        <p:spPr>
          <a:xfrm>
            <a:off x="2427899" y="2583452"/>
            <a:ext cx="7336198" cy="410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7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ru-RU" dirty="0" err="1"/>
              <a:t>Крок</a:t>
            </a:r>
            <a:r>
              <a:rPr lang="ru-RU" dirty="0"/>
              <a:t> 3. </a:t>
            </a:r>
            <a:r>
              <a:rPr lang="ru-RU" dirty="0" err="1"/>
              <a:t>Встановлення</a:t>
            </a:r>
            <a:r>
              <a:rPr lang="ru-RU" dirty="0"/>
              <a:t> </a:t>
            </a:r>
            <a:r>
              <a:rPr lang="ru-RU" dirty="0" err="1"/>
              <a:t>з’єднання</a:t>
            </a:r>
            <a:r>
              <a:rPr lang="ru-RU" dirty="0"/>
              <a:t> з </a:t>
            </a:r>
            <a:r>
              <a:rPr lang="ru-RU" dirty="0" err="1"/>
              <a:t>керованими</a:t>
            </a:r>
            <a:r>
              <a:rPr lang="ru-RU" dirty="0"/>
              <a:t> </a:t>
            </a:r>
            <a:r>
              <a:rPr lang="ru-RU" dirty="0" err="1"/>
              <a:t>вузлами</a:t>
            </a:r>
            <a:r>
              <a:rPr lang="ru-RU" dirty="0"/>
              <a:t> (</a:t>
            </a:r>
            <a:r>
              <a:rPr lang="ru-RU" dirty="0" err="1"/>
              <a:t>Managed</a:t>
            </a:r>
            <a:r>
              <a:rPr lang="ru-RU" dirty="0"/>
              <a:t> </a:t>
            </a:r>
            <a:r>
              <a:rPr lang="ru-RU" dirty="0" err="1"/>
              <a:t>Nodes</a:t>
            </a:r>
            <a:r>
              <a:rPr lang="ru-RU" dirty="0"/>
              <a:t>) через SSH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10" y="2099991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Керовані </a:t>
            </a:r>
            <a:r>
              <a:rPr lang="uk-UA" sz="1800" dirty="0" err="1"/>
              <a:t>ноди</a:t>
            </a:r>
            <a:r>
              <a:rPr lang="uk-UA" sz="1800" dirty="0"/>
              <a:t> — це сервери або машини, якими керує </a:t>
            </a:r>
            <a:r>
              <a:rPr lang="en-US" sz="1800" dirty="0" err="1"/>
              <a:t>Ansible</a:t>
            </a:r>
            <a:r>
              <a:rPr lang="en-US" sz="1800" dirty="0"/>
              <a:t>. </a:t>
            </a:r>
            <a:r>
              <a:rPr lang="uk-UA" sz="1800" dirty="0"/>
              <a:t>Це може бути фізичне обладнання, віртуальні машини або контейнери. На них не потрібно встановлювати ніякого спеціального ПЗ, бо </a:t>
            </a:r>
            <a:r>
              <a:rPr lang="en-US" sz="1800" dirty="0" err="1"/>
              <a:t>Ansible</a:t>
            </a:r>
            <a:r>
              <a:rPr lang="en-US" sz="1800" dirty="0"/>
              <a:t> </a:t>
            </a:r>
            <a:r>
              <a:rPr lang="uk-UA" sz="1800" dirty="0"/>
              <a:t>використовує наявні протоколи, як, наприклад, </a:t>
            </a:r>
            <a:r>
              <a:rPr lang="en-US" sz="1800" dirty="0"/>
              <a:t>SSH. </a:t>
            </a: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2844" b="6939"/>
          <a:stretch/>
        </p:blipFill>
        <p:spPr>
          <a:xfrm>
            <a:off x="2427898" y="3082834"/>
            <a:ext cx="7336198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6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uk-UA" dirty="0"/>
              <a:t>Крок 4. Виконання </a:t>
            </a:r>
            <a:r>
              <a:rPr lang="uk-UA" dirty="0" err="1"/>
              <a:t>плейбуків</a:t>
            </a:r>
            <a:r>
              <a:rPr lang="uk-UA" dirty="0"/>
              <a:t> (</a:t>
            </a:r>
            <a:r>
              <a:rPr lang="en-US" dirty="0"/>
              <a:t>Playbook)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10" y="1594894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 err="1"/>
              <a:t>Плейбуки</a:t>
            </a:r>
            <a:r>
              <a:rPr lang="uk-UA" sz="1800" dirty="0"/>
              <a:t> — це основні компоненти </a:t>
            </a:r>
            <a:r>
              <a:rPr lang="en-US" sz="1800" dirty="0" err="1"/>
              <a:t>Ansible</a:t>
            </a:r>
            <a:r>
              <a:rPr lang="en-US" sz="1800" dirty="0"/>
              <a:t>. </a:t>
            </a:r>
            <a:r>
              <a:rPr lang="uk-UA" sz="1800" dirty="0"/>
              <a:t>Вони містять набір завдань, які необхідно виконати на </a:t>
            </a:r>
            <a:r>
              <a:rPr lang="uk-UA" sz="1800" dirty="0" err="1"/>
              <a:t>хостах</a:t>
            </a:r>
            <a:r>
              <a:rPr lang="uk-UA" sz="1800" dirty="0"/>
              <a:t>. Кожне завдання визначає дію, яку виконуватиме </a:t>
            </a:r>
            <a:r>
              <a:rPr lang="en-US" sz="1800" dirty="0" err="1"/>
              <a:t>Ansible</a:t>
            </a:r>
            <a:r>
              <a:rPr lang="en-US" sz="1800" dirty="0"/>
              <a:t>, </a:t>
            </a:r>
            <a:r>
              <a:rPr lang="uk-UA" sz="1800" dirty="0"/>
              <a:t>наприклад інсталяцію пакета, перезапуск служби або копіювання файлу. Процес починається з виконання першого завдання.</a:t>
            </a:r>
          </a:p>
          <a:p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2844" b="6939"/>
          <a:stretch/>
        </p:blipFill>
        <p:spPr>
          <a:xfrm>
            <a:off x="2427898" y="3082834"/>
            <a:ext cx="7336198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8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6" y="684349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 err="1"/>
              <a:t>Крок</a:t>
            </a:r>
            <a:r>
              <a:rPr lang="ru-RU" dirty="0"/>
              <a:t> 5.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фактів</a:t>
            </a:r>
            <a:r>
              <a:rPr lang="ru-RU" dirty="0"/>
              <a:t> (</a:t>
            </a:r>
            <a:r>
              <a:rPr lang="ru-RU" dirty="0" err="1"/>
              <a:t>Facts</a:t>
            </a:r>
            <a:r>
              <a:rPr lang="ru-RU" dirty="0"/>
              <a:t>)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09" y="1429431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ru-RU" sz="1800" dirty="0" err="1"/>
              <a:t>Ansible</a:t>
            </a:r>
            <a:r>
              <a:rPr lang="ru-RU" sz="1800" dirty="0"/>
              <a:t> </a:t>
            </a:r>
            <a:r>
              <a:rPr lang="ru-RU" sz="1800" dirty="0" err="1"/>
              <a:t>збирає</a:t>
            </a:r>
            <a:r>
              <a:rPr lang="ru-RU" sz="1800" dirty="0"/>
              <a:t> </a:t>
            </a:r>
            <a:r>
              <a:rPr lang="ru-RU" sz="1800" dirty="0" err="1"/>
              <a:t>факти</a:t>
            </a:r>
            <a:r>
              <a:rPr lang="ru-RU" sz="1800" dirty="0"/>
              <a:t> про </a:t>
            </a:r>
            <a:r>
              <a:rPr lang="ru-RU" sz="1800" dirty="0" err="1"/>
              <a:t>кожну</a:t>
            </a:r>
            <a:r>
              <a:rPr lang="ru-RU" sz="1800" dirty="0"/>
              <a:t> </a:t>
            </a:r>
            <a:r>
              <a:rPr lang="ru-RU" sz="1800" dirty="0" err="1"/>
              <a:t>керовану</a:t>
            </a:r>
            <a:r>
              <a:rPr lang="ru-RU" sz="1800" dirty="0"/>
              <a:t> </a:t>
            </a:r>
            <a:r>
              <a:rPr lang="ru-RU" sz="1800" dirty="0" err="1"/>
              <a:t>ноду</a:t>
            </a:r>
            <a:r>
              <a:rPr lang="ru-RU" sz="1800" dirty="0"/>
              <a:t>. </a:t>
            </a:r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інформація</a:t>
            </a:r>
            <a:r>
              <a:rPr lang="ru-RU" sz="1800" dirty="0"/>
              <a:t> про систему, яка </a:t>
            </a:r>
            <a:r>
              <a:rPr lang="ru-RU" sz="1800" dirty="0" err="1"/>
              <a:t>може</a:t>
            </a:r>
            <a:r>
              <a:rPr lang="ru-RU" sz="1800" dirty="0"/>
              <a:t> бути </a:t>
            </a:r>
            <a:r>
              <a:rPr lang="ru-RU" sz="1800" dirty="0" err="1"/>
              <a:t>використана</a:t>
            </a:r>
            <a:r>
              <a:rPr lang="ru-RU" sz="1800" dirty="0"/>
              <a:t> у </a:t>
            </a:r>
            <a:r>
              <a:rPr lang="ru-RU" sz="1800" dirty="0" err="1"/>
              <a:t>подальших</a:t>
            </a:r>
            <a:r>
              <a:rPr lang="ru-RU" sz="1800" dirty="0"/>
              <a:t> </a:t>
            </a:r>
            <a:r>
              <a:rPr lang="ru-RU" sz="1800" dirty="0" err="1"/>
              <a:t>завданнях</a:t>
            </a:r>
            <a:r>
              <a:rPr lang="ru-RU" sz="1800" dirty="0"/>
              <a:t>. </a:t>
            </a:r>
            <a:r>
              <a:rPr lang="ru-RU" sz="1800" dirty="0" err="1"/>
              <a:t>Збір</a:t>
            </a:r>
            <a:r>
              <a:rPr lang="ru-RU" sz="1800" dirty="0"/>
              <a:t> </a:t>
            </a:r>
            <a:r>
              <a:rPr lang="ru-RU" sz="1800" dirty="0" err="1"/>
              <a:t>фактів</a:t>
            </a:r>
            <a:r>
              <a:rPr lang="ru-RU" sz="1800" dirty="0"/>
              <a:t> </a:t>
            </a:r>
            <a:r>
              <a:rPr lang="ru-RU" sz="1800" dirty="0" err="1"/>
              <a:t>зазвичай</a:t>
            </a:r>
            <a:r>
              <a:rPr lang="ru-RU" sz="1800" dirty="0"/>
              <a:t> </a:t>
            </a:r>
            <a:r>
              <a:rPr lang="ru-RU" sz="1800" dirty="0" err="1"/>
              <a:t>відбувається</a:t>
            </a:r>
            <a:r>
              <a:rPr lang="ru-RU" sz="1800" dirty="0"/>
              <a:t> на початку </a:t>
            </a:r>
            <a:r>
              <a:rPr lang="ru-RU" sz="1800" dirty="0" err="1"/>
              <a:t>виконання</a:t>
            </a:r>
            <a:r>
              <a:rPr lang="ru-RU" sz="1800" dirty="0"/>
              <a:t> </a:t>
            </a:r>
            <a:r>
              <a:rPr lang="ru-RU" sz="1800" dirty="0" err="1"/>
              <a:t>плейбуку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2844" b="6939"/>
          <a:stretch/>
        </p:blipFill>
        <p:spPr>
          <a:xfrm>
            <a:off x="2427896" y="2647405"/>
            <a:ext cx="7336198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2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 err="1"/>
              <a:t>Крок</a:t>
            </a:r>
            <a:r>
              <a:rPr lang="ru-RU" dirty="0"/>
              <a:t> 6.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модулів</a:t>
            </a:r>
            <a:endParaRPr lang="ru-RU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08" y="1821317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Кожне завдання у </a:t>
            </a:r>
            <a:r>
              <a:rPr lang="uk-UA" sz="1800" dirty="0" err="1"/>
              <a:t>плейбуці</a:t>
            </a:r>
            <a:r>
              <a:rPr lang="uk-UA" sz="1800" dirty="0"/>
              <a:t> виконується послідовно на кожній керованій </a:t>
            </a:r>
            <a:r>
              <a:rPr lang="uk-UA" sz="1800" dirty="0" err="1"/>
              <a:t>ноді</a:t>
            </a:r>
            <a:r>
              <a:rPr lang="uk-UA" sz="1800" dirty="0"/>
              <a:t>. Завдання використовують модулі для виконання конкретних дій, таких як встановлення ПЗ, зміна конфігураційних файлів, запуск або зупинка сервісів тощо.</a:t>
            </a:r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2844" b="6939"/>
          <a:stretch/>
        </p:blipFill>
        <p:spPr>
          <a:xfrm>
            <a:off x="2427896" y="3067277"/>
            <a:ext cx="7336198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2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Крок 7. Перевірка стану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08" y="1821317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ru-RU" sz="1800" dirty="0" err="1"/>
              <a:t>Ansible</a:t>
            </a:r>
            <a:r>
              <a:rPr lang="ru-RU" sz="1800" dirty="0"/>
              <a:t> </a:t>
            </a:r>
            <a:r>
              <a:rPr lang="ru-RU" sz="1800" dirty="0" err="1"/>
              <a:t>перевіряє</a:t>
            </a:r>
            <a:r>
              <a:rPr lang="ru-RU" sz="1800" dirty="0"/>
              <a:t> стан </a:t>
            </a:r>
            <a:r>
              <a:rPr lang="ru-RU" sz="1800" dirty="0" err="1"/>
              <a:t>системи</a:t>
            </a:r>
            <a:r>
              <a:rPr lang="ru-RU" sz="1800" dirty="0"/>
              <a:t> перед </a:t>
            </a:r>
            <a:r>
              <a:rPr lang="ru-RU" sz="1800" dirty="0" err="1"/>
              <a:t>виконанням</a:t>
            </a:r>
            <a:r>
              <a:rPr lang="ru-RU" sz="1800" dirty="0"/>
              <a:t> кожного </a:t>
            </a:r>
            <a:r>
              <a:rPr lang="ru-RU" sz="1800" dirty="0" err="1"/>
              <a:t>завдання</a:t>
            </a:r>
            <a:r>
              <a:rPr lang="ru-RU" sz="1800" dirty="0"/>
              <a:t>. </a:t>
            </a:r>
            <a:r>
              <a:rPr lang="ru-RU" sz="1800" dirty="0" err="1"/>
              <a:t>Якщо</a:t>
            </a:r>
            <a:r>
              <a:rPr lang="ru-RU" sz="1800" dirty="0"/>
              <a:t> система </a:t>
            </a:r>
            <a:r>
              <a:rPr lang="ru-RU" sz="1800" dirty="0" err="1"/>
              <a:t>вже</a:t>
            </a:r>
            <a:r>
              <a:rPr lang="ru-RU" sz="1800" dirty="0"/>
              <a:t> </a:t>
            </a:r>
            <a:r>
              <a:rPr lang="ru-RU" sz="1800" dirty="0" err="1"/>
              <a:t>перебуває</a:t>
            </a:r>
            <a:r>
              <a:rPr lang="ru-RU" sz="1800" dirty="0"/>
              <a:t> у </a:t>
            </a:r>
            <a:r>
              <a:rPr lang="ru-RU" sz="1800" dirty="0" err="1"/>
              <a:t>потрібному</a:t>
            </a:r>
            <a:r>
              <a:rPr lang="ru-RU" sz="1800" dirty="0"/>
              <a:t> </a:t>
            </a:r>
            <a:r>
              <a:rPr lang="ru-RU" sz="1800" dirty="0" err="1"/>
              <a:t>стані</a:t>
            </a:r>
            <a:r>
              <a:rPr lang="ru-RU" sz="1800" dirty="0"/>
              <a:t>, </a:t>
            </a:r>
            <a:r>
              <a:rPr lang="ru-RU" sz="1800" dirty="0" err="1"/>
              <a:t>завдання</a:t>
            </a:r>
            <a:r>
              <a:rPr lang="ru-RU" sz="1800" dirty="0"/>
              <a:t> не буде </a:t>
            </a:r>
            <a:r>
              <a:rPr lang="ru-RU" sz="1800" dirty="0" err="1"/>
              <a:t>виконане</a:t>
            </a:r>
            <a:r>
              <a:rPr lang="ru-RU" sz="1800" dirty="0"/>
              <a:t> </a:t>
            </a:r>
            <a:r>
              <a:rPr lang="ru-RU" sz="1800" dirty="0" err="1"/>
              <a:t>вдруге</a:t>
            </a:r>
            <a:r>
              <a:rPr lang="ru-RU" sz="1800" dirty="0"/>
              <a:t> — </a:t>
            </a:r>
            <a:r>
              <a:rPr lang="ru-RU" sz="1800" dirty="0" err="1"/>
              <a:t>це</a:t>
            </a:r>
            <a:r>
              <a:rPr lang="ru-RU" sz="1800" dirty="0"/>
              <a:t> і є </a:t>
            </a:r>
            <a:r>
              <a:rPr lang="ru-RU" sz="1800" dirty="0" err="1"/>
              <a:t>ідемпотентність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2844" b="6939"/>
          <a:stretch/>
        </p:blipFill>
        <p:spPr>
          <a:xfrm>
            <a:off x="2427896" y="3067277"/>
            <a:ext cx="7336198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2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10515600" cy="1325563"/>
          </a:xfrm>
        </p:spPr>
        <p:txBody>
          <a:bodyPr rtlCol="0">
            <a:normAutofit/>
          </a:bodyPr>
          <a:lstStyle/>
          <a:p>
            <a:r>
              <a:rPr lang="ru-RU" dirty="0" err="1"/>
              <a:t>Крок</a:t>
            </a:r>
            <a:r>
              <a:rPr lang="ru-RU" dirty="0"/>
              <a:t> 8. </a:t>
            </a:r>
            <a:r>
              <a:rPr lang="ru-RU" dirty="0" err="1"/>
              <a:t>Звітування</a:t>
            </a:r>
            <a:r>
              <a:rPr lang="ru-RU" dirty="0"/>
              <a:t> та </a:t>
            </a:r>
            <a:r>
              <a:rPr lang="ru-RU" dirty="0" err="1"/>
              <a:t>завершення</a:t>
            </a:r>
            <a:endParaRPr lang="ru-RU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08" y="1821317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Після виконання всіх завдань </a:t>
            </a:r>
            <a:r>
              <a:rPr lang="en-US" sz="1800" dirty="0" err="1"/>
              <a:t>Ansible</a:t>
            </a:r>
            <a:r>
              <a:rPr lang="en-US" sz="1800" dirty="0"/>
              <a:t> </a:t>
            </a:r>
            <a:r>
              <a:rPr lang="uk-UA" sz="1800" dirty="0"/>
              <a:t>надає звіт про виконані дії, де міститься інформація про те, що було змінено, що залишилось незмінним, і які помилки виникли.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2844" b="6939"/>
          <a:stretch/>
        </p:blipFill>
        <p:spPr>
          <a:xfrm>
            <a:off x="2427896" y="3067277"/>
            <a:ext cx="7336198" cy="37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6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/>
              <a:t>Архітектура </a:t>
            </a:r>
            <a:r>
              <a:rPr lang="en-US" dirty="0" err="1"/>
              <a:t>Ansible</a:t>
            </a:r>
            <a:endParaRPr lang="uk-UA" dirty="0"/>
          </a:p>
        </p:txBody>
      </p:sp>
      <p:pic>
        <p:nvPicPr>
          <p:cNvPr id="2050" name="Picture 2" descr="Архитектура Ansibl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03" y="1900969"/>
            <a:ext cx="10334897" cy="3587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5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Інвентаризація у </a:t>
            </a:r>
            <a:r>
              <a:rPr lang="en-US" dirty="0" err="1"/>
              <a:t>Ansible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674908" y="1560060"/>
            <a:ext cx="10842173" cy="89276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Інвентаризація в </a:t>
            </a:r>
            <a:r>
              <a:rPr lang="en-US" sz="1800" dirty="0" err="1"/>
              <a:t>Ansible</a:t>
            </a:r>
            <a:r>
              <a:rPr lang="uk-UA" sz="1800" dirty="0"/>
              <a:t> -</a:t>
            </a:r>
            <a:r>
              <a:rPr lang="en-US" sz="1800" dirty="0"/>
              <a:t> </a:t>
            </a:r>
            <a:r>
              <a:rPr lang="uk-UA" sz="1800" dirty="0"/>
              <a:t>це список </a:t>
            </a:r>
            <a:r>
              <a:rPr lang="uk-UA" sz="1800" dirty="0" err="1"/>
              <a:t>хостів</a:t>
            </a:r>
            <a:r>
              <a:rPr lang="uk-UA" sz="1800" dirty="0"/>
              <a:t> (серверів, мережевих пристроїв), якими буде керувати </a:t>
            </a:r>
            <a:r>
              <a:rPr lang="en-US" sz="1800" dirty="0" err="1"/>
              <a:t>Ansible</a:t>
            </a:r>
            <a:r>
              <a:rPr lang="en-US" sz="1800" dirty="0"/>
              <a:t>, </a:t>
            </a:r>
            <a:r>
              <a:rPr lang="uk-UA" sz="1800" dirty="0"/>
              <a:t>а також їхніх атрибутів та груп. Цей файл інвентаризації, який може бути у форматах </a:t>
            </a:r>
            <a:r>
              <a:rPr lang="en-US" sz="1800" dirty="0"/>
              <a:t>INI </a:t>
            </a:r>
            <a:r>
              <a:rPr lang="uk-UA" sz="1800" dirty="0"/>
              <a:t>або </a:t>
            </a:r>
            <a:r>
              <a:rPr lang="en-US" sz="1800" dirty="0"/>
              <a:t>YAML, </a:t>
            </a:r>
            <a:r>
              <a:rPr lang="uk-UA" sz="1800" dirty="0"/>
              <a:t>визначає, які сервери </a:t>
            </a:r>
            <a:r>
              <a:rPr lang="en-US" sz="1800" dirty="0" err="1"/>
              <a:t>Ansible</a:t>
            </a:r>
            <a:r>
              <a:rPr lang="en-US" sz="1800" dirty="0"/>
              <a:t> </a:t>
            </a:r>
            <a:r>
              <a:rPr lang="uk-UA" sz="1800" dirty="0"/>
              <a:t>буде автоматизувати, дозволяючи групувати їх і призначати їм конкретні змінні та завдання.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0" y="2701298"/>
            <a:ext cx="6410939" cy="38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7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2081108" y="716325"/>
            <a:ext cx="2801988" cy="1325563"/>
          </a:xfrm>
        </p:spPr>
        <p:txBody>
          <a:bodyPr rtlCol="0">
            <a:normAutofit fontScale="90000"/>
          </a:bodyPr>
          <a:lstStyle/>
          <a:p>
            <a:r>
              <a:rPr lang="uk-UA" dirty="0"/>
              <a:t>Приклад файлу </a:t>
            </a:r>
            <a:r>
              <a:rPr lang="en-US" dirty="0"/>
              <a:t>INI	</a:t>
            </a:r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258" y="2388249"/>
            <a:ext cx="3393688" cy="38406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957" y="2388249"/>
            <a:ext cx="3346459" cy="3840662"/>
          </a:xfrm>
          <a:prstGeom prst="rect">
            <a:avLst/>
          </a:prstGeom>
        </p:spPr>
      </p:pic>
      <p:sp>
        <p:nvSpPr>
          <p:cNvPr id="11" name="Заголовок 12"/>
          <p:cNvSpPr txBox="1">
            <a:spLocks/>
          </p:cNvSpPr>
          <p:nvPr/>
        </p:nvSpPr>
        <p:spPr>
          <a:xfrm>
            <a:off x="6851218" y="716325"/>
            <a:ext cx="34959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 cap="none" spc="0">
                <a:ln w="22225">
                  <a:solidFill>
                    <a:schemeClr val="tx2"/>
                  </a:solidFill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uk-UA" sz="4000" dirty="0"/>
              <a:t>Приклад файлу </a:t>
            </a:r>
            <a:r>
              <a:rPr lang="en-US" sz="4000" dirty="0"/>
              <a:t>YAML	</a:t>
            </a:r>
            <a:endParaRPr lang="uk-UA" sz="4000" dirty="0"/>
          </a:p>
        </p:txBody>
      </p:sp>
    </p:spTree>
    <p:extLst>
      <p:ext uri="{BB962C8B-B14F-4D97-AF65-F5344CB8AC3E}">
        <p14:creationId xmlns:p14="http://schemas.microsoft.com/office/powerpoint/2010/main" val="355953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320174"/>
            <a:ext cx="7488962" cy="5104721"/>
          </a:xfrm>
          <a:prstGeom prst="rect">
            <a:avLst/>
          </a:prstGeom>
        </p:spPr>
      </p:pic>
      <p:sp>
        <p:nvSpPr>
          <p:cNvPr id="6" name="Прямокутник 5"/>
          <p:cNvSpPr/>
          <p:nvPr/>
        </p:nvSpPr>
        <p:spPr>
          <a:xfrm>
            <a:off x="1593668" y="557287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Якщо не визначено жодної групи у своєму інвентарному файлі, </a:t>
            </a:r>
            <a:r>
              <a:rPr lang="en-US" dirty="0" err="1"/>
              <a:t>Ansible</a:t>
            </a:r>
            <a:r>
              <a:rPr lang="en-US" dirty="0"/>
              <a:t> </a:t>
            </a:r>
            <a:r>
              <a:rPr lang="uk-UA" dirty="0"/>
              <a:t>створює дві групи за замовчуванням: </a:t>
            </a:r>
            <a:r>
              <a:rPr lang="en-US" dirty="0"/>
              <a:t>all </a:t>
            </a:r>
            <a:r>
              <a:rPr lang="uk-UA" dirty="0"/>
              <a:t>і </a:t>
            </a:r>
            <a:r>
              <a:rPr lang="en-US" dirty="0"/>
              <a:t>ungrouped.</a:t>
            </a:r>
            <a:r>
              <a:rPr lang="uk-UA" dirty="0"/>
              <a:t>Група </a:t>
            </a:r>
            <a:r>
              <a:rPr lang="en-US" dirty="0"/>
              <a:t>all </a:t>
            </a:r>
            <a:r>
              <a:rPr lang="uk-UA" dirty="0"/>
              <a:t>містить усі </a:t>
            </a:r>
            <a:r>
              <a:rPr lang="uk-UA" dirty="0" err="1"/>
              <a:t>хости</a:t>
            </a:r>
            <a:r>
              <a:rPr lang="uk-UA" dirty="0"/>
              <a:t>. Група </a:t>
            </a:r>
            <a:r>
              <a:rPr lang="en-US" dirty="0"/>
              <a:t>ungrouped </a:t>
            </a:r>
            <a:r>
              <a:rPr lang="uk-UA" dirty="0"/>
              <a:t>містить усі </a:t>
            </a:r>
            <a:r>
              <a:rPr lang="uk-UA" dirty="0" err="1"/>
              <a:t>хости</a:t>
            </a:r>
            <a:r>
              <a:rPr lang="uk-UA" dirty="0"/>
              <a:t>, які не належать до жодної іншої групи.</a:t>
            </a:r>
          </a:p>
        </p:txBody>
      </p:sp>
    </p:spTree>
    <p:extLst>
      <p:ext uri="{BB962C8B-B14F-4D97-AF65-F5344CB8AC3E}">
        <p14:creationId xmlns:p14="http://schemas.microsoft.com/office/powerpoint/2010/main" val="256020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2"/>
          <p:cNvSpPr>
            <a:spLocks noGrp="1"/>
          </p:cNvSpPr>
          <p:nvPr>
            <p:ph type="title"/>
          </p:nvPr>
        </p:nvSpPr>
        <p:spPr>
          <a:xfrm>
            <a:off x="838195" y="394110"/>
            <a:ext cx="10448114" cy="1321480"/>
          </a:xfrm>
        </p:spPr>
        <p:txBody>
          <a:bodyPr rtlCol="0">
            <a:normAutofit/>
          </a:bodyPr>
          <a:lstStyle/>
          <a:p>
            <a:r>
              <a:rPr lang="en-US" dirty="0" err="1"/>
              <a:t>Ansible</a:t>
            </a:r>
            <a:r>
              <a:rPr lang="en-US" dirty="0"/>
              <a:t> Inventory group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53" y="1601702"/>
            <a:ext cx="9289197" cy="41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1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2"/>
          <p:cNvSpPr>
            <a:spLocks noGrp="1"/>
          </p:cNvSpPr>
          <p:nvPr>
            <p:ph type="title"/>
          </p:nvPr>
        </p:nvSpPr>
        <p:spPr>
          <a:xfrm>
            <a:off x="1543589" y="2536419"/>
            <a:ext cx="4439199" cy="1321480"/>
          </a:xfrm>
        </p:spPr>
        <p:txBody>
          <a:bodyPr rtlCol="0">
            <a:normAutofit fontScale="90000"/>
          </a:bodyPr>
          <a:lstStyle/>
          <a:p>
            <a:r>
              <a:rPr lang="en-US" dirty="0" err="1"/>
              <a:t>Приклад</a:t>
            </a:r>
            <a:r>
              <a:rPr lang="en-US" dirty="0"/>
              <a:t> YAML inventory (What / Where / When)</a:t>
            </a:r>
            <a:endParaRPr lang="uk-UA" dirty="0"/>
          </a:p>
        </p:txBody>
      </p:sp>
      <p:sp>
        <p:nvSpPr>
          <p:cNvPr id="7" name="Прямокутник 6"/>
          <p:cNvSpPr/>
          <p:nvPr/>
        </p:nvSpPr>
        <p:spPr>
          <a:xfrm>
            <a:off x="767008" y="4785750"/>
            <a:ext cx="5992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 Хоста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до </a:t>
            </a:r>
            <a:r>
              <a:rPr lang="ru-RU" dirty="0" err="1"/>
              <a:t>кількох</a:t>
            </a:r>
            <a:r>
              <a:rPr lang="ru-RU" dirty="0"/>
              <a:t> </a:t>
            </a:r>
            <a:r>
              <a:rPr lang="ru-RU" dirty="0" err="1"/>
              <a:t>груп</a:t>
            </a:r>
            <a:r>
              <a:rPr lang="ru-RU" dirty="0"/>
              <a:t> </a:t>
            </a:r>
            <a:r>
              <a:rPr lang="ru-RU" dirty="0" err="1"/>
              <a:t>одночасно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761" y="184293"/>
            <a:ext cx="2332548" cy="654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3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7948754" cy="1325563"/>
          </a:xfrm>
        </p:spPr>
        <p:txBody>
          <a:bodyPr rtlCol="0">
            <a:normAutofit fontScale="90000"/>
          </a:bodyPr>
          <a:lstStyle/>
          <a:p>
            <a:r>
              <a:rPr lang="uk-UA" b="0" dirty="0"/>
              <a:t>Групи </a:t>
            </a:r>
            <a:r>
              <a:rPr lang="en-US" b="0" dirty="0"/>
              <a:t>parent/child relationships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1053737" y="5978300"/>
            <a:ext cx="3901448" cy="622797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1400" dirty="0"/>
              <a:t>In INI format, use the :children suffix.</a:t>
            </a:r>
          </a:p>
          <a:p>
            <a:pPr marL="0" indent="0">
              <a:buNone/>
            </a:pPr>
            <a:r>
              <a:rPr lang="en-US" sz="1400" dirty="0"/>
              <a:t>In YAML format, use the children: entry.</a:t>
            </a:r>
            <a:endParaRPr lang="uk-UA" sz="1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949" y="394109"/>
            <a:ext cx="2207546" cy="6025183"/>
          </a:xfrm>
          <a:prstGeom prst="rect">
            <a:avLst/>
          </a:prstGeom>
        </p:spPr>
      </p:pic>
      <p:sp>
        <p:nvSpPr>
          <p:cNvPr id="9" name="Місце для вмісту 13"/>
          <p:cNvSpPr txBox="1">
            <a:spLocks/>
          </p:cNvSpPr>
          <p:nvPr/>
        </p:nvSpPr>
        <p:spPr>
          <a:xfrm>
            <a:off x="838195" y="1872343"/>
            <a:ext cx="6749144" cy="3396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/>
              <a:t>Властивості дочірніх груп:</a:t>
            </a:r>
          </a:p>
          <a:p>
            <a:r>
              <a:rPr lang="uk-UA" sz="1800" dirty="0"/>
              <a:t>Будь-який </a:t>
            </a:r>
            <a:r>
              <a:rPr lang="uk-UA" sz="1800" dirty="0" err="1"/>
              <a:t>хост</a:t>
            </a:r>
            <a:r>
              <a:rPr lang="uk-UA" sz="1800" dirty="0"/>
              <a:t>, що є членом дочірньої групи, автоматично входить і до батьківської групи.</a:t>
            </a:r>
          </a:p>
          <a:p>
            <a:r>
              <a:rPr lang="uk-UA" sz="1800" dirty="0"/>
              <a:t>Група може мати кілька батьків і дітей, але не може бути циклічних </a:t>
            </a:r>
            <a:r>
              <a:rPr lang="uk-UA" sz="1800" dirty="0" err="1"/>
              <a:t>зв’язків</a:t>
            </a:r>
            <a:r>
              <a:rPr lang="uk-UA" sz="1800" dirty="0"/>
              <a:t>.</a:t>
            </a:r>
          </a:p>
          <a:p>
            <a:r>
              <a:rPr lang="uk-UA" sz="1800" dirty="0" err="1"/>
              <a:t>Хост</a:t>
            </a:r>
            <a:r>
              <a:rPr lang="uk-UA" sz="1800" dirty="0"/>
              <a:t> може належати до кількох груп, але </a:t>
            </a:r>
            <a:r>
              <a:rPr lang="en-US" sz="1800" dirty="0" err="1"/>
              <a:t>Ansible</a:t>
            </a:r>
            <a:r>
              <a:rPr lang="en-US" sz="1800" dirty="0"/>
              <a:t> </a:t>
            </a:r>
            <a:r>
              <a:rPr lang="uk-UA" sz="1800" dirty="0"/>
              <a:t>обробляє його лише один раз під час виконання, об’єднуючи дані з усіх груп.</a:t>
            </a:r>
          </a:p>
          <a:p>
            <a:r>
              <a:rPr lang="uk-UA" sz="1800" dirty="0" err="1"/>
              <a:t>Хости</a:t>
            </a:r>
            <a:r>
              <a:rPr lang="uk-UA" sz="1800" dirty="0"/>
              <a:t> та групи завжди є “глобальними”. Якщо визначити </a:t>
            </a:r>
            <a:r>
              <a:rPr lang="uk-UA" sz="1800" dirty="0" err="1"/>
              <a:t>хост</a:t>
            </a:r>
            <a:r>
              <a:rPr lang="uk-UA" sz="1800" dirty="0"/>
              <a:t> або групу кілька разів у різних “гілках” чи “екземплярах”, то вони залишаються однією й тією ж сутністю. Повторне визначення лише додає нову інформацію або перезаписує конфліктні дані останнім варіантом.</a:t>
            </a:r>
          </a:p>
        </p:txBody>
      </p:sp>
    </p:spTree>
    <p:extLst>
      <p:ext uri="{BB962C8B-B14F-4D97-AF65-F5344CB8AC3E}">
        <p14:creationId xmlns:p14="http://schemas.microsoft.com/office/powerpoint/2010/main" val="372063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Модулі, задачі та </a:t>
            </a:r>
            <a:r>
              <a:rPr lang="uk-UA" dirty="0" err="1"/>
              <a:t>плейбуки</a:t>
            </a:r>
            <a:endParaRPr lang="uk-UA" dirty="0"/>
          </a:p>
        </p:txBody>
      </p:sp>
      <p:pic>
        <p:nvPicPr>
          <p:cNvPr id="4" name="Місце для вмісту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7395" y="1565072"/>
            <a:ext cx="7662459" cy="51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4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39410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Модулі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346" y="917993"/>
            <a:ext cx="6525864" cy="4649429"/>
          </a:xfrm>
          <a:prstGeom prst="rect">
            <a:avLst/>
          </a:prstGeom>
        </p:spPr>
      </p:pic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865677"/>
            <a:ext cx="4924702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/>
              <a:t>Категорії</a:t>
            </a:r>
            <a:r>
              <a:rPr lang="en-US" sz="1800" dirty="0"/>
              <a:t> </a:t>
            </a:r>
            <a:r>
              <a:rPr lang="uk-UA" sz="1800" dirty="0"/>
              <a:t>модулів</a:t>
            </a:r>
            <a:r>
              <a:rPr lang="en-US" sz="1800" dirty="0"/>
              <a:t>:</a:t>
            </a:r>
            <a:endParaRPr lang="uk-UA" sz="1800" dirty="0"/>
          </a:p>
          <a:p>
            <a:r>
              <a:rPr lang="en-US" sz="1800" dirty="0"/>
              <a:t>System – </a:t>
            </a:r>
            <a:r>
              <a:rPr lang="uk-UA" sz="1800" dirty="0"/>
              <a:t>керування ОС, користувачами, сервісами</a:t>
            </a:r>
          </a:p>
          <a:p>
            <a:r>
              <a:rPr lang="en-US" sz="1800" dirty="0"/>
              <a:t>Command – </a:t>
            </a:r>
            <a:r>
              <a:rPr lang="uk-UA" sz="1800" dirty="0"/>
              <a:t>виконання команд та </a:t>
            </a:r>
            <a:r>
              <a:rPr lang="uk-UA" sz="1800" dirty="0" err="1"/>
              <a:t>скриптів</a:t>
            </a:r>
            <a:endParaRPr lang="uk-UA" sz="1800" dirty="0"/>
          </a:p>
          <a:p>
            <a:r>
              <a:rPr lang="en-US" sz="1800" dirty="0"/>
              <a:t>File – </a:t>
            </a:r>
            <a:r>
              <a:rPr lang="uk-UA" sz="1800" dirty="0"/>
              <a:t>робота з файлами та їх атрибутами</a:t>
            </a:r>
          </a:p>
          <a:p>
            <a:r>
              <a:rPr lang="en-US" sz="1800" dirty="0"/>
              <a:t>Database – </a:t>
            </a:r>
            <a:r>
              <a:rPr lang="uk-UA" sz="1800" dirty="0"/>
              <a:t>керування БД (</a:t>
            </a:r>
            <a:r>
              <a:rPr lang="en-US" sz="1800" dirty="0"/>
              <a:t>MySQL, </a:t>
            </a:r>
            <a:r>
              <a:rPr lang="en-US" sz="1800" dirty="0" err="1"/>
              <a:t>PostgreSQL</a:t>
            </a:r>
            <a:r>
              <a:rPr lang="en-US" sz="1800" dirty="0"/>
              <a:t>…)</a:t>
            </a:r>
          </a:p>
          <a:p>
            <a:r>
              <a:rPr lang="en-US" sz="1800" dirty="0"/>
              <a:t>Cloud – </a:t>
            </a:r>
            <a:r>
              <a:rPr lang="uk-UA" sz="1800" dirty="0"/>
              <a:t>робота з хмарними провайдерами (</a:t>
            </a:r>
            <a:r>
              <a:rPr lang="en-US" sz="1800" dirty="0"/>
              <a:t>AWS, Azure…)</a:t>
            </a:r>
          </a:p>
          <a:p>
            <a:r>
              <a:rPr lang="en-US" sz="1800" dirty="0"/>
              <a:t>Windows – </a:t>
            </a:r>
            <a:r>
              <a:rPr lang="uk-UA" sz="1800" dirty="0"/>
              <a:t>управління </a:t>
            </a:r>
            <a:r>
              <a:rPr lang="en-US" sz="1800" dirty="0"/>
              <a:t>Windows-</a:t>
            </a:r>
            <a:r>
              <a:rPr lang="uk-UA" sz="1800" dirty="0"/>
              <a:t>системами</a:t>
            </a:r>
          </a:p>
        </p:txBody>
      </p:sp>
    </p:spTree>
    <p:extLst>
      <p:ext uri="{BB962C8B-B14F-4D97-AF65-F5344CB8AC3E}">
        <p14:creationId xmlns:p14="http://schemas.microsoft.com/office/powerpoint/2010/main" val="220082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916572" y="-14676"/>
            <a:ext cx="5466811" cy="1102119"/>
          </a:xfrm>
        </p:spPr>
        <p:txBody>
          <a:bodyPr rtlCol="0">
            <a:normAutofit/>
          </a:bodyPr>
          <a:lstStyle/>
          <a:p>
            <a:r>
              <a:rPr lang="uk-UA" dirty="0"/>
              <a:t>Приклади модулів</a:t>
            </a:r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916572" y="1253689"/>
            <a:ext cx="1156068" cy="363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Files</a:t>
            </a:r>
            <a:endParaRPr lang="uk-UA" sz="1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872" y="1111481"/>
            <a:ext cx="2650339" cy="2188694"/>
          </a:xfrm>
          <a:prstGeom prst="rect">
            <a:avLst/>
          </a:prstGeom>
        </p:spPr>
      </p:pic>
      <p:sp>
        <p:nvSpPr>
          <p:cNvPr id="6" name="Місце для вмісту 13"/>
          <p:cNvSpPr txBox="1">
            <a:spLocks/>
          </p:cNvSpPr>
          <p:nvPr/>
        </p:nvSpPr>
        <p:spPr>
          <a:xfrm>
            <a:off x="6535382" y="1253688"/>
            <a:ext cx="1771625" cy="363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Database</a:t>
            </a:r>
            <a:endParaRPr lang="uk-UA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r="23157"/>
          <a:stretch/>
        </p:blipFill>
        <p:spPr>
          <a:xfrm>
            <a:off x="8594740" y="1191308"/>
            <a:ext cx="2612571" cy="1699941"/>
          </a:xfrm>
          <a:prstGeom prst="rect">
            <a:avLst/>
          </a:prstGeom>
        </p:spPr>
      </p:pic>
      <p:sp>
        <p:nvSpPr>
          <p:cNvPr id="8" name="Місце для вмісту 13"/>
          <p:cNvSpPr txBox="1">
            <a:spLocks/>
          </p:cNvSpPr>
          <p:nvPr/>
        </p:nvSpPr>
        <p:spPr>
          <a:xfrm>
            <a:off x="916572" y="3661193"/>
            <a:ext cx="1156068" cy="363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Cloud</a:t>
            </a:r>
            <a:endParaRPr lang="uk-UA" sz="1800" dirty="0"/>
          </a:p>
        </p:txBody>
      </p:sp>
      <p:sp>
        <p:nvSpPr>
          <p:cNvPr id="10" name="Місце для вмісту 13"/>
          <p:cNvSpPr txBox="1">
            <a:spLocks/>
          </p:cNvSpPr>
          <p:nvPr/>
        </p:nvSpPr>
        <p:spPr>
          <a:xfrm>
            <a:off x="6624760" y="3660065"/>
            <a:ext cx="1592867" cy="363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Windows</a:t>
            </a:r>
            <a:endParaRPr lang="uk-UA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740" y="3660065"/>
            <a:ext cx="2342660" cy="308412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640" y="3660065"/>
            <a:ext cx="2168434" cy="307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8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64320" y="316249"/>
            <a:ext cx="5466811" cy="1102119"/>
          </a:xfrm>
        </p:spPr>
        <p:txBody>
          <a:bodyPr rtlCol="0">
            <a:normAutofit/>
          </a:bodyPr>
          <a:lstStyle/>
          <a:p>
            <a:r>
              <a:rPr lang="uk-UA" dirty="0"/>
              <a:t>Приклади модулів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031" y="1418368"/>
            <a:ext cx="8260729" cy="50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Задачі</a:t>
            </a:r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106135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/>
              <a:t>Задачі (</a:t>
            </a:r>
            <a:r>
              <a:rPr lang="en-US" sz="1800" dirty="0"/>
              <a:t>Tasks) </a:t>
            </a:r>
            <a:r>
              <a:rPr lang="uk-UA" sz="1800" dirty="0"/>
              <a:t>в </a:t>
            </a:r>
            <a:r>
              <a:rPr lang="en-US" sz="1800" dirty="0" err="1"/>
              <a:t>Ansible</a:t>
            </a:r>
            <a:r>
              <a:rPr lang="en-US" sz="1800" dirty="0"/>
              <a:t> </a:t>
            </a:r>
            <a:r>
              <a:rPr lang="uk-UA" sz="1800" dirty="0"/>
              <a:t>визначаються як базові одиниці роботи, які показують, що саме виконує інструмент автоматизації. Задачі - це окремі дії, які виконуються на визначеному </a:t>
            </a:r>
            <a:r>
              <a:rPr lang="uk-UA" sz="1800" dirty="0" err="1"/>
              <a:t>хості</a:t>
            </a:r>
            <a:r>
              <a:rPr lang="uk-UA" sz="1800" dirty="0"/>
              <a:t>. Зазвичай задачі описуються у </a:t>
            </a:r>
            <a:r>
              <a:rPr lang="en-US" sz="1800" dirty="0"/>
              <a:t>YAML-</a:t>
            </a:r>
            <a:r>
              <a:rPr lang="uk-UA" sz="1800" dirty="0"/>
              <a:t>файлі всередині </a:t>
            </a:r>
            <a:r>
              <a:rPr lang="en-US" sz="1800" dirty="0"/>
              <a:t>playbook </a:t>
            </a:r>
            <a:r>
              <a:rPr lang="uk-UA" sz="1800" dirty="0"/>
              <a:t>і містять список завдань.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312" y="2462736"/>
            <a:ext cx="6968983" cy="40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3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Приклад коду задачі</a:t>
            </a:r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106135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У </a:t>
            </a:r>
            <a:r>
              <a:rPr lang="ru-RU" sz="1800" dirty="0" err="1"/>
              <a:t>цьому</a:t>
            </a:r>
            <a:r>
              <a:rPr lang="ru-RU" sz="1800" dirty="0"/>
              <a:t> </a:t>
            </a:r>
            <a:r>
              <a:rPr lang="ru-RU" sz="1800" dirty="0" err="1"/>
              <a:t>прикладі</a:t>
            </a:r>
            <a:r>
              <a:rPr lang="ru-RU" sz="1800" dirty="0"/>
              <a:t> ми </a:t>
            </a:r>
            <a:r>
              <a:rPr lang="ru-RU" sz="1800" dirty="0" err="1"/>
              <a:t>використаємо</a:t>
            </a:r>
            <a:r>
              <a:rPr lang="ru-RU" sz="1800" dirty="0"/>
              <a:t> задачу </a:t>
            </a:r>
            <a:r>
              <a:rPr lang="ru-RU" sz="1800" dirty="0" err="1"/>
              <a:t>Ansible</a:t>
            </a:r>
            <a:r>
              <a:rPr lang="ru-RU" sz="1800" dirty="0"/>
              <a:t>, </a:t>
            </a:r>
            <a:r>
              <a:rPr lang="ru-RU" sz="1800" dirty="0" err="1"/>
              <a:t>щоб</a:t>
            </a:r>
            <a:r>
              <a:rPr lang="ru-RU" sz="1800" dirty="0"/>
              <a:t> </a:t>
            </a:r>
            <a:r>
              <a:rPr lang="ru-RU" sz="1800" dirty="0" err="1"/>
              <a:t>створити</a:t>
            </a:r>
            <a:r>
              <a:rPr lang="ru-RU" sz="1800" dirty="0"/>
              <a:t> файл у </a:t>
            </a:r>
            <a:r>
              <a:rPr lang="ru-RU" sz="1800" dirty="0" err="1"/>
              <a:t>тій</a:t>
            </a:r>
            <a:r>
              <a:rPr lang="ru-RU" sz="1800" dirty="0"/>
              <a:t> же </a:t>
            </a:r>
            <a:r>
              <a:rPr lang="ru-RU" sz="1800" dirty="0" err="1"/>
              <a:t>директорії</a:t>
            </a:r>
            <a:r>
              <a:rPr lang="ru-RU" sz="1800" dirty="0"/>
              <a:t>, </a:t>
            </a:r>
            <a:r>
              <a:rPr lang="ru-RU" sz="1800" dirty="0" err="1"/>
              <a:t>що</a:t>
            </a:r>
            <a:r>
              <a:rPr lang="ru-RU" sz="1800" dirty="0"/>
              <a:t> й наш файл </a:t>
            </a:r>
            <a:r>
              <a:rPr lang="ru-RU" sz="1800" dirty="0" err="1"/>
              <a:t>main.yml</a:t>
            </a:r>
            <a:r>
              <a:rPr lang="ru-RU" sz="1800" dirty="0"/>
              <a:t>.</a:t>
            </a: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708" y="2342440"/>
            <a:ext cx="6698560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6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 err="1"/>
              <a:t>Плейбуки</a:t>
            </a:r>
            <a:endParaRPr lang="uk-UA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 err="1"/>
              <a:t>Плейбуки</a:t>
            </a:r>
            <a:r>
              <a:rPr lang="uk-UA" sz="1800" dirty="0"/>
              <a:t> </a:t>
            </a:r>
            <a:r>
              <a:rPr lang="en-US" sz="1800"/>
              <a:t>-</a:t>
            </a:r>
            <a:r>
              <a:rPr lang="uk-UA" sz="1800"/>
              <a:t> </a:t>
            </a:r>
            <a:r>
              <a:rPr lang="uk-UA" sz="1800" dirty="0"/>
              <a:t>це </a:t>
            </a:r>
            <a:r>
              <a:rPr lang="en-US" sz="1800" dirty="0"/>
              <a:t>YAML-</a:t>
            </a:r>
            <a:r>
              <a:rPr lang="uk-UA" sz="1800" dirty="0"/>
              <a:t>файли, які описують набір завдань (</a:t>
            </a:r>
            <a:r>
              <a:rPr lang="en-US" sz="1800" dirty="0"/>
              <a:t>tasks) </a:t>
            </a:r>
            <a:r>
              <a:rPr lang="uk-UA" sz="1800" dirty="0"/>
              <a:t>для виконання на певних </a:t>
            </a:r>
            <a:r>
              <a:rPr lang="uk-UA" sz="1800" dirty="0" err="1"/>
              <a:t>хостах</a:t>
            </a:r>
            <a:r>
              <a:rPr lang="uk-UA" sz="1800" dirty="0"/>
              <a:t>.</a:t>
            </a:r>
          </a:p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r>
              <a:rPr lang="uk-UA" sz="1800" dirty="0"/>
              <a:t>Основні елементи: </a:t>
            </a:r>
          </a:p>
          <a:p>
            <a:r>
              <a:rPr lang="en-US" sz="1800" b="1" dirty="0"/>
              <a:t>Hosts</a:t>
            </a:r>
            <a:endParaRPr lang="uk-UA" sz="1800" dirty="0"/>
          </a:p>
          <a:p>
            <a:r>
              <a:rPr lang="en-US" sz="1800" b="1" dirty="0"/>
              <a:t>Tasks</a:t>
            </a:r>
            <a:endParaRPr lang="uk-UA" sz="1800" dirty="0"/>
          </a:p>
          <a:p>
            <a:r>
              <a:rPr lang="en-US" sz="1800" b="1" dirty="0"/>
              <a:t>Variables</a:t>
            </a:r>
            <a:endParaRPr lang="uk-UA" sz="1800" dirty="0"/>
          </a:p>
          <a:p>
            <a:r>
              <a:rPr lang="en-US" sz="1800" b="1" dirty="0"/>
              <a:t>Handlers</a:t>
            </a:r>
            <a:endParaRPr lang="uk-UA" sz="1800" dirty="0">
              <a:effectLst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1" y="1569006"/>
            <a:ext cx="5936494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Приклад коду </a:t>
            </a:r>
            <a:r>
              <a:rPr lang="uk-UA" dirty="0" err="1"/>
              <a:t>плейбуку</a:t>
            </a:r>
            <a:endParaRPr lang="uk-UA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199" y="1798330"/>
            <a:ext cx="9683592" cy="432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71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Що таке </a:t>
            </a:r>
            <a:r>
              <a:rPr lang="en-US" dirty="0"/>
              <a:t>play?</a:t>
            </a:r>
            <a:endParaRPr lang="uk-UA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sp>
        <p:nvSpPr>
          <p:cNvPr id="3" name="Прямокутник 2"/>
          <p:cNvSpPr/>
          <p:nvPr/>
        </p:nvSpPr>
        <p:spPr>
          <a:xfrm>
            <a:off x="960114" y="1268616"/>
            <a:ext cx="116586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Play — </a:t>
            </a:r>
            <a:r>
              <a:rPr lang="uk-UA" dirty="0"/>
              <a:t>набір задач, які виконуються на вибраних </a:t>
            </a:r>
            <a:r>
              <a:rPr lang="uk-UA" dirty="0" err="1"/>
              <a:t>хостах</a:t>
            </a:r>
            <a:r>
              <a:rPr lang="uk-UA" dirty="0"/>
              <a:t> із </a:t>
            </a:r>
            <a:r>
              <a:rPr lang="en-US" dirty="0"/>
              <a:t>inventory. </a:t>
            </a:r>
            <a:endParaRPr lang="uk-UA" dirty="0"/>
          </a:p>
          <a:p>
            <a:endParaRPr lang="uk-UA" dirty="0"/>
          </a:p>
          <a:p>
            <a:r>
              <a:rPr lang="uk-UA" dirty="0"/>
              <a:t>Кожен </a:t>
            </a:r>
            <a:r>
              <a:rPr lang="en-US" dirty="0"/>
              <a:t>Play </a:t>
            </a:r>
            <a:r>
              <a:rPr lang="uk-UA" dirty="0"/>
              <a:t>має містити: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Набір </a:t>
            </a:r>
            <a:r>
              <a:rPr lang="uk-UA" dirty="0" err="1"/>
              <a:t>хостів</a:t>
            </a:r>
            <a:r>
              <a:rPr lang="uk-UA" dirty="0"/>
              <a:t> для конфігурації.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Список завдань, які потрібно виконати на цих </a:t>
            </a:r>
            <a:r>
              <a:rPr lang="uk-UA" dirty="0" err="1"/>
              <a:t>хостах</a:t>
            </a:r>
            <a:r>
              <a:rPr lang="uk-UA" dirty="0"/>
              <a:t>.</a:t>
            </a:r>
          </a:p>
          <a:p>
            <a:endParaRPr lang="uk-UA" dirty="0">
              <a:effectLst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24690"/>
          <a:stretch/>
        </p:blipFill>
        <p:spPr>
          <a:xfrm>
            <a:off x="838195" y="2929110"/>
            <a:ext cx="5046789" cy="35991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018" y="2929110"/>
            <a:ext cx="4517628" cy="360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1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dirty="0" err="1"/>
              <a:t>автоматизація</a:t>
            </a:r>
            <a:r>
              <a:rPr lang="ru-RU" dirty="0"/>
              <a:t> </a:t>
            </a:r>
            <a:r>
              <a:rPr lang="ru-RU" dirty="0" err="1"/>
              <a:t>встановлення</a:t>
            </a:r>
            <a:r>
              <a:rPr lang="ru-RU" dirty="0"/>
              <a:t> </a:t>
            </a:r>
            <a:r>
              <a:rPr lang="ru-RU" dirty="0" err="1"/>
              <a:t>Nginx</a:t>
            </a:r>
            <a:r>
              <a:rPr lang="ru-RU" dirty="0"/>
              <a:t> + </a:t>
            </a:r>
            <a:r>
              <a:rPr lang="ru-RU" dirty="0" err="1"/>
              <a:t>Mysql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41" y="2127237"/>
            <a:ext cx="3238781" cy="3033023"/>
          </a:xfrm>
          <a:prstGeom prst="rect">
            <a:avLst/>
          </a:prstGeom>
        </p:spPr>
      </p:pic>
      <p:sp>
        <p:nvSpPr>
          <p:cNvPr id="3" name="Прямокутник 2"/>
          <p:cNvSpPr/>
          <p:nvPr/>
        </p:nvSpPr>
        <p:spPr>
          <a:xfrm>
            <a:off x="966751" y="1634223"/>
            <a:ext cx="1446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/>
              <a:t>Структура</a:t>
            </a:r>
            <a:r>
              <a:rPr lang="en-US"/>
              <a:t>:</a:t>
            </a:r>
            <a:endParaRPr lang="uk-UA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460" y="1231812"/>
            <a:ext cx="3337686" cy="3065400"/>
          </a:xfrm>
          <a:prstGeom prst="rect">
            <a:avLst/>
          </a:prstGeom>
        </p:spPr>
      </p:pic>
      <p:sp>
        <p:nvSpPr>
          <p:cNvPr id="9" name="Прямокутник 8"/>
          <p:cNvSpPr/>
          <p:nvPr/>
        </p:nvSpPr>
        <p:spPr>
          <a:xfrm>
            <a:off x="6730180" y="1203050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Playbook:</a:t>
            </a:r>
            <a:endParaRPr lang="uk-UA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197" y="4951902"/>
            <a:ext cx="6932898" cy="1448898"/>
          </a:xfrm>
          <a:prstGeom prst="rect">
            <a:avLst/>
          </a:prstGeom>
        </p:spPr>
      </p:pic>
      <p:sp>
        <p:nvSpPr>
          <p:cNvPr id="11" name="Прямокутник 10"/>
          <p:cNvSpPr/>
          <p:nvPr/>
        </p:nvSpPr>
        <p:spPr>
          <a:xfrm>
            <a:off x="4810066" y="4368615"/>
            <a:ext cx="2403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Інвентарний файл</a:t>
            </a:r>
            <a:r>
              <a:rPr lang="en-US"/>
              <a:t>: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016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dirty="0" err="1"/>
              <a:t>автоматизація</a:t>
            </a:r>
            <a:r>
              <a:rPr lang="ru-RU" dirty="0"/>
              <a:t> </a:t>
            </a:r>
            <a:r>
              <a:rPr lang="ru-RU" dirty="0" err="1"/>
              <a:t>встановлення</a:t>
            </a:r>
            <a:r>
              <a:rPr lang="ru-RU" dirty="0"/>
              <a:t> </a:t>
            </a:r>
            <a:r>
              <a:rPr lang="ru-RU" dirty="0" err="1"/>
              <a:t>Nginx</a:t>
            </a:r>
            <a:r>
              <a:rPr lang="ru-RU" dirty="0"/>
              <a:t> + </a:t>
            </a:r>
            <a:r>
              <a:rPr lang="ru-RU" dirty="0" err="1"/>
              <a:t>Mysql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22" y="1969044"/>
            <a:ext cx="5250635" cy="41913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750" y="2822484"/>
            <a:ext cx="5120768" cy="131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0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dirty="0" err="1"/>
              <a:t>автоматизація</a:t>
            </a:r>
            <a:r>
              <a:rPr lang="ru-RU" dirty="0"/>
              <a:t> </a:t>
            </a:r>
            <a:r>
              <a:rPr lang="ru-RU" dirty="0" err="1"/>
              <a:t>встановлення</a:t>
            </a:r>
            <a:r>
              <a:rPr lang="ru-RU" dirty="0"/>
              <a:t> </a:t>
            </a:r>
            <a:r>
              <a:rPr lang="ru-RU" dirty="0" err="1"/>
              <a:t>Nginx</a:t>
            </a:r>
            <a:r>
              <a:rPr lang="ru-RU" dirty="0"/>
              <a:t> + </a:t>
            </a:r>
            <a:r>
              <a:rPr lang="ru-RU" dirty="0" err="1"/>
              <a:t>Mysql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2" y="1909232"/>
            <a:ext cx="5268307" cy="440242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491" y="2126138"/>
            <a:ext cx="3469599" cy="1259512"/>
          </a:xfrm>
          <a:prstGeom prst="rect">
            <a:avLst/>
          </a:prstGeom>
        </p:spPr>
      </p:pic>
      <p:sp>
        <p:nvSpPr>
          <p:cNvPr id="4" name="Прямокутник 3"/>
          <p:cNvSpPr/>
          <p:nvPr/>
        </p:nvSpPr>
        <p:spPr>
          <a:xfrm>
            <a:off x="6998636" y="5512968"/>
            <a:ext cx="4482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ansible-playbook -i hosts playbook.yml</a:t>
            </a:r>
            <a:endParaRPr lang="en-US" dirty="0" err="1"/>
          </a:p>
        </p:txBody>
      </p:sp>
      <p:sp>
        <p:nvSpPr>
          <p:cNvPr id="9" name="Прямокутник 8"/>
          <p:cNvSpPr/>
          <p:nvPr/>
        </p:nvSpPr>
        <p:spPr>
          <a:xfrm>
            <a:off x="6998635" y="5143636"/>
            <a:ext cx="2188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/>
              <a:t>Запуск </a:t>
            </a:r>
            <a:r>
              <a:rPr lang="en-US"/>
              <a:t>playbook: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27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Шаблон оформлення &quot;Водяний знак&quot;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29443084_TF03460614" id="{8E6C44DD-706F-449C-93DD-0EF47F9B6746}" vid="{2D2EA777-3406-4065-8192-FAE5953D728E}"/>
    </a:ext>
  </a:extLst>
</a:theme>
</file>

<file path=ppt/theme/theme2.xml><?xml version="1.0" encoding="utf-8"?>
<a:theme xmlns:a="http://schemas.openxmlformats.org/drawingml/2006/main" name="Тема Offic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Слайди в оформленні Водяний знак</Template>
  <TotalTime>2052</TotalTime>
  <Words>968</Words>
  <Application>Microsoft Macintosh PowerPoint</Application>
  <PresentationFormat>Widescreen</PresentationFormat>
  <Paragraphs>126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Century Gothic</vt:lpstr>
      <vt:lpstr>Times New Roman</vt:lpstr>
      <vt:lpstr>Wingdings</vt:lpstr>
      <vt:lpstr>Шаблон оформлення "Водяний знак"</vt:lpstr>
      <vt:lpstr>Основи Ansible</vt:lpstr>
      <vt:lpstr>PowerPoint Presentation</vt:lpstr>
      <vt:lpstr>Основні випадки використання:</vt:lpstr>
      <vt:lpstr>Особливості інструменту Ansible</vt:lpstr>
      <vt:lpstr>PowerPoint Presentation</vt:lpstr>
      <vt:lpstr>Як працює Ansible?</vt:lpstr>
      <vt:lpstr>Крок 1. Підготовка контролера (Ansible Control Node)</vt:lpstr>
      <vt:lpstr>Крок 2. Завантаження інвентарного файлу (Inventory)</vt:lpstr>
      <vt:lpstr>Крок 3. Встановлення з’єднання з керованими вузлами (Managed Nodes) через SSH</vt:lpstr>
      <vt:lpstr>Крок 4. Виконання плейбуків (Playbook)</vt:lpstr>
      <vt:lpstr>Крок 5. Використання фактів (Facts)  </vt:lpstr>
      <vt:lpstr>Крок 6. Виконання завдань за допомогою модулів</vt:lpstr>
      <vt:lpstr>Крок 7. Перевірка стану</vt:lpstr>
      <vt:lpstr>Крок 8. Звітування та завершення</vt:lpstr>
      <vt:lpstr>Архітектура Ansible</vt:lpstr>
      <vt:lpstr>Інвентаризація у Ansible</vt:lpstr>
      <vt:lpstr>Приклад файлу INI </vt:lpstr>
      <vt:lpstr>PowerPoint Presentation</vt:lpstr>
      <vt:lpstr>Ansible Inventory group</vt:lpstr>
      <vt:lpstr>Приклад YAML inventory (What / Where / When)</vt:lpstr>
      <vt:lpstr>Групи parent/child relationships</vt:lpstr>
      <vt:lpstr>Модулі, задачі та плейбуки</vt:lpstr>
      <vt:lpstr>Модулі</vt:lpstr>
      <vt:lpstr>Приклади модулів</vt:lpstr>
      <vt:lpstr>Приклади модулів</vt:lpstr>
      <vt:lpstr>Задачі</vt:lpstr>
      <vt:lpstr>Приклад коду задачі</vt:lpstr>
      <vt:lpstr>Плейбуки</vt:lpstr>
      <vt:lpstr>Приклад коду плейбуку</vt:lpstr>
      <vt:lpstr>Що таке play?</vt:lpstr>
      <vt:lpstr>Практика: автоматизація встановлення Nginx + Mysql</vt:lpstr>
      <vt:lpstr>Практика: автоматизація встановлення Nginx + Mysql</vt:lpstr>
      <vt:lpstr>Практика: автоматизація встановлення Nginx + Mysql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Ansible</dc:title>
  <dc:creator>Обліковий запис Microsoft</dc:creator>
  <cp:lastModifiedBy>Nazar Pleskanka</cp:lastModifiedBy>
  <cp:revision>25</cp:revision>
  <dcterms:created xsi:type="dcterms:W3CDTF">2025-09-06T13:03:25Z</dcterms:created>
  <dcterms:modified xsi:type="dcterms:W3CDTF">2025-11-04T09:02:49Z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74068000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
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Anonymous Pro" charset="1" panose="02060609030202000504"/>
      <p:regular r:id="rId31"/>
    </p:embeddedFont>
    <p:embeddedFont>
      <p:font typeface="Anonymous Pro Bold" charset="1" panose="020608090302020005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36377" y="7936471"/>
            <a:ext cx="3551623" cy="2350529"/>
          </a:xfrm>
          <a:custGeom>
            <a:avLst/>
            <a:gdLst/>
            <a:ahLst/>
            <a:cxnLst/>
            <a:rect r="r" b="b" t="t" l="l"/>
            <a:pathLst>
              <a:path h="2350529" w="3551623">
                <a:moveTo>
                  <a:pt x="0" y="0"/>
                </a:moveTo>
                <a:lnTo>
                  <a:pt x="3551623" y="0"/>
                </a:lnTo>
                <a:lnTo>
                  <a:pt x="3551623" y="2350529"/>
                </a:lnTo>
                <a:lnTo>
                  <a:pt x="0" y="23505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897" y="7948733"/>
            <a:ext cx="3551623" cy="2350529"/>
          </a:xfrm>
          <a:custGeom>
            <a:avLst/>
            <a:gdLst/>
            <a:ahLst/>
            <a:cxnLst/>
            <a:rect r="r" b="b" t="t" l="l"/>
            <a:pathLst>
              <a:path h="2350529" w="3551623">
                <a:moveTo>
                  <a:pt x="3551623" y="0"/>
                </a:moveTo>
                <a:lnTo>
                  <a:pt x="0" y="0"/>
                </a:lnTo>
                <a:lnTo>
                  <a:pt x="0" y="2350529"/>
                </a:lnTo>
                <a:lnTo>
                  <a:pt x="3551623" y="2350529"/>
                </a:lnTo>
                <a:lnTo>
                  <a:pt x="355162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04107" y="2709921"/>
            <a:ext cx="11079787" cy="251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51"/>
              </a:lnSpc>
            </a:pPr>
            <a:r>
              <a:rPr lang="en-US" sz="717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ТЕМА 14: </a:t>
            </a:r>
          </a:p>
          <a:p>
            <a:pPr algn="just">
              <a:lnSpc>
                <a:spcPts val="10051"/>
              </a:lnSpc>
              <a:spcBef>
                <a:spcPct val="0"/>
              </a:spcBef>
            </a:pPr>
            <a:r>
              <a:rPr lang="en-US" sz="717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МОНІТОРИНГ І </a:t>
            </a:r>
            <a:r>
              <a:rPr lang="en-US" sz="717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логування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320288" y="2809428"/>
            <a:ext cx="3423515" cy="2798724"/>
          </a:xfrm>
          <a:custGeom>
            <a:avLst/>
            <a:gdLst/>
            <a:ahLst/>
            <a:cxnLst/>
            <a:rect r="r" b="b" t="t" l="l"/>
            <a:pathLst>
              <a:path h="2798724" w="3423515">
                <a:moveTo>
                  <a:pt x="0" y="0"/>
                </a:moveTo>
                <a:lnTo>
                  <a:pt x="3423516" y="0"/>
                </a:lnTo>
                <a:lnTo>
                  <a:pt x="3423516" y="2798724"/>
                </a:lnTo>
                <a:lnTo>
                  <a:pt x="0" y="2798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2544196" y="2809428"/>
            <a:ext cx="3423515" cy="2798724"/>
          </a:xfrm>
          <a:custGeom>
            <a:avLst/>
            <a:gdLst/>
            <a:ahLst/>
            <a:cxnLst/>
            <a:rect r="r" b="b" t="t" l="l"/>
            <a:pathLst>
              <a:path h="2798724" w="3423515">
                <a:moveTo>
                  <a:pt x="3423516" y="0"/>
                </a:moveTo>
                <a:lnTo>
                  <a:pt x="0" y="0"/>
                </a:lnTo>
                <a:lnTo>
                  <a:pt x="0" y="2798724"/>
                </a:lnTo>
                <a:lnTo>
                  <a:pt x="3423516" y="2798724"/>
                </a:lnTo>
                <a:lnTo>
                  <a:pt x="3423516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5063866"/>
            <a:ext cx="637073" cy="159268"/>
          </a:xfrm>
          <a:custGeom>
            <a:avLst/>
            <a:gdLst/>
            <a:ahLst/>
            <a:cxnLst/>
            <a:rect r="r" b="b" t="t" l="l"/>
            <a:pathLst>
              <a:path h="159268" w="637073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90814" y="5541477"/>
            <a:ext cx="10106372" cy="103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2971" spc="97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КУРС: ТЕХНОЛОГІЇ РОЗГОРТАННЯ</a:t>
            </a:r>
          </a:p>
          <a:p>
            <a:pPr algn="ctr">
              <a:lnSpc>
                <a:spcPts val="4159"/>
              </a:lnSpc>
              <a:spcBef>
                <a:spcPct val="0"/>
              </a:spcBef>
            </a:pPr>
            <a:r>
              <a:rPr lang="en-US" sz="2971" spc="97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інформаційних систем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622227" y="5063866"/>
            <a:ext cx="637073" cy="159268"/>
          </a:xfrm>
          <a:custGeom>
            <a:avLst/>
            <a:gdLst/>
            <a:ahLst/>
            <a:cxnLst/>
            <a:rect r="r" b="b" t="t" l="l"/>
            <a:pathLst>
              <a:path h="159268" w="637073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5980095" y="763617"/>
            <a:ext cx="6772656" cy="10828374"/>
          </a:xfrm>
          <a:custGeom>
            <a:avLst/>
            <a:gdLst/>
            <a:ahLst/>
            <a:cxnLst/>
            <a:rect r="r" b="b" t="t" l="l"/>
            <a:pathLst>
              <a:path h="10828374" w="6772656">
                <a:moveTo>
                  <a:pt x="0" y="0"/>
                </a:moveTo>
                <a:lnTo>
                  <a:pt x="6772656" y="0"/>
                </a:lnTo>
                <a:lnTo>
                  <a:pt x="6772656" y="10828374"/>
                </a:lnTo>
                <a:lnTo>
                  <a:pt x="0" y="108283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17914" y="1314450"/>
            <a:ext cx="8048510" cy="1171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8"/>
              </a:lnSpc>
            </a:pPr>
            <a:r>
              <a:rPr lang="en-US" sz="96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ПЛАН ТЕМИ: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57867" y="3658512"/>
            <a:ext cx="8426570" cy="477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1559" indent="-340779" lvl="1">
              <a:lnSpc>
                <a:spcPts val="3788"/>
              </a:lnSpc>
              <a:buFont typeface="Arial"/>
              <a:buChar char="•"/>
            </a:pPr>
            <a:r>
              <a:rPr lang="en-US" sz="3156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Огляд рішень: Prometheus, Grafana, ELK</a:t>
            </a:r>
          </a:p>
          <a:p>
            <a:pPr algn="l">
              <a:lnSpc>
                <a:spcPts val="3788"/>
              </a:lnSpc>
            </a:pPr>
          </a:p>
          <a:p>
            <a:pPr algn="l" marL="681559" indent="-340779" lvl="1">
              <a:lnSpc>
                <a:spcPts val="3788"/>
              </a:lnSpc>
              <a:buFont typeface="Arial"/>
              <a:buChar char="•"/>
            </a:pPr>
            <a:r>
              <a:rPr lang="en-US" sz="3156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Моніторинг інфраструктури та контейнерів</a:t>
            </a:r>
          </a:p>
          <a:p>
            <a:pPr algn="l">
              <a:lnSpc>
                <a:spcPts val="3788"/>
              </a:lnSpc>
            </a:pPr>
          </a:p>
          <a:p>
            <a:pPr algn="l" marL="681559" indent="-340779" lvl="1">
              <a:lnSpc>
                <a:spcPts val="3788"/>
              </a:lnSpc>
              <a:buFont typeface="Arial"/>
              <a:buChar char="•"/>
            </a:pPr>
            <a:r>
              <a:rPr lang="en-US" sz="3156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Логування Jenkins та застосунків</a:t>
            </a:r>
          </a:p>
          <a:p>
            <a:pPr algn="l">
              <a:lnSpc>
                <a:spcPts val="3788"/>
              </a:lnSpc>
            </a:pPr>
          </a:p>
          <a:p>
            <a:pPr algn="l" marL="681559" indent="-340779" lvl="1">
              <a:lnSpc>
                <a:spcPts val="3788"/>
              </a:lnSpc>
              <a:buFont typeface="Arial"/>
              <a:buChar char="•"/>
            </a:pPr>
            <a:r>
              <a:rPr lang="en-US" sz="3156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Практика: підключення простого моніторингу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1123" y="1848412"/>
            <a:ext cx="10717145" cy="8047602"/>
          </a:xfrm>
          <a:custGeom>
            <a:avLst/>
            <a:gdLst/>
            <a:ahLst/>
            <a:cxnLst/>
            <a:rect r="r" b="b" t="t" l="l"/>
            <a:pathLst>
              <a:path h="8047602" w="10717145">
                <a:moveTo>
                  <a:pt x="0" y="0"/>
                </a:moveTo>
                <a:lnTo>
                  <a:pt x="10717145" y="0"/>
                </a:lnTo>
                <a:lnTo>
                  <a:pt x="10717145" y="8047601"/>
                </a:lnTo>
                <a:lnTo>
                  <a:pt x="0" y="80476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362676" y="2953387"/>
            <a:ext cx="5313668" cy="4803556"/>
            <a:chOff x="0" y="0"/>
            <a:chExt cx="6350000" cy="5740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1270" cy="5741670"/>
            </a:xfrm>
            <a:custGeom>
              <a:avLst/>
              <a:gdLst/>
              <a:ahLst/>
              <a:cxnLst/>
              <a:rect r="r" b="b" t="t" l="l"/>
              <a:pathLst>
                <a:path h="5741670" w="63512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5"/>
              <a:stretch>
                <a:fillRect l="0" t="-5062" r="0" b="-506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685091"/>
            <a:ext cx="16472793" cy="89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4"/>
              </a:lnSpc>
            </a:pPr>
            <a:r>
              <a:rPr lang="en-US" sz="7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PROMETHEUS – СИСТЕМА МОНІТОРИНГУ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48483" y="2897639"/>
            <a:ext cx="8971023" cy="477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6"/>
              </a:lnSpc>
            </a:pPr>
            <a:r>
              <a:rPr lang="en-US" sz="313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Prometheus – сучасний «сторож» ІТ-систем, створений в SoundCloud (2012) і нині підтримується CNCF. Він регулярними HTTP-запитами опитує налаштовані цілі і зберігає метрики з мітками часу . Prometheus надзвичайно гнучкий: дозволяє задавати вирази на PromQL для створення власних графіків і тригерів, а Alertmanager розсилатиме попередження за потреби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0700" y="1761053"/>
            <a:ext cx="9313953" cy="1195502"/>
            <a:chOff x="0" y="0"/>
            <a:chExt cx="2453058" cy="3148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53058" cy="314865"/>
            </a:xfrm>
            <a:custGeom>
              <a:avLst/>
              <a:gdLst/>
              <a:ahLst/>
              <a:cxnLst/>
              <a:rect r="r" b="b" t="t" l="l"/>
              <a:pathLst>
                <a:path h="314865" w="2453058">
                  <a:moveTo>
                    <a:pt x="42392" y="0"/>
                  </a:moveTo>
                  <a:lnTo>
                    <a:pt x="2410666" y="0"/>
                  </a:lnTo>
                  <a:cubicBezTo>
                    <a:pt x="2421909" y="0"/>
                    <a:pt x="2432691" y="4466"/>
                    <a:pt x="2440641" y="12416"/>
                  </a:cubicBezTo>
                  <a:cubicBezTo>
                    <a:pt x="2448591" y="20366"/>
                    <a:pt x="2453058" y="31149"/>
                    <a:pt x="2453058" y="42392"/>
                  </a:cubicBezTo>
                  <a:lnTo>
                    <a:pt x="2453058" y="272473"/>
                  </a:lnTo>
                  <a:cubicBezTo>
                    <a:pt x="2453058" y="295885"/>
                    <a:pt x="2434078" y="314865"/>
                    <a:pt x="2410666" y="314865"/>
                  </a:cubicBezTo>
                  <a:lnTo>
                    <a:pt x="42392" y="314865"/>
                  </a:lnTo>
                  <a:cubicBezTo>
                    <a:pt x="18980" y="314865"/>
                    <a:pt x="0" y="295885"/>
                    <a:pt x="0" y="272473"/>
                  </a:cubicBezTo>
                  <a:lnTo>
                    <a:pt x="0" y="42392"/>
                  </a:lnTo>
                  <a:cubicBezTo>
                    <a:pt x="0" y="18980"/>
                    <a:pt x="18980" y="0"/>
                    <a:pt x="42392" y="0"/>
                  </a:cubicBezTo>
                  <a:close/>
                </a:path>
              </a:pathLst>
            </a:custGeom>
            <a:solidFill>
              <a:srgbClr val="2B3F3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453058" cy="372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PROMETHEUS: ВІДКРИТА СИСТЕМА МОНІТОРИНГУ ТА СПОВІЩЕНЬ.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685091"/>
            <a:ext cx="16472793" cy="89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4"/>
              </a:lnSpc>
            </a:pPr>
            <a:r>
              <a:rPr lang="en-US" sz="7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PROMETHEUS – СИСТЕМА МОНІТОРИНГУ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52358" y="3137530"/>
            <a:ext cx="9313953" cy="2140655"/>
            <a:chOff x="0" y="0"/>
            <a:chExt cx="2453058" cy="5637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53058" cy="563794"/>
            </a:xfrm>
            <a:custGeom>
              <a:avLst/>
              <a:gdLst/>
              <a:ahLst/>
              <a:cxnLst/>
              <a:rect r="r" b="b" t="t" l="l"/>
              <a:pathLst>
                <a:path h="563794" w="2453058">
                  <a:moveTo>
                    <a:pt x="42392" y="0"/>
                  </a:moveTo>
                  <a:lnTo>
                    <a:pt x="2410666" y="0"/>
                  </a:lnTo>
                  <a:cubicBezTo>
                    <a:pt x="2421909" y="0"/>
                    <a:pt x="2432691" y="4466"/>
                    <a:pt x="2440641" y="12416"/>
                  </a:cubicBezTo>
                  <a:cubicBezTo>
                    <a:pt x="2448591" y="20366"/>
                    <a:pt x="2453058" y="31149"/>
                    <a:pt x="2453058" y="42392"/>
                  </a:cubicBezTo>
                  <a:lnTo>
                    <a:pt x="2453058" y="521402"/>
                  </a:lnTo>
                  <a:cubicBezTo>
                    <a:pt x="2453058" y="544814"/>
                    <a:pt x="2434078" y="563794"/>
                    <a:pt x="2410666" y="563794"/>
                  </a:cubicBezTo>
                  <a:lnTo>
                    <a:pt x="42392" y="563794"/>
                  </a:lnTo>
                  <a:cubicBezTo>
                    <a:pt x="18980" y="563794"/>
                    <a:pt x="0" y="544814"/>
                    <a:pt x="0" y="521402"/>
                  </a:cubicBezTo>
                  <a:lnTo>
                    <a:pt x="0" y="42392"/>
                  </a:lnTo>
                  <a:cubicBezTo>
                    <a:pt x="0" y="18980"/>
                    <a:pt x="18980" y="0"/>
                    <a:pt x="42392" y="0"/>
                  </a:cubicBezTo>
                  <a:close/>
                </a:path>
              </a:pathLst>
            </a:custGeom>
            <a:solidFill>
              <a:srgbClr val="2B3F3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453058" cy="620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 </a:t>
              </a:r>
            </a:p>
            <a:p>
              <a:pPr algn="just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Метрики</a:t>
              </a:r>
              <a:r>
                <a:rPr lang="en-US" sz="2399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: ЗБИРАЄ ЧИСЛОВІ ПОКАЗНИКИ (CPU, ПАМ’ЯТЬ, ЗАПИТИ) ЗА ДОПОМОГОЮ ЕКСПОРТЕРІВ (NODE EXPORTER, MYSQL EXPORTER, ТОЩО).</a:t>
              </a:r>
            </a:p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65537" y="5459159"/>
            <a:ext cx="9313953" cy="1195502"/>
            <a:chOff x="0" y="0"/>
            <a:chExt cx="2453058" cy="3148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53058" cy="314865"/>
            </a:xfrm>
            <a:custGeom>
              <a:avLst/>
              <a:gdLst/>
              <a:ahLst/>
              <a:cxnLst/>
              <a:rect r="r" b="b" t="t" l="l"/>
              <a:pathLst>
                <a:path h="314865" w="2453058">
                  <a:moveTo>
                    <a:pt x="42392" y="0"/>
                  </a:moveTo>
                  <a:lnTo>
                    <a:pt x="2410666" y="0"/>
                  </a:lnTo>
                  <a:cubicBezTo>
                    <a:pt x="2421909" y="0"/>
                    <a:pt x="2432691" y="4466"/>
                    <a:pt x="2440641" y="12416"/>
                  </a:cubicBezTo>
                  <a:cubicBezTo>
                    <a:pt x="2448591" y="20366"/>
                    <a:pt x="2453058" y="31149"/>
                    <a:pt x="2453058" y="42392"/>
                  </a:cubicBezTo>
                  <a:lnTo>
                    <a:pt x="2453058" y="272473"/>
                  </a:lnTo>
                  <a:cubicBezTo>
                    <a:pt x="2453058" y="295885"/>
                    <a:pt x="2434078" y="314865"/>
                    <a:pt x="2410666" y="314865"/>
                  </a:cubicBezTo>
                  <a:lnTo>
                    <a:pt x="42392" y="314865"/>
                  </a:lnTo>
                  <a:cubicBezTo>
                    <a:pt x="18980" y="314865"/>
                    <a:pt x="0" y="295885"/>
                    <a:pt x="0" y="272473"/>
                  </a:cubicBezTo>
                  <a:lnTo>
                    <a:pt x="0" y="42392"/>
                  </a:lnTo>
                  <a:cubicBezTo>
                    <a:pt x="0" y="18980"/>
                    <a:pt x="18980" y="0"/>
                    <a:pt x="42392" y="0"/>
                  </a:cubicBezTo>
                  <a:close/>
                </a:path>
              </a:pathLst>
            </a:custGeom>
            <a:solidFill>
              <a:srgbClr val="2B3F3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453058" cy="372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ЗБЕРІГАННЯ: ВЛАСНА БАЗА ЧАСОВИХ РЯДІВ (TIME-SERIES DB) ДЛЯ ОПЕРАТИВНОГО ЗАПИСУ Й ЗАПИТІВ.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280641" y="6835636"/>
            <a:ext cx="9313953" cy="1195502"/>
            <a:chOff x="0" y="0"/>
            <a:chExt cx="2453058" cy="3148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53058" cy="314865"/>
            </a:xfrm>
            <a:custGeom>
              <a:avLst/>
              <a:gdLst/>
              <a:ahLst/>
              <a:cxnLst/>
              <a:rect r="r" b="b" t="t" l="l"/>
              <a:pathLst>
                <a:path h="314865" w="2453058">
                  <a:moveTo>
                    <a:pt x="42392" y="0"/>
                  </a:moveTo>
                  <a:lnTo>
                    <a:pt x="2410666" y="0"/>
                  </a:lnTo>
                  <a:cubicBezTo>
                    <a:pt x="2421909" y="0"/>
                    <a:pt x="2432691" y="4466"/>
                    <a:pt x="2440641" y="12416"/>
                  </a:cubicBezTo>
                  <a:cubicBezTo>
                    <a:pt x="2448591" y="20366"/>
                    <a:pt x="2453058" y="31149"/>
                    <a:pt x="2453058" y="42392"/>
                  </a:cubicBezTo>
                  <a:lnTo>
                    <a:pt x="2453058" y="272473"/>
                  </a:lnTo>
                  <a:cubicBezTo>
                    <a:pt x="2453058" y="295885"/>
                    <a:pt x="2434078" y="314865"/>
                    <a:pt x="2410666" y="314865"/>
                  </a:cubicBezTo>
                  <a:lnTo>
                    <a:pt x="42392" y="314865"/>
                  </a:lnTo>
                  <a:cubicBezTo>
                    <a:pt x="18980" y="314865"/>
                    <a:pt x="0" y="295885"/>
                    <a:pt x="0" y="272473"/>
                  </a:cubicBezTo>
                  <a:lnTo>
                    <a:pt x="0" y="42392"/>
                  </a:lnTo>
                  <a:cubicBezTo>
                    <a:pt x="0" y="18980"/>
                    <a:pt x="18980" y="0"/>
                    <a:pt x="42392" y="0"/>
                  </a:cubicBezTo>
                  <a:close/>
                </a:path>
              </a:pathLst>
            </a:custGeom>
            <a:solidFill>
              <a:srgbClr val="2B3F3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453058" cy="372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PROMQL: ПОТУЖНА МОВА ЗАПИТІВ ДЛЯ АНАЛІЗУ МЕТРИК (АГРЕГАЦІЇ, ПРОМІСЯЧКОВЕ ВІКНО ТОЩО). 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959481" y="8212113"/>
            <a:ext cx="9313953" cy="1721555"/>
            <a:chOff x="0" y="0"/>
            <a:chExt cx="2453058" cy="45341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53058" cy="453414"/>
            </a:xfrm>
            <a:custGeom>
              <a:avLst/>
              <a:gdLst/>
              <a:ahLst/>
              <a:cxnLst/>
              <a:rect r="r" b="b" t="t" l="l"/>
              <a:pathLst>
                <a:path h="453414" w="2453058">
                  <a:moveTo>
                    <a:pt x="42392" y="0"/>
                  </a:moveTo>
                  <a:lnTo>
                    <a:pt x="2410666" y="0"/>
                  </a:lnTo>
                  <a:cubicBezTo>
                    <a:pt x="2421909" y="0"/>
                    <a:pt x="2432691" y="4466"/>
                    <a:pt x="2440641" y="12416"/>
                  </a:cubicBezTo>
                  <a:cubicBezTo>
                    <a:pt x="2448591" y="20366"/>
                    <a:pt x="2453058" y="31149"/>
                    <a:pt x="2453058" y="42392"/>
                  </a:cubicBezTo>
                  <a:lnTo>
                    <a:pt x="2453058" y="411021"/>
                  </a:lnTo>
                  <a:cubicBezTo>
                    <a:pt x="2453058" y="434434"/>
                    <a:pt x="2434078" y="453414"/>
                    <a:pt x="2410666" y="453414"/>
                  </a:cubicBezTo>
                  <a:lnTo>
                    <a:pt x="42392" y="453414"/>
                  </a:lnTo>
                  <a:cubicBezTo>
                    <a:pt x="18980" y="453414"/>
                    <a:pt x="0" y="434434"/>
                    <a:pt x="0" y="411021"/>
                  </a:cubicBezTo>
                  <a:lnTo>
                    <a:pt x="0" y="42392"/>
                  </a:lnTo>
                  <a:cubicBezTo>
                    <a:pt x="0" y="18980"/>
                    <a:pt x="18980" y="0"/>
                    <a:pt x="42392" y="0"/>
                  </a:cubicBezTo>
                  <a:close/>
                </a:path>
              </a:pathLst>
            </a:custGeom>
            <a:solidFill>
              <a:srgbClr val="2B3F3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453058" cy="51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359"/>
                </a:lnSpc>
              </a:pPr>
            </a:p>
            <a:p>
              <a:pPr algn="just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Ale</a:t>
              </a:r>
              <a:r>
                <a:rPr lang="en-US" sz="2399">
                  <a:solidFill>
                    <a:srgbClr val="FFFFFF"/>
                  </a:solidFill>
                  <a:latin typeface="Anonymous Pro"/>
                  <a:ea typeface="Anonymous Pro"/>
                  <a:cs typeface="Anonymous Pro"/>
                  <a:sym typeface="Anonymous Pro"/>
                </a:rPr>
                <a:t>RTMANAGER: КОМПОНЕНТ ДЛЯ СПОВІЩЕНЬ – ВІДПРАВЛЯЄ ALERTS НА EMAIL, SLACK, PAGERDUTY ТОЩО.</a:t>
              </a:r>
            </a:p>
            <a:p>
              <a:pPr algn="just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32500" y="3460640"/>
            <a:ext cx="4826800" cy="4366625"/>
            <a:chOff x="0" y="0"/>
            <a:chExt cx="7019193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19192" cy="6350000"/>
            </a:xfrm>
            <a:custGeom>
              <a:avLst/>
              <a:gdLst/>
              <a:ahLst/>
              <a:cxnLst/>
              <a:rect r="r" b="b" t="t" l="l"/>
              <a:pathLst>
                <a:path h="6350000" w="7019192">
                  <a:moveTo>
                    <a:pt x="5896122" y="6350000"/>
                  </a:moveTo>
                  <a:lnTo>
                    <a:pt x="1123071" y="6350000"/>
                  </a:lnTo>
                  <a:cubicBezTo>
                    <a:pt x="502574" y="6350000"/>
                    <a:pt x="0" y="6122670"/>
                    <a:pt x="0" y="5842000"/>
                  </a:cubicBezTo>
                  <a:lnTo>
                    <a:pt x="0" y="508000"/>
                  </a:lnTo>
                  <a:cubicBezTo>
                    <a:pt x="0" y="227330"/>
                    <a:pt x="502574" y="0"/>
                    <a:pt x="1123071" y="0"/>
                  </a:cubicBezTo>
                  <a:lnTo>
                    <a:pt x="5896122" y="0"/>
                  </a:lnTo>
                  <a:cubicBezTo>
                    <a:pt x="6516619" y="0"/>
                    <a:pt x="7019192" y="227330"/>
                    <a:pt x="7019192" y="508000"/>
                  </a:cubicBezTo>
                  <a:lnTo>
                    <a:pt x="7019192" y="5842000"/>
                  </a:lnTo>
                  <a:cubicBezTo>
                    <a:pt x="7019192" y="6122670"/>
                    <a:pt x="6516619" y="6350000"/>
                    <a:pt x="5896122" y="6350000"/>
                  </a:cubicBezTo>
                  <a:close/>
                </a:path>
              </a:pathLst>
            </a:custGeom>
            <a:blipFill>
              <a:blip r:embed="rId3"/>
              <a:stretch>
                <a:fillRect l="0" t="-13028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332633" y="1405694"/>
            <a:ext cx="9807156" cy="1382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2"/>
              </a:lnSpc>
            </a:pPr>
            <a:r>
              <a:rPr lang="en-US" sz="5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GRAFANA – ВІЗУАЛІЗАЦІЯ МЕТРИК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9540" y="4319977"/>
            <a:ext cx="9582743" cy="263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79"/>
              </a:lnSpc>
            </a:pPr>
            <a:r>
              <a:rPr lang="en-US" sz="28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Grafana перетворює сухі числа з Prometheus на наочні графіки . Вона «читає» метрики через API і виводить їх у приємному вигляді – лінійні діаграми, гістограми тощо . На практиці Prometheus збирає дані, а Grafana – розповідає про них зручними графіками та дашбордами.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77480" y="751638"/>
            <a:ext cx="13616155" cy="725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92"/>
              </a:lnSpc>
            </a:pPr>
            <a:r>
              <a:rPr lang="en-US" sz="5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GRAFANA – ВІЗУАЛІЗАЦІЯ МЕТРИК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0455" y="2909405"/>
            <a:ext cx="8611121" cy="663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1329" indent="-295665" lvl="1">
              <a:lnSpc>
                <a:spcPts val="3286"/>
              </a:lnSpc>
              <a:buAutoNum type="arabicPeriod" startAt="1"/>
            </a:pPr>
            <a:r>
              <a:rPr lang="en-US" sz="273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Підключення джерела даних</a:t>
            </a:r>
          </a:p>
          <a:p>
            <a:pPr algn="just" marL="1182658" indent="-394219" lvl="2">
              <a:lnSpc>
                <a:spcPts val="3286"/>
              </a:lnSpc>
              <a:buFont typeface="Arial"/>
              <a:buChar char="⚬"/>
            </a:pPr>
            <a:r>
              <a:rPr lang="en-US" sz="273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Спочатку додається Data Source (наприклад, Prometheus, InfluxDB, Elasticsearch).</a:t>
            </a:r>
          </a:p>
          <a:p>
            <a:pPr algn="just" marL="591329" indent="-295665" lvl="1">
              <a:lnSpc>
                <a:spcPts val="3286"/>
              </a:lnSpc>
              <a:buAutoNum type="arabicPeriod" startAt="1"/>
            </a:pPr>
            <a:r>
              <a:rPr lang="en-US" sz="273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Створення Dashboard</a:t>
            </a:r>
          </a:p>
          <a:p>
            <a:pPr algn="just" marL="1182658" indent="-394219" lvl="2">
              <a:lnSpc>
                <a:spcPts val="3286"/>
              </a:lnSpc>
              <a:buFont typeface="Arial"/>
              <a:buChar char="⚬"/>
            </a:pPr>
            <a:r>
              <a:rPr lang="en-US" sz="273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Дашборди складаються з панелей (Panels).</a:t>
            </a:r>
          </a:p>
          <a:p>
            <a:pPr algn="just" marL="1182658" indent="-394219" lvl="2">
              <a:lnSpc>
                <a:spcPts val="3286"/>
              </a:lnSpc>
              <a:buFont typeface="Arial"/>
              <a:buChar char="⚬"/>
            </a:pPr>
            <a:r>
              <a:rPr lang="en-US" sz="273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Кожна панель може показувати графік, таблицю, gauge чи інший віджет.</a:t>
            </a:r>
          </a:p>
          <a:p>
            <a:pPr algn="just" marL="1182658" indent="-394219" lvl="2">
              <a:lnSpc>
                <a:spcPts val="3286"/>
              </a:lnSpc>
              <a:buFont typeface="Arial"/>
              <a:buChar char="⚬"/>
            </a:pPr>
            <a:r>
              <a:rPr lang="en-US" sz="273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Важливо структурувати панелі за темами (наприклад: CPU, пам’ять, мережа).</a:t>
            </a:r>
          </a:p>
          <a:p>
            <a:pPr algn="just" marL="591329" indent="-295665" lvl="1">
              <a:lnSpc>
                <a:spcPts val="3286"/>
              </a:lnSpc>
              <a:buAutoNum type="arabicPeriod" startAt="1"/>
            </a:pPr>
            <a:r>
              <a:rPr lang="en-US" sz="273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Фільтри та змінні</a:t>
            </a:r>
          </a:p>
          <a:p>
            <a:pPr algn="just" marL="1182658" indent="-394219" lvl="2">
              <a:lnSpc>
                <a:spcPts val="3286"/>
              </a:lnSpc>
              <a:buFont typeface="Arial"/>
              <a:buChar char="⚬"/>
            </a:pPr>
            <a:r>
              <a:rPr lang="en-US" sz="273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Використання змінних для гнучких дашбордів.Це економить час і дозволяє один шаблон дашборду застосовувати для десятків систем.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32755" y="2005437"/>
            <a:ext cx="10222490" cy="57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ОСНОВНІ ПРАВИЛА КОРИСТУВАННЯ GRAFANA: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63134" y="2909405"/>
            <a:ext cx="8611121" cy="621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6"/>
              </a:lnSpc>
            </a:pPr>
            <a:r>
              <a:rPr lang="en-US" sz="273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4. Алерти</a:t>
            </a:r>
          </a:p>
          <a:p>
            <a:pPr algn="just" marL="591329" indent="-295665" lvl="1">
              <a:lnSpc>
                <a:spcPts val="3286"/>
              </a:lnSpc>
              <a:buFont typeface="Arial"/>
              <a:buChar char="•"/>
            </a:pPr>
            <a:r>
              <a:rPr lang="en-US" sz="273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Grafana може не лише малювати графіки, а й відправляти сповіщення (Slack, email, Telegram).</a:t>
            </a:r>
          </a:p>
          <a:p>
            <a:pPr algn="just" marL="591329" indent="-295665" lvl="1">
              <a:lnSpc>
                <a:spcPts val="3286"/>
              </a:lnSpc>
              <a:buFont typeface="Arial"/>
              <a:buChar char="•"/>
            </a:pPr>
            <a:r>
              <a:rPr lang="en-US" sz="273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Правило: менше шуму, більше користі — налаштовувати алерти тільки на важливі метрики (наприклад, «CPU &gt; 90% довше ніж 5 хв»).</a:t>
            </a:r>
          </a:p>
          <a:p>
            <a:pPr algn="just">
              <a:lnSpc>
                <a:spcPts val="3286"/>
              </a:lnSpc>
            </a:pPr>
            <a:r>
              <a:rPr lang="en-US" sz="273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5. </a:t>
            </a:r>
            <a:r>
              <a:rPr lang="en-US" sz="273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Правильна організація</a:t>
            </a:r>
          </a:p>
          <a:p>
            <a:pPr algn="just" marL="591329" indent="-295665" lvl="1">
              <a:lnSpc>
                <a:spcPts val="3286"/>
              </a:lnSpc>
              <a:buFont typeface="Arial"/>
              <a:buChar char="•"/>
            </a:pPr>
            <a:r>
              <a:rPr lang="en-US" sz="273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Для великих проєктів використовувати папки для дашбордів.</a:t>
            </a:r>
          </a:p>
          <a:p>
            <a:pPr algn="just" marL="591329" indent="-295665" lvl="1">
              <a:lnSpc>
                <a:spcPts val="3286"/>
              </a:lnSpc>
              <a:buFont typeface="Arial"/>
              <a:buChar char="•"/>
            </a:pPr>
            <a:r>
              <a:rPr lang="en-US" sz="273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Використовувати tags для швидкого пошуку.</a:t>
            </a:r>
          </a:p>
          <a:p>
            <a:pPr algn="just" marL="591329" indent="-295665" lvl="1">
              <a:lnSpc>
                <a:spcPts val="3286"/>
              </a:lnSpc>
              <a:buFont typeface="Arial"/>
              <a:buChar char="•"/>
            </a:pPr>
            <a:r>
              <a:rPr lang="en-US" sz="273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Не перевантажувати один дашборд — краще кілька тематичних.</a:t>
            </a:r>
          </a:p>
          <a:p>
            <a:pPr algn="just">
              <a:lnSpc>
                <a:spcPts val="328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20272" y="297565"/>
            <a:ext cx="6139028" cy="2042622"/>
          </a:xfrm>
          <a:custGeom>
            <a:avLst/>
            <a:gdLst/>
            <a:ahLst/>
            <a:cxnLst/>
            <a:rect r="r" b="b" t="t" l="l"/>
            <a:pathLst>
              <a:path h="2042622" w="6139028">
                <a:moveTo>
                  <a:pt x="0" y="0"/>
                </a:moveTo>
                <a:lnTo>
                  <a:pt x="6139028" y="0"/>
                </a:lnTo>
                <a:lnTo>
                  <a:pt x="6139028" y="2042622"/>
                </a:lnTo>
                <a:lnTo>
                  <a:pt x="0" y="20426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797380" y="3600450"/>
            <a:ext cx="7461920" cy="4405552"/>
            <a:chOff x="0" y="0"/>
            <a:chExt cx="1965279" cy="11603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65279" cy="1160310"/>
            </a:xfrm>
            <a:custGeom>
              <a:avLst/>
              <a:gdLst/>
              <a:ahLst/>
              <a:cxnLst/>
              <a:rect r="r" b="b" t="t" l="l"/>
              <a:pathLst>
                <a:path h="1160310" w="1965279">
                  <a:moveTo>
                    <a:pt x="52914" y="0"/>
                  </a:moveTo>
                  <a:lnTo>
                    <a:pt x="1912366" y="0"/>
                  </a:lnTo>
                  <a:cubicBezTo>
                    <a:pt x="1926399" y="0"/>
                    <a:pt x="1939858" y="5575"/>
                    <a:pt x="1949781" y="15498"/>
                  </a:cubicBezTo>
                  <a:cubicBezTo>
                    <a:pt x="1959704" y="25421"/>
                    <a:pt x="1965279" y="38880"/>
                    <a:pt x="1965279" y="52914"/>
                  </a:cubicBezTo>
                  <a:lnTo>
                    <a:pt x="1965279" y="1107396"/>
                  </a:lnTo>
                  <a:cubicBezTo>
                    <a:pt x="1965279" y="1121430"/>
                    <a:pt x="1959704" y="1134889"/>
                    <a:pt x="1949781" y="1144812"/>
                  </a:cubicBezTo>
                  <a:cubicBezTo>
                    <a:pt x="1939858" y="1154735"/>
                    <a:pt x="1926399" y="1160310"/>
                    <a:pt x="1912366" y="1160310"/>
                  </a:cubicBezTo>
                  <a:lnTo>
                    <a:pt x="52914" y="1160310"/>
                  </a:lnTo>
                  <a:cubicBezTo>
                    <a:pt x="38880" y="1160310"/>
                    <a:pt x="25421" y="1154735"/>
                    <a:pt x="15498" y="1144812"/>
                  </a:cubicBezTo>
                  <a:cubicBezTo>
                    <a:pt x="5575" y="1134889"/>
                    <a:pt x="0" y="1121430"/>
                    <a:pt x="0" y="1107396"/>
                  </a:cubicBezTo>
                  <a:lnTo>
                    <a:pt x="0" y="52914"/>
                  </a:lnTo>
                  <a:cubicBezTo>
                    <a:pt x="0" y="38880"/>
                    <a:pt x="5575" y="25421"/>
                    <a:pt x="15498" y="15498"/>
                  </a:cubicBezTo>
                  <a:cubicBezTo>
                    <a:pt x="25421" y="5575"/>
                    <a:pt x="38880" y="0"/>
                    <a:pt x="52914" y="0"/>
                  </a:cubicBezTo>
                  <a:close/>
                </a:path>
              </a:pathLst>
            </a:custGeom>
            <a:solidFill>
              <a:srgbClr val="2B3F3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965279" cy="1207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966286" y="883874"/>
            <a:ext cx="4404348" cy="95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8"/>
              </a:lnSpc>
            </a:pPr>
            <a:r>
              <a:rPr lang="en-US" sz="7804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ELK-СТЕК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8248" y="1895136"/>
            <a:ext cx="8615752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sz="4023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Що таке ELK?</a:t>
            </a:r>
          </a:p>
          <a:p>
            <a:pPr algn="l">
              <a:lnSpc>
                <a:spcPts val="4828"/>
              </a:lnSpc>
            </a:pPr>
          </a:p>
          <a:p>
            <a:pPr algn="l">
              <a:lnSpc>
                <a:spcPts val="3028"/>
              </a:lnSpc>
            </a:pPr>
            <a:r>
              <a:rPr lang="en-US" sz="2523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ELK = Elasticsearch + Logstash + Kibana</a:t>
            </a:r>
          </a:p>
          <a:p>
            <a:pPr algn="l" marL="544821" indent="-272410" lvl="1">
              <a:lnSpc>
                <a:spcPts val="3028"/>
              </a:lnSpc>
              <a:buFont typeface="Arial"/>
              <a:buChar char="•"/>
            </a:pPr>
            <a:r>
              <a:rPr lang="en-US" sz="2523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Elasticsearch – сховище та пошуковий рушій для логів.</a:t>
            </a:r>
          </a:p>
          <a:p>
            <a:pPr algn="l" marL="544821" indent="-272410" lvl="1">
              <a:lnSpc>
                <a:spcPts val="3028"/>
              </a:lnSpc>
              <a:buFont typeface="Arial"/>
              <a:buChar char="•"/>
            </a:pPr>
            <a:r>
              <a:rPr lang="en-US" sz="2523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Logstash – збирає, обробляє та доставляє логи.</a:t>
            </a:r>
          </a:p>
          <a:p>
            <a:pPr algn="l" marL="544821" indent="-272410" lvl="1">
              <a:lnSpc>
                <a:spcPts val="3028"/>
              </a:lnSpc>
              <a:buFont typeface="Arial"/>
              <a:buChar char="•"/>
            </a:pPr>
            <a:r>
              <a:rPr lang="en-US" sz="2523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Kibana – візуалізація та аналітика.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8248" y="6124575"/>
            <a:ext cx="8615752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sz="4023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Призначення</a:t>
            </a:r>
          </a:p>
          <a:p>
            <a:pPr algn="l">
              <a:lnSpc>
                <a:spcPts val="4828"/>
              </a:lnSpc>
            </a:pPr>
          </a:p>
          <a:p>
            <a:pPr algn="l" marL="544068" indent="-272034" lvl="1">
              <a:lnSpc>
                <a:spcPts val="3024"/>
              </a:lnSpc>
              <a:buAutoNum type="arabicPeriod" startAt="1"/>
            </a:pPr>
            <a:r>
              <a:rPr lang="en-US" b="true" sz="252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Централізований збір логів з серверів, контейнерів, додатків.</a:t>
            </a:r>
          </a:p>
          <a:p>
            <a:pPr algn="l" marL="544068" indent="-272034" lvl="1">
              <a:lnSpc>
                <a:spcPts val="3024"/>
              </a:lnSpc>
              <a:buAutoNum type="arabicPeriod" startAt="1"/>
            </a:pPr>
            <a:r>
              <a:rPr lang="en-US" b="true" sz="252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Пошук та аналіз помилок у реальному часі.</a:t>
            </a:r>
          </a:p>
          <a:p>
            <a:pPr algn="l" marL="544068" indent="-272034" lvl="1">
              <a:lnSpc>
                <a:spcPts val="3024"/>
              </a:lnSpc>
              <a:buAutoNum type="arabicPeriod" startAt="1"/>
            </a:pPr>
            <a:r>
              <a:rPr lang="en-US" b="true" sz="252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Побудова графіків і дашбордів для DevOps та розробників.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62204" y="3800475"/>
            <a:ext cx="7391716" cy="389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8"/>
              </a:lnSpc>
            </a:pPr>
            <a:r>
              <a:rPr lang="en-US" sz="4023" b="true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Схема роботи</a:t>
            </a:r>
          </a:p>
          <a:p>
            <a:pPr algn="l">
              <a:lnSpc>
                <a:spcPts val="4828"/>
              </a:lnSpc>
            </a:pPr>
          </a:p>
          <a:p>
            <a:pPr algn="l" marL="544068" indent="-272034" lvl="1">
              <a:lnSpc>
                <a:spcPts val="3024"/>
              </a:lnSpc>
              <a:buAutoNum type="arabicPeriod" startAt="1"/>
            </a:pPr>
            <a:r>
              <a:rPr lang="en-US" b="true" sz="252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Лог-файли → Logstash / Beats (Fi</a:t>
            </a:r>
            <a:r>
              <a:rPr lang="en-US" b="true" sz="252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lebeat, Metricbeat).</a:t>
            </a:r>
          </a:p>
          <a:p>
            <a:pPr algn="l" marL="544068" indent="-272034" lvl="1">
              <a:lnSpc>
                <a:spcPts val="3024"/>
              </a:lnSpc>
              <a:buAutoNum type="arabicPeriod" startAt="1"/>
            </a:pPr>
            <a:r>
              <a:rPr lang="en-US" b="true" sz="252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Дані фільтруються, нормалізуються (JSON, regex, парсери).</a:t>
            </a:r>
          </a:p>
          <a:p>
            <a:pPr algn="l" marL="544068" indent="-272034" lvl="1">
              <a:lnSpc>
                <a:spcPts val="3024"/>
              </a:lnSpc>
              <a:buAutoNum type="arabicPeriod" startAt="1"/>
            </a:pPr>
            <a:r>
              <a:rPr lang="en-US" b="true" sz="252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Відправляються в Elasticsearch.</a:t>
            </a:r>
          </a:p>
          <a:p>
            <a:pPr algn="l" marL="544068" indent="-272034" lvl="1">
              <a:lnSpc>
                <a:spcPts val="3024"/>
              </a:lnSpc>
              <a:buAutoNum type="arabicPeriod" startAt="1"/>
            </a:pPr>
            <a:r>
              <a:rPr lang="en-US" b="true" sz="252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В Kibana їх можна шукати, будувати візуалізації, дашборди.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467923" y="6842803"/>
            <a:ext cx="9603468" cy="3086100"/>
            <a:chOff x="0" y="0"/>
            <a:chExt cx="2529308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29308" cy="812800"/>
            </a:xfrm>
            <a:custGeom>
              <a:avLst/>
              <a:gdLst/>
              <a:ahLst/>
              <a:cxnLst/>
              <a:rect r="r" b="b" t="t" l="l"/>
              <a:pathLst>
                <a:path h="812800" w="2529308">
                  <a:moveTo>
                    <a:pt x="41114" y="0"/>
                  </a:moveTo>
                  <a:lnTo>
                    <a:pt x="2488194" y="0"/>
                  </a:lnTo>
                  <a:cubicBezTo>
                    <a:pt x="2499098" y="0"/>
                    <a:pt x="2509556" y="4332"/>
                    <a:pt x="2517266" y="12042"/>
                  </a:cubicBezTo>
                  <a:cubicBezTo>
                    <a:pt x="2524977" y="19752"/>
                    <a:pt x="2529308" y="30210"/>
                    <a:pt x="2529308" y="41114"/>
                  </a:cubicBezTo>
                  <a:lnTo>
                    <a:pt x="2529308" y="771686"/>
                  </a:lnTo>
                  <a:cubicBezTo>
                    <a:pt x="2529308" y="782590"/>
                    <a:pt x="2524977" y="793048"/>
                    <a:pt x="2517266" y="800758"/>
                  </a:cubicBezTo>
                  <a:cubicBezTo>
                    <a:pt x="2509556" y="808468"/>
                    <a:pt x="2499098" y="812800"/>
                    <a:pt x="2488194" y="812800"/>
                  </a:cubicBezTo>
                  <a:lnTo>
                    <a:pt x="41114" y="812800"/>
                  </a:lnTo>
                  <a:cubicBezTo>
                    <a:pt x="30210" y="812800"/>
                    <a:pt x="19752" y="808468"/>
                    <a:pt x="12042" y="800758"/>
                  </a:cubicBezTo>
                  <a:cubicBezTo>
                    <a:pt x="4332" y="793048"/>
                    <a:pt x="0" y="782590"/>
                    <a:pt x="0" y="771686"/>
                  </a:cubicBezTo>
                  <a:lnTo>
                    <a:pt x="0" y="41114"/>
                  </a:lnTo>
                  <a:cubicBezTo>
                    <a:pt x="0" y="30210"/>
                    <a:pt x="4332" y="19752"/>
                    <a:pt x="12042" y="12042"/>
                  </a:cubicBezTo>
                  <a:cubicBezTo>
                    <a:pt x="19752" y="4332"/>
                    <a:pt x="30210" y="0"/>
                    <a:pt x="41114" y="0"/>
                  </a:cubicBezTo>
                  <a:close/>
                </a:path>
              </a:pathLst>
            </a:custGeom>
            <a:solidFill>
              <a:srgbClr val="2B3F3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529308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680687"/>
            <a:ext cx="17062564" cy="1558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6"/>
              </a:lnSpc>
            </a:pPr>
            <a:r>
              <a:rPr lang="en-US" sz="67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ПОРІВНЯННЯ </a:t>
            </a:r>
          </a:p>
          <a:p>
            <a:pPr algn="ctr">
              <a:lnSpc>
                <a:spcPts val="5896"/>
              </a:lnSpc>
            </a:pPr>
            <a:r>
              <a:rPr lang="en-US" sz="67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PROMETHEUS+GRAFANA VS ELK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15121" y="2697398"/>
            <a:ext cx="6247395" cy="7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212121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PROMETHEUS+GRAFANA: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7225" y="3844247"/>
            <a:ext cx="7084167" cy="2579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2"/>
              </a:lnSpc>
            </a:pPr>
            <a:r>
              <a:rPr lang="en-US" sz="2443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Орієнтовані на метрики (числові показники, часові ряди). Зручні для операційного моніторингу (CPU, використання пам’яті, завантаження контейнерів тощо). Grafana надає швидкий доступ до графіків і метрик, а PromQL дозволяє гнучко аналізувати дані .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26971" y="2697399"/>
            <a:ext cx="1644420" cy="74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212121"/>
                </a:solidFill>
                <a:latin typeface="Anonymous Pro"/>
                <a:ea typeface="Anonymous Pro"/>
                <a:cs typeface="Anonymous Pro"/>
                <a:sym typeface="Anonymous Pro"/>
              </a:rPr>
              <a:t>ELK: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89254" y="3844247"/>
            <a:ext cx="6681202" cy="261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43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орієнтований на логування (текстові події). Найкраще підходить для централізованого збирання логів (логи системи, додатків, парсинг подій). Kibana дає зручні інструменти пошуку й побудови дашбордів за текстовими полями 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54023" y="6920822"/>
            <a:ext cx="4011918" cy="74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212121"/>
                </a:solidFill>
                <a:latin typeface="Anonymous Pro"/>
                <a:ea typeface="Anonymous Pro"/>
                <a:cs typeface="Anonymous Pro"/>
                <a:sym typeface="Anonymous Pro"/>
              </a:rPr>
              <a:t>КОМБІНАЦІЯ</a:t>
            </a:r>
            <a:r>
              <a:rPr lang="en-US" sz="42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54801" y="8068902"/>
            <a:ext cx="8210362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7"/>
              </a:lnSpc>
            </a:pPr>
            <a:r>
              <a:rPr lang="en-US" sz="243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В реальних проєктах часто використовують обидва підходи: метрики в Prometheus+Grafana, а логи – в ELK/EFK, щоб отримати повну картину.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87132" y="2551148"/>
            <a:ext cx="7558004" cy="3086100"/>
            <a:chOff x="0" y="0"/>
            <a:chExt cx="199058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90585" cy="812800"/>
            </a:xfrm>
            <a:custGeom>
              <a:avLst/>
              <a:gdLst/>
              <a:ahLst/>
              <a:cxnLst/>
              <a:rect r="r" b="b" t="t" l="l"/>
              <a:pathLst>
                <a:path h="812800" w="1990585">
                  <a:moveTo>
                    <a:pt x="52241" y="0"/>
                  </a:moveTo>
                  <a:lnTo>
                    <a:pt x="1938344" y="0"/>
                  </a:lnTo>
                  <a:cubicBezTo>
                    <a:pt x="1967196" y="0"/>
                    <a:pt x="1990585" y="23389"/>
                    <a:pt x="1990585" y="52241"/>
                  </a:cubicBezTo>
                  <a:lnTo>
                    <a:pt x="1990585" y="760559"/>
                  </a:lnTo>
                  <a:cubicBezTo>
                    <a:pt x="1990585" y="789411"/>
                    <a:pt x="1967196" y="812800"/>
                    <a:pt x="1938344" y="812800"/>
                  </a:cubicBezTo>
                  <a:lnTo>
                    <a:pt x="52241" y="812800"/>
                  </a:lnTo>
                  <a:cubicBezTo>
                    <a:pt x="23389" y="812800"/>
                    <a:pt x="0" y="789411"/>
                    <a:pt x="0" y="760559"/>
                  </a:cubicBezTo>
                  <a:lnTo>
                    <a:pt x="0" y="52241"/>
                  </a:lnTo>
                  <a:cubicBezTo>
                    <a:pt x="0" y="23389"/>
                    <a:pt x="23389" y="0"/>
                    <a:pt x="52241" y="0"/>
                  </a:cubicBez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990585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77784" y="2551148"/>
            <a:ext cx="8393222" cy="5213625"/>
            <a:chOff x="0" y="0"/>
            <a:chExt cx="2210561" cy="1373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0561" cy="1373136"/>
            </a:xfrm>
            <a:custGeom>
              <a:avLst/>
              <a:gdLst/>
              <a:ahLst/>
              <a:cxnLst/>
              <a:rect r="r" b="b" t="t" l="l"/>
              <a:pathLst>
                <a:path h="1373136" w="2210561">
                  <a:moveTo>
                    <a:pt x="47042" y="0"/>
                  </a:moveTo>
                  <a:lnTo>
                    <a:pt x="2163518" y="0"/>
                  </a:lnTo>
                  <a:cubicBezTo>
                    <a:pt x="2175995" y="0"/>
                    <a:pt x="2187960" y="4956"/>
                    <a:pt x="2196782" y="13778"/>
                  </a:cubicBezTo>
                  <a:cubicBezTo>
                    <a:pt x="2205604" y="22601"/>
                    <a:pt x="2210561" y="34566"/>
                    <a:pt x="2210561" y="47042"/>
                  </a:cubicBezTo>
                  <a:lnTo>
                    <a:pt x="2210561" y="1326093"/>
                  </a:lnTo>
                  <a:cubicBezTo>
                    <a:pt x="2210561" y="1352074"/>
                    <a:pt x="2189499" y="1373136"/>
                    <a:pt x="2163518" y="1373136"/>
                  </a:cubicBezTo>
                  <a:lnTo>
                    <a:pt x="47042" y="1373136"/>
                  </a:lnTo>
                  <a:cubicBezTo>
                    <a:pt x="34566" y="1373136"/>
                    <a:pt x="22601" y="1368180"/>
                    <a:pt x="13778" y="1359357"/>
                  </a:cubicBezTo>
                  <a:cubicBezTo>
                    <a:pt x="4956" y="1350535"/>
                    <a:pt x="0" y="1338570"/>
                    <a:pt x="0" y="1326093"/>
                  </a:cubicBezTo>
                  <a:lnTo>
                    <a:pt x="0" y="47042"/>
                  </a:lnTo>
                  <a:cubicBezTo>
                    <a:pt x="0" y="34566"/>
                    <a:pt x="4956" y="22601"/>
                    <a:pt x="13778" y="13778"/>
                  </a:cubicBezTo>
                  <a:cubicBezTo>
                    <a:pt x="22601" y="4956"/>
                    <a:pt x="34566" y="0"/>
                    <a:pt x="47042" y="0"/>
                  </a:cubicBezTo>
                  <a:close/>
                </a:path>
              </a:pathLst>
            </a:custGeom>
            <a:solidFill>
              <a:srgbClr val="2B826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10561" cy="14207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46513" y="497225"/>
            <a:ext cx="14594973" cy="179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53"/>
              </a:lnSpc>
            </a:pPr>
            <a:r>
              <a:rPr lang="en-US" sz="7673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МОНІТОРИНГ ІНФРАСТРУКТУРИ (СЕРВЕРИ/ВМ)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8142" y="2760698"/>
            <a:ext cx="7166993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FF3131"/>
                </a:solidFill>
                <a:latin typeface="Anonymous Pro"/>
                <a:ea typeface="Anonymous Pro"/>
                <a:cs typeface="Anonymous Pro"/>
                <a:sym typeface="Anonymous Pro"/>
              </a:rPr>
              <a:t>З</a:t>
            </a:r>
            <a:r>
              <a:rPr lang="en-US" sz="2599" u="sng">
                <a:solidFill>
                  <a:srgbClr val="FF3131"/>
                </a:solidFill>
                <a:latin typeface="Anonymous Pro"/>
                <a:ea typeface="Anonymous Pro"/>
                <a:cs typeface="Anonymous Pro"/>
                <a:sym typeface="Anonymous Pro"/>
              </a:rPr>
              <a:t>авдання моніторингу інфраструктури</a:t>
            </a:r>
          </a:p>
          <a:p>
            <a:pPr algn="l">
              <a:lnSpc>
                <a:spcPts val="3119"/>
              </a:lnSpc>
            </a:pPr>
          </a:p>
          <a:p>
            <a:pPr algn="l" marL="388622" indent="-194311" lvl="1">
              <a:lnSpc>
                <a:spcPts val="2160"/>
              </a:lnSpc>
              <a:buAutoNum type="arabicPeriod" startAt="1"/>
            </a:pPr>
            <a:r>
              <a:rPr lang="en-US" sz="1800">
                <a:solidFill>
                  <a:srgbClr val="FF3131"/>
                </a:solidFill>
                <a:latin typeface="Anonymous Pro"/>
                <a:ea typeface="Anonymous Pro"/>
                <a:cs typeface="Anonymous Pro"/>
                <a:sym typeface="Anonymous Pro"/>
              </a:rPr>
              <a:t>Контроль навантаження (CPU, пам'ять, диски, мережа).</a:t>
            </a:r>
          </a:p>
          <a:p>
            <a:pPr algn="l" marL="388622" indent="-194311" lvl="1">
              <a:lnSpc>
                <a:spcPts val="2160"/>
              </a:lnSpc>
              <a:buAutoNum type="arabicPeriod" startAt="1"/>
            </a:pPr>
            <a:r>
              <a:rPr lang="en-US" sz="1800">
                <a:solidFill>
                  <a:srgbClr val="FF3131"/>
                </a:solidFill>
                <a:latin typeface="Anonymous Pro"/>
                <a:ea typeface="Anonymous Pro"/>
                <a:cs typeface="Anonymous Pro"/>
                <a:sym typeface="Anonymous Pro"/>
              </a:rPr>
              <a:t>Відстеження доступності (чи сервер взагалі працює, чи відповідає на запити).</a:t>
            </a:r>
          </a:p>
          <a:p>
            <a:pPr algn="l" marL="388622" indent="-194311" lvl="1">
              <a:lnSpc>
                <a:spcPts val="2160"/>
              </a:lnSpc>
              <a:buAutoNum type="arabicPeriod" startAt="1"/>
            </a:pPr>
            <a:r>
              <a:rPr lang="en-US" sz="1800">
                <a:solidFill>
                  <a:srgbClr val="FF3131"/>
                </a:solidFill>
                <a:latin typeface="Anonymous Pro"/>
                <a:ea typeface="Anonymous Pro"/>
                <a:cs typeface="Anonymous Pro"/>
                <a:sym typeface="Anonymous Pro"/>
              </a:rPr>
              <a:t>Аналіз продуктивності ОС, віртуальних машин та фізичних серверів.</a:t>
            </a:r>
          </a:p>
          <a:p>
            <a:pPr algn="l" marL="388622" indent="-194311" lvl="1">
              <a:lnSpc>
                <a:spcPts val="2160"/>
              </a:lnSpc>
              <a:buAutoNum type="arabicPeriod" startAt="1"/>
            </a:pPr>
            <a:r>
              <a:rPr lang="en-US" sz="1800">
                <a:solidFill>
                  <a:srgbClr val="FF3131"/>
                </a:solidFill>
                <a:latin typeface="Anonymous Pro"/>
                <a:ea typeface="Anonymous Pro"/>
                <a:cs typeface="Anonymous Pro"/>
                <a:sym typeface="Anonymous Pro"/>
              </a:rPr>
              <a:t>Попередження про проблеми: брак ресурсів, завислі процеси, перевантаження.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1194" y="2760698"/>
            <a:ext cx="7166993" cy="482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u="sng">
                <a:solidFill>
                  <a:srgbClr val="A6A6A6"/>
                </a:solidFill>
                <a:latin typeface="Anonymous Pro"/>
                <a:ea typeface="Anonymous Pro"/>
                <a:cs typeface="Anonymous Pro"/>
                <a:sym typeface="Anonymous Pro"/>
              </a:rPr>
              <a:t>І</a:t>
            </a:r>
            <a:r>
              <a:rPr lang="en-US" sz="2699" u="sng">
                <a:solidFill>
                  <a:srgbClr val="A6A6A6"/>
                </a:solidFill>
                <a:latin typeface="Anonymous Pro"/>
                <a:ea typeface="Anonymous Pro"/>
                <a:cs typeface="Anonymous Pro"/>
                <a:sym typeface="Anonymous Pro"/>
              </a:rPr>
              <a:t>нструменти збору метрик</a:t>
            </a:r>
          </a:p>
          <a:p>
            <a:pPr algn="l">
              <a:lnSpc>
                <a:spcPts val="3239"/>
              </a:lnSpc>
            </a:pP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A6A6A6"/>
                </a:solidFill>
                <a:latin typeface="Anonymous Pro"/>
                <a:ea typeface="Anonymous Pro"/>
                <a:cs typeface="Anonymous Pro"/>
                <a:sym typeface="Anonymous Pro"/>
              </a:rPr>
              <a:t>Node Exporter – стандартний агент для Linux/Unix.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A6A6A6"/>
                </a:solidFill>
                <a:latin typeface="Anonymous Pro"/>
                <a:ea typeface="Anonymous Pro"/>
                <a:cs typeface="Anonymous Pro"/>
                <a:sym typeface="Anonymous Pro"/>
              </a:rPr>
              <a:t>Збирає с</a:t>
            </a:r>
            <a:r>
              <a:rPr lang="en-US" sz="1800">
                <a:solidFill>
                  <a:srgbClr val="A6A6A6"/>
                </a:solidFill>
                <a:latin typeface="Anonymous Pro"/>
                <a:ea typeface="Anonymous Pro"/>
                <a:cs typeface="Anonymous Pro"/>
                <a:sym typeface="Anonymous Pro"/>
              </a:rPr>
              <a:t>отні метрик:</a:t>
            </a:r>
          </a:p>
          <a:p>
            <a:pPr algn="l" marL="777240" indent="-2590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node_cpu_seconds_total – завантаження процесора.</a:t>
            </a:r>
          </a:p>
          <a:p>
            <a:pPr algn="l" marL="777240" indent="-2590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node_memory_MemAvailable_bytes – доступна пам’ять.</a:t>
            </a:r>
          </a:p>
          <a:p>
            <a:pPr algn="l" marL="777240" indent="-2590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node_disk_io_time_seconds_total – робота дисків.</a:t>
            </a:r>
          </a:p>
          <a:p>
            <a:pPr algn="l" marL="777240" indent="-2590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node_network_receive_bytes_total – трафік мережі.</a:t>
            </a:r>
          </a:p>
          <a:p>
            <a:pPr algn="l" marL="777240" indent="-2590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Формат показників – node_*.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A6A6A6"/>
                </a:solidFill>
                <a:latin typeface="Anonymous Pro"/>
                <a:ea typeface="Anonymous Pro"/>
                <a:cs typeface="Anonymous Pro"/>
                <a:sym typeface="Anonymous Pro"/>
              </a:rPr>
              <a:t>Windows Exporter – аналог для Windows-систем.</a:t>
            </a:r>
          </a:p>
          <a:p>
            <a:pPr algn="l">
              <a:lnSpc>
                <a:spcPts val="2160"/>
              </a:lnSpc>
            </a:pP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A6A6A6"/>
                </a:solidFill>
                <a:latin typeface="Anonymous Pro"/>
                <a:ea typeface="Anonymous Pro"/>
                <a:cs typeface="Anonymous Pro"/>
                <a:sym typeface="Anonymous Pro"/>
              </a:rPr>
              <a:t>Інші експортери:</a:t>
            </a:r>
          </a:p>
          <a:p>
            <a:pPr algn="l" marL="777240" indent="-2590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A6A6A6"/>
                </a:solidFill>
                <a:latin typeface="Anonymous Pro"/>
                <a:ea typeface="Anonymous Pro"/>
                <a:cs typeface="Anonymous Pro"/>
                <a:sym typeface="Anonymous Pro"/>
              </a:rPr>
              <a:t>SNMP – мережеві пристрої (роутери, свічі).</a:t>
            </a:r>
          </a:p>
          <a:p>
            <a:pPr algn="l" marL="777240" indent="-2590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A6A6A6"/>
                </a:solidFill>
                <a:latin typeface="Anonymous Pro"/>
                <a:ea typeface="Anonymous Pro"/>
                <a:cs typeface="Anonymous Pro"/>
                <a:sym typeface="Anonymous Pro"/>
              </a:rPr>
              <a:t>IPMI Exporter – апаратні сенсори серверів (температура, живлення).</a:t>
            </a:r>
          </a:p>
          <a:p>
            <a:pPr algn="l" marL="777240" indent="-259080" lvl="2">
              <a:lnSpc>
                <a:spcPts val="2160"/>
              </a:lnSpc>
              <a:buFont typeface="Arial"/>
              <a:buChar char="⚬"/>
            </a:pPr>
            <a:r>
              <a:rPr lang="en-US" sz="1800">
                <a:solidFill>
                  <a:srgbClr val="A6A6A6"/>
                </a:solidFill>
                <a:latin typeface="Anonymous Pro"/>
                <a:ea typeface="Anonymous Pro"/>
                <a:cs typeface="Anonymous Pro"/>
                <a:sym typeface="Anonymous Pro"/>
              </a:rPr>
              <a:t>Експортери для баз даних (MySQL, PostgreSQL тощо).</a:t>
            </a:r>
          </a:p>
          <a:p>
            <a:pPr algn="l" marL="388620" indent="-194310" lvl="1">
              <a:lnSpc>
                <a:spcPts val="2160"/>
              </a:lnSpc>
              <a:buAutoNum type="arabicPeriod" startAt="1"/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46307" y="5903294"/>
            <a:ext cx="8393222" cy="2384718"/>
            <a:chOff x="0" y="0"/>
            <a:chExt cx="2210561" cy="6280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10561" cy="628074"/>
            </a:xfrm>
            <a:custGeom>
              <a:avLst/>
              <a:gdLst/>
              <a:ahLst/>
              <a:cxnLst/>
              <a:rect r="r" b="b" t="t" l="l"/>
              <a:pathLst>
                <a:path h="628074" w="2210561">
                  <a:moveTo>
                    <a:pt x="47042" y="0"/>
                  </a:moveTo>
                  <a:lnTo>
                    <a:pt x="2163518" y="0"/>
                  </a:lnTo>
                  <a:cubicBezTo>
                    <a:pt x="2175995" y="0"/>
                    <a:pt x="2187960" y="4956"/>
                    <a:pt x="2196782" y="13778"/>
                  </a:cubicBezTo>
                  <a:cubicBezTo>
                    <a:pt x="2205604" y="22601"/>
                    <a:pt x="2210561" y="34566"/>
                    <a:pt x="2210561" y="47042"/>
                  </a:cubicBezTo>
                  <a:lnTo>
                    <a:pt x="2210561" y="581031"/>
                  </a:lnTo>
                  <a:cubicBezTo>
                    <a:pt x="2210561" y="607012"/>
                    <a:pt x="2189499" y="628074"/>
                    <a:pt x="2163518" y="628074"/>
                  </a:cubicBezTo>
                  <a:lnTo>
                    <a:pt x="47042" y="628074"/>
                  </a:lnTo>
                  <a:cubicBezTo>
                    <a:pt x="34566" y="628074"/>
                    <a:pt x="22601" y="623118"/>
                    <a:pt x="13778" y="614295"/>
                  </a:cubicBezTo>
                  <a:cubicBezTo>
                    <a:pt x="4956" y="605473"/>
                    <a:pt x="0" y="593508"/>
                    <a:pt x="0" y="581031"/>
                  </a:cubicBezTo>
                  <a:lnTo>
                    <a:pt x="0" y="47042"/>
                  </a:lnTo>
                  <a:cubicBezTo>
                    <a:pt x="0" y="34566"/>
                    <a:pt x="4956" y="22601"/>
                    <a:pt x="13778" y="13778"/>
                  </a:cubicBezTo>
                  <a:cubicBezTo>
                    <a:pt x="22601" y="4956"/>
                    <a:pt x="34566" y="0"/>
                    <a:pt x="47042" y="0"/>
                  </a:cubicBezTo>
                  <a:close/>
                </a:path>
              </a:pathLst>
            </a:custGeom>
            <a:solidFill>
              <a:srgbClr val="2B82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210561" cy="675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43541" y="6168270"/>
            <a:ext cx="7598754" cy="1764992"/>
          </a:xfrm>
          <a:custGeom>
            <a:avLst/>
            <a:gdLst/>
            <a:ahLst/>
            <a:cxnLst/>
            <a:rect r="r" b="b" t="t" l="l"/>
            <a:pathLst>
              <a:path h="1764992" w="7598754">
                <a:moveTo>
                  <a:pt x="0" y="0"/>
                </a:moveTo>
                <a:lnTo>
                  <a:pt x="7598754" y="0"/>
                </a:lnTo>
                <a:lnTo>
                  <a:pt x="7598754" y="1764992"/>
                </a:lnTo>
                <a:lnTo>
                  <a:pt x="0" y="17649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11791" y="427248"/>
            <a:ext cx="10805522" cy="69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56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МОНІТОРИНГ ІНФРАСТРУКТУРИ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1670" y="2196130"/>
            <a:ext cx="7166993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119"/>
              </a:lnSpc>
              <a:buAutoNum type="arabicPeriod" startAt="1"/>
            </a:pP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Н</a:t>
            </a: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а 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к</a:t>
            </a: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о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ж</a:t>
            </a: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но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м</a:t>
            </a: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у 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хо</a:t>
            </a: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ст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і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 запускається Node Exporter (порт 9100).</a:t>
            </a:r>
          </a:p>
          <a:p>
            <a:pPr algn="l" marL="561337" indent="-280669" lvl="1">
              <a:lnSpc>
                <a:spcPts val="3119"/>
              </a:lnSpc>
              <a:buAutoNum type="arabicPeriod" startAt="1"/>
            </a:pP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Prometheus періодично «опитує» експортер через HTTP (pull-модель).</a:t>
            </a:r>
          </a:p>
          <a:p>
            <a:pPr algn="l" marL="561337" indent="-280669" lvl="1">
              <a:lnSpc>
                <a:spcPts val="3119"/>
              </a:lnSpc>
              <a:buAutoNum type="arabicPeriod" startAt="1"/>
            </a:pP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Дані зберігаються в Prometheus та візуалізуються у Grafana.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1173080" y="1350036"/>
            <a:ext cx="9685836" cy="61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1"/>
              </a:lnSpc>
            </a:pPr>
            <a:r>
              <a:rPr lang="en-US" sz="5092">
                <a:solidFill>
                  <a:srgbClr val="FF3131"/>
                </a:solidFill>
                <a:latin typeface="Anonymous Pro"/>
                <a:ea typeface="Anonymous Pro"/>
                <a:cs typeface="Anonymous Pro"/>
                <a:sym typeface="Anonymous Pro"/>
              </a:rPr>
              <a:t>АРХІТЕКТУРА РІШЕННЯ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5237472"/>
            <a:ext cx="9685836" cy="427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3"/>
              </a:lnSpc>
            </a:pPr>
            <a:r>
              <a:rPr lang="en-US" sz="3492">
                <a:solidFill>
                  <a:srgbClr val="2B8266"/>
                </a:solidFill>
                <a:latin typeface="Anonymous Pro"/>
                <a:ea typeface="Anonymous Pro"/>
                <a:cs typeface="Anonymous Pro"/>
                <a:sym typeface="Anonymous Pro"/>
              </a:rPr>
              <a:t>ФРАГМЕНТ КОНФІГУРАЦІЇ PROMETHEUS.YML: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85836" y="1988519"/>
            <a:ext cx="7166993" cy="734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39"/>
              </a:lnSpc>
              <a:buAutoNum type="arabicPeriod" startAt="1"/>
            </a:pPr>
            <a:r>
              <a:rPr lang="en-US" sz="21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scrape_configs - це розділ у файлі prometheus.yml, де описуються джерела даних, з яких Prometheus буде збирати метрики.У Prometheus ці джерела називаються </a:t>
            </a:r>
            <a:r>
              <a:rPr lang="en-US" sz="2199" u="sng">
                <a:solidFill>
                  <a:srgbClr val="FF3131"/>
                </a:solidFill>
                <a:latin typeface="Anonymous Pro"/>
                <a:ea typeface="Anonymous Pro"/>
                <a:cs typeface="Anonymous Pro"/>
                <a:sym typeface="Anonymous Pro"/>
              </a:rPr>
              <a:t>jobs</a:t>
            </a:r>
            <a:r>
              <a:rPr lang="en-US" sz="21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.</a:t>
            </a:r>
          </a:p>
          <a:p>
            <a:pPr algn="l" marL="474979" indent="-237490" lvl="1">
              <a:lnSpc>
                <a:spcPts val="2639"/>
              </a:lnSpc>
              <a:buAutoNum type="arabicPeriod" startAt="1"/>
            </a:pPr>
            <a:r>
              <a:rPr lang="en-US" sz="21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job_name: "node" - дає ім’я цьому завданню моніторингу.Ім’я потрібне для того, щоб у самих метриках було зрозуміло, звідки вони.</a:t>
            </a:r>
          </a:p>
          <a:p>
            <a:pPr algn="l" marL="474979" indent="-237490" lvl="1">
              <a:lnSpc>
                <a:spcPts val="2639"/>
              </a:lnSpc>
              <a:buAutoNum type="arabicPeriod" startAt="1"/>
            </a:pPr>
            <a:r>
              <a:rPr lang="en-US" sz="21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static_configs - означає, що список цілей (хостів) задається статично.Альтернативно можна було б використовувати service discovery,  наприклад, автоматично підтягувати контейнери з Kubernetes.</a:t>
            </a:r>
          </a:p>
          <a:p>
            <a:pPr algn="l" marL="474979" indent="-237490" lvl="1">
              <a:lnSpc>
                <a:spcPts val="2639"/>
              </a:lnSpc>
              <a:buAutoNum type="arabicPeriod" startAt="1"/>
            </a:pPr>
            <a:r>
              <a:rPr lang="en-US" sz="21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targets: ["192.168.1.10:9100", "192.168.1.11:9100"] - це список серверів, з яких потрібно збирати метрики.Кожен сервер має працюючий Node Exporter, доступний на порту 9100.Prometheus періодично (за замовчуванням кожні 15 секунд) відправляє HTTP-запит до цих адрес і отримує метрики у вигляді тексту.</a:t>
            </a:r>
          </a:p>
          <a:p>
            <a:pPr algn="l">
              <a:lnSpc>
                <a:spcPts val="263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512756" y="1181100"/>
            <a:ext cx="9685836" cy="61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1"/>
              </a:lnSpc>
            </a:pPr>
            <a:r>
              <a:rPr lang="en-US" sz="5092">
                <a:solidFill>
                  <a:srgbClr val="FF3131"/>
                </a:solidFill>
                <a:latin typeface="Anonymous Pro"/>
                <a:ea typeface="Anonymous Pro"/>
                <a:cs typeface="Anonymous Pro"/>
                <a:sym typeface="Anonymous Pro"/>
              </a:rPr>
              <a:t>ПОЯСНЕННЯ ФРАГМЕНТУ: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903294"/>
            <a:ext cx="5719649" cy="2384718"/>
            <a:chOff x="0" y="0"/>
            <a:chExt cx="1506410" cy="6280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06410" cy="628074"/>
            </a:xfrm>
            <a:custGeom>
              <a:avLst/>
              <a:gdLst/>
              <a:ahLst/>
              <a:cxnLst/>
              <a:rect r="r" b="b" t="t" l="l"/>
              <a:pathLst>
                <a:path h="628074" w="1506410">
                  <a:moveTo>
                    <a:pt x="69032" y="0"/>
                  </a:moveTo>
                  <a:lnTo>
                    <a:pt x="1437378" y="0"/>
                  </a:lnTo>
                  <a:cubicBezTo>
                    <a:pt x="1455686" y="0"/>
                    <a:pt x="1473245" y="7273"/>
                    <a:pt x="1486191" y="20219"/>
                  </a:cubicBezTo>
                  <a:cubicBezTo>
                    <a:pt x="1499137" y="33165"/>
                    <a:pt x="1506410" y="50723"/>
                    <a:pt x="1506410" y="69032"/>
                  </a:cubicBezTo>
                  <a:lnTo>
                    <a:pt x="1506410" y="559042"/>
                  </a:lnTo>
                  <a:cubicBezTo>
                    <a:pt x="1506410" y="597167"/>
                    <a:pt x="1475503" y="628074"/>
                    <a:pt x="1437378" y="628074"/>
                  </a:cubicBezTo>
                  <a:lnTo>
                    <a:pt x="69032" y="628074"/>
                  </a:lnTo>
                  <a:cubicBezTo>
                    <a:pt x="50723" y="628074"/>
                    <a:pt x="33165" y="620801"/>
                    <a:pt x="20219" y="607855"/>
                  </a:cubicBezTo>
                  <a:cubicBezTo>
                    <a:pt x="7273" y="594909"/>
                    <a:pt x="0" y="577350"/>
                    <a:pt x="0" y="559042"/>
                  </a:cubicBezTo>
                  <a:lnTo>
                    <a:pt x="0" y="69032"/>
                  </a:lnTo>
                  <a:cubicBezTo>
                    <a:pt x="0" y="50723"/>
                    <a:pt x="7273" y="33165"/>
                    <a:pt x="20219" y="20219"/>
                  </a:cubicBezTo>
                  <a:cubicBezTo>
                    <a:pt x="33165" y="7273"/>
                    <a:pt x="50723" y="0"/>
                    <a:pt x="69032" y="0"/>
                  </a:cubicBezTo>
                  <a:close/>
                </a:path>
              </a:pathLst>
            </a:custGeom>
            <a:solidFill>
              <a:srgbClr val="2B82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506410" cy="675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46699" y="6142192"/>
            <a:ext cx="4631094" cy="1906921"/>
          </a:xfrm>
          <a:custGeom>
            <a:avLst/>
            <a:gdLst/>
            <a:ahLst/>
            <a:cxnLst/>
            <a:rect r="r" b="b" t="t" l="l"/>
            <a:pathLst>
              <a:path h="1906921" w="4631094">
                <a:moveTo>
                  <a:pt x="0" y="0"/>
                </a:moveTo>
                <a:lnTo>
                  <a:pt x="4631094" y="0"/>
                </a:lnTo>
                <a:lnTo>
                  <a:pt x="4631094" y="1906921"/>
                </a:lnTo>
                <a:lnTo>
                  <a:pt x="0" y="19069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805909" y="5906222"/>
            <a:ext cx="7875916" cy="2384718"/>
            <a:chOff x="0" y="0"/>
            <a:chExt cx="2074315" cy="6280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4315" cy="628074"/>
            </a:xfrm>
            <a:custGeom>
              <a:avLst/>
              <a:gdLst/>
              <a:ahLst/>
              <a:cxnLst/>
              <a:rect r="r" b="b" t="t" l="l"/>
              <a:pathLst>
                <a:path h="628074" w="2074315">
                  <a:moveTo>
                    <a:pt x="50132" y="0"/>
                  </a:moveTo>
                  <a:lnTo>
                    <a:pt x="2024183" y="0"/>
                  </a:lnTo>
                  <a:cubicBezTo>
                    <a:pt x="2051870" y="0"/>
                    <a:pt x="2074315" y="22445"/>
                    <a:pt x="2074315" y="50132"/>
                  </a:cubicBezTo>
                  <a:lnTo>
                    <a:pt x="2074315" y="577942"/>
                  </a:lnTo>
                  <a:cubicBezTo>
                    <a:pt x="2074315" y="605629"/>
                    <a:pt x="2051870" y="628074"/>
                    <a:pt x="2024183" y="628074"/>
                  </a:cubicBezTo>
                  <a:lnTo>
                    <a:pt x="50132" y="628074"/>
                  </a:lnTo>
                  <a:cubicBezTo>
                    <a:pt x="22445" y="628074"/>
                    <a:pt x="0" y="605629"/>
                    <a:pt x="0" y="577942"/>
                  </a:cubicBezTo>
                  <a:lnTo>
                    <a:pt x="0" y="50132"/>
                  </a:lnTo>
                  <a:cubicBezTo>
                    <a:pt x="0" y="22445"/>
                    <a:pt x="22445" y="0"/>
                    <a:pt x="50132" y="0"/>
                  </a:cubicBezTo>
                  <a:close/>
                </a:path>
              </a:pathLst>
            </a:custGeom>
            <a:solidFill>
              <a:srgbClr val="2B826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074315" cy="675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124455" y="6324303"/>
            <a:ext cx="7238823" cy="1542700"/>
          </a:xfrm>
          <a:custGeom>
            <a:avLst/>
            <a:gdLst/>
            <a:ahLst/>
            <a:cxnLst/>
            <a:rect r="r" b="b" t="t" l="l"/>
            <a:pathLst>
              <a:path h="1542700" w="7238823">
                <a:moveTo>
                  <a:pt x="0" y="0"/>
                </a:moveTo>
                <a:lnTo>
                  <a:pt x="7238823" y="0"/>
                </a:lnTo>
                <a:lnTo>
                  <a:pt x="7238823" y="1542700"/>
                </a:lnTo>
                <a:lnTo>
                  <a:pt x="0" y="154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862246" y="292950"/>
            <a:ext cx="11647181" cy="132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56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МОНІТОРИНГ КОНТЕЙНЕРІВ (DOCKER, KUBERNETES)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3541" y="1775301"/>
            <a:ext cx="1623819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sz="2599">
                <a:solidFill>
                  <a:srgbClr val="FF3131"/>
                </a:solidFill>
                <a:latin typeface="Anonymous Pro"/>
                <a:ea typeface="Anonymous Pro"/>
                <a:cs typeface="Anonymous Pro"/>
                <a:sym typeface="Anonymous Pro"/>
              </a:rPr>
              <a:t>Для</a:t>
            </a:r>
            <a:r>
              <a:rPr lang="en-US" sz="2599" u="none">
                <a:solidFill>
                  <a:srgbClr val="FF3131"/>
                </a:solidFill>
                <a:latin typeface="Anonymous Pro"/>
                <a:ea typeface="Anonymous Pro"/>
                <a:cs typeface="Anonymous Pro"/>
                <a:sym typeface="Anonymous Pro"/>
              </a:rPr>
              <a:t> моніторингу контейнеризовани</a:t>
            </a:r>
            <a:r>
              <a:rPr lang="en-US" sz="2599">
                <a:solidFill>
                  <a:srgbClr val="FF3131"/>
                </a:solidFill>
                <a:latin typeface="Anonymous Pro"/>
                <a:ea typeface="Anonymous Pro"/>
                <a:cs typeface="Anonymous Pro"/>
                <a:sym typeface="Anonymous Pro"/>
              </a:rPr>
              <a:t>х середовищ викори</a:t>
            </a:r>
            <a:r>
              <a:rPr lang="en-US" sz="2599" u="none">
                <a:solidFill>
                  <a:srgbClr val="FF3131"/>
                </a:solidFill>
                <a:latin typeface="Anonymous Pro"/>
                <a:ea typeface="Anonymous Pro"/>
                <a:cs typeface="Anonymous Pro"/>
                <a:sym typeface="Anonymous Pro"/>
              </a:rPr>
              <a:t>стовують</a:t>
            </a:r>
            <a:r>
              <a:rPr lang="en-US" sz="2599">
                <a:solidFill>
                  <a:srgbClr val="FF3131"/>
                </a:solidFill>
                <a:latin typeface="Anonymous Pro"/>
                <a:ea typeface="Anonymous Pro"/>
                <a:cs typeface="Anonymous Pro"/>
                <a:sym typeface="Anonymous Pro"/>
              </a:rPr>
              <a:t> спеціалізовані інструменти, які інтегруються з Prometheus і дозволяють відстежувати як стан окремих контейнерів, так і загальну роботу оркестратора.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5892" y="3420197"/>
            <a:ext cx="7995988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sz="2199">
                <a:solidFill>
                  <a:srgbClr val="2B8266"/>
                </a:solidFill>
                <a:latin typeface="Anonymous Pro"/>
                <a:ea typeface="Anonymous Pro"/>
                <a:cs typeface="Anonymous Pro"/>
                <a:sym typeface="Anonymous Pro"/>
              </a:rPr>
              <a:t>У випадку</a:t>
            </a:r>
            <a:r>
              <a:rPr lang="en-US" sz="2199" u="none">
                <a:solidFill>
                  <a:srgbClr val="2B8266"/>
                </a:solidFill>
                <a:latin typeface="Anonymous Pro"/>
                <a:ea typeface="Anonymous Pro"/>
                <a:cs typeface="Anonymous Pro"/>
                <a:sym typeface="Anonymous Pro"/>
              </a:rPr>
              <a:t> Docker основним рішенням є cAdvisor (Container Advisor) — сервіс від Google, який збирає метрики використання ресурсів кожним контейнером</a:t>
            </a:r>
            <a:r>
              <a:rPr lang="en-US" sz="2199">
                <a:solidFill>
                  <a:srgbClr val="2B8266"/>
                </a:solidFill>
                <a:latin typeface="Anonymous Pro"/>
                <a:ea typeface="Anonymous Pro"/>
                <a:cs typeface="Anonymous Pro"/>
                <a:sym typeface="Anonymous Pro"/>
              </a:rPr>
              <a:t>. </a:t>
            </a:r>
          </a:p>
          <a:p>
            <a:pPr algn="just">
              <a:lnSpc>
                <a:spcPts val="2639"/>
              </a:lnSpc>
            </a:pPr>
            <a:r>
              <a:rPr lang="en-US" sz="2199">
                <a:solidFill>
                  <a:srgbClr val="2B8266"/>
                </a:solidFill>
                <a:latin typeface="Anonymous Pro"/>
                <a:ea typeface="Anonymous Pro"/>
                <a:cs typeface="Anonymous Pro"/>
                <a:sym typeface="Anonymous Pro"/>
              </a:rPr>
              <a:t>cAdvisor запускається поруч із Docker Engine і відкриває HTTP-ендпоінт, який Prometheus може періодично опитувати.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85836" y="3420197"/>
            <a:ext cx="7995988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</a:pPr>
            <a:r>
              <a:rPr lang="en-US" sz="2199">
                <a:solidFill>
                  <a:srgbClr val="2B8266"/>
                </a:solidFill>
                <a:latin typeface="Anonymous Pro"/>
                <a:ea typeface="Anonymous Pro"/>
                <a:cs typeface="Anonymous Pro"/>
                <a:sym typeface="Anonymous Pro"/>
              </a:rPr>
              <a:t>Для</a:t>
            </a:r>
            <a:r>
              <a:rPr lang="en-US" sz="2199" u="none">
                <a:solidFill>
                  <a:srgbClr val="2B8266"/>
                </a:solidFill>
                <a:latin typeface="Anonymous Pro"/>
                <a:ea typeface="Anonymous Pro"/>
                <a:cs typeface="Anonymous Pro"/>
                <a:sym typeface="Anonymous Pro"/>
              </a:rPr>
              <a:t> Kubernetes поширеним рішенням є kube-state-metrics, який надає дані про стан об’єктів кластера: кількість і статус подів, деплойментів, сервісів, реплік. Цей сервіс</a:t>
            </a:r>
            <a:r>
              <a:rPr lang="en-US" sz="2199">
                <a:solidFill>
                  <a:srgbClr val="2B8266"/>
                </a:solidFill>
                <a:latin typeface="Anonymous Pro"/>
                <a:ea typeface="Anonymous Pro"/>
                <a:cs typeface="Anonymous Pro"/>
                <a:sym typeface="Anonymous Pro"/>
              </a:rPr>
              <a:t> працює як звичайний под усередині кластера та публікує метрики у форматі, зручному для збору Prometheus.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9058859" y="3424998"/>
            <a:ext cx="0" cy="543438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1380" y="1181215"/>
            <a:ext cx="9409533" cy="6985094"/>
          </a:xfrm>
          <a:custGeom>
            <a:avLst/>
            <a:gdLst/>
            <a:ahLst/>
            <a:cxnLst/>
            <a:rect r="r" b="b" t="t" l="l"/>
            <a:pathLst>
              <a:path h="6985094" w="9409533">
                <a:moveTo>
                  <a:pt x="0" y="0"/>
                </a:moveTo>
                <a:lnTo>
                  <a:pt x="9409533" y="0"/>
                </a:lnTo>
                <a:lnTo>
                  <a:pt x="9409533" y="6985094"/>
                </a:lnTo>
                <a:lnTo>
                  <a:pt x="0" y="69850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8716" y="245325"/>
            <a:ext cx="15130710" cy="526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7"/>
              </a:lnSpc>
            </a:pPr>
            <a:r>
              <a:rPr lang="en-US" sz="42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ПРИКЛАД DOCKER COMPOSE ДЛЯ М</a:t>
            </a:r>
            <a:r>
              <a:rPr lang="en-US" sz="42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ОНІТОРИНГУ КОНТЕЙНЕРІВ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49454" y="2434177"/>
            <a:ext cx="7237131" cy="430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Docker Compose задає</a:t>
            </a: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 три сервіси:   </a:t>
            </a:r>
          </a:p>
          <a:p>
            <a:pPr algn="just" marL="561337" indent="-280669" lvl="1">
              <a:lnSpc>
                <a:spcPts val="3119"/>
              </a:lnSpc>
              <a:buFont typeface="Arial"/>
              <a:buChar char="•"/>
            </a:pP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Prometheus з примонтованим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 конфігом;</a:t>
            </a:r>
          </a:p>
          <a:p>
            <a:pPr algn="just" marL="561337" indent="-280669" lvl="1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cAdvisor (що моні</a:t>
            </a: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торить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 Redis та хост); </a:t>
            </a:r>
          </a:p>
          <a:p>
            <a:pPr algn="just" marL="561337" indent="-280669" lvl="1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Redis. </a:t>
            </a:r>
          </a:p>
          <a:p>
            <a:pPr algn="just">
              <a:lnSpc>
                <a:spcPts val="3119"/>
              </a:lnSpc>
            </a:pP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Важливо, що Prometheus налаштований опитувати cAdvisor (</a:t>
            </a:r>
            <a:r>
              <a:rPr lang="en-US" sz="2599">
                <a:solidFill>
                  <a:srgbClr val="FF3131"/>
                </a:solidFill>
                <a:latin typeface="Anonymous Pro"/>
                <a:ea typeface="Anonymous Pro"/>
                <a:cs typeface="Anonymous Pro"/>
                <a:sym typeface="Anonymous Pro"/>
              </a:rPr>
              <a:t>якщо в prometheus.yml правильно вказано cadvisor:8080 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). </a:t>
            </a:r>
          </a:p>
          <a:p>
            <a:pPr algn="just">
              <a:lnSpc>
                <a:spcPts val="3119"/>
              </a:lnSpc>
            </a:pP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Таким чином система збирає метрики як самого хоста, так і контейнера Redis.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8716" y="2271219"/>
            <a:ext cx="7083976" cy="6312456"/>
            <a:chOff x="0" y="0"/>
            <a:chExt cx="1865739" cy="16625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5739" cy="1662540"/>
            </a:xfrm>
            <a:custGeom>
              <a:avLst/>
              <a:gdLst/>
              <a:ahLst/>
              <a:cxnLst/>
              <a:rect r="r" b="b" t="t" l="l"/>
              <a:pathLst>
                <a:path h="1662540" w="1865739">
                  <a:moveTo>
                    <a:pt x="55737" y="0"/>
                  </a:moveTo>
                  <a:lnTo>
                    <a:pt x="1810002" y="0"/>
                  </a:lnTo>
                  <a:cubicBezTo>
                    <a:pt x="1824784" y="0"/>
                    <a:pt x="1838961" y="5872"/>
                    <a:pt x="1849414" y="16325"/>
                  </a:cubicBezTo>
                  <a:cubicBezTo>
                    <a:pt x="1859866" y="26778"/>
                    <a:pt x="1865739" y="40954"/>
                    <a:pt x="1865739" y="55737"/>
                  </a:cubicBezTo>
                  <a:lnTo>
                    <a:pt x="1865739" y="1606803"/>
                  </a:lnTo>
                  <a:cubicBezTo>
                    <a:pt x="1865739" y="1637586"/>
                    <a:pt x="1840785" y="1662540"/>
                    <a:pt x="1810002" y="1662540"/>
                  </a:cubicBezTo>
                  <a:lnTo>
                    <a:pt x="55737" y="1662540"/>
                  </a:lnTo>
                  <a:cubicBezTo>
                    <a:pt x="24954" y="1662540"/>
                    <a:pt x="0" y="1637586"/>
                    <a:pt x="0" y="1606803"/>
                  </a:cubicBezTo>
                  <a:lnTo>
                    <a:pt x="0" y="55737"/>
                  </a:lnTo>
                  <a:cubicBezTo>
                    <a:pt x="0" y="24954"/>
                    <a:pt x="24954" y="0"/>
                    <a:pt x="55737" y="0"/>
                  </a:cubicBezTo>
                  <a:close/>
                </a:path>
              </a:pathLst>
            </a:custGeom>
            <a:solidFill>
              <a:srgbClr val="2B82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865739" cy="1710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72895" y="2860121"/>
            <a:ext cx="5370771" cy="1908296"/>
          </a:xfrm>
          <a:custGeom>
            <a:avLst/>
            <a:gdLst/>
            <a:ahLst/>
            <a:cxnLst/>
            <a:rect r="r" b="b" t="t" l="l"/>
            <a:pathLst>
              <a:path h="1908296" w="5370771">
                <a:moveTo>
                  <a:pt x="0" y="0"/>
                </a:moveTo>
                <a:lnTo>
                  <a:pt x="5370772" y="0"/>
                </a:lnTo>
                <a:lnTo>
                  <a:pt x="5370772" y="1908296"/>
                </a:lnTo>
                <a:lnTo>
                  <a:pt x="0" y="1908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416045" y="4229958"/>
            <a:ext cx="7093382" cy="913542"/>
          </a:xfrm>
          <a:custGeom>
            <a:avLst/>
            <a:gdLst/>
            <a:ahLst/>
            <a:cxnLst/>
            <a:rect r="r" b="b" t="t" l="l"/>
            <a:pathLst>
              <a:path h="913542" w="7093382">
                <a:moveTo>
                  <a:pt x="0" y="0"/>
                </a:moveTo>
                <a:lnTo>
                  <a:pt x="7093382" y="0"/>
                </a:lnTo>
                <a:lnTo>
                  <a:pt x="7093382" y="913542"/>
                </a:lnTo>
                <a:lnTo>
                  <a:pt x="0" y="9135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8716" y="245325"/>
            <a:ext cx="15130710" cy="526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7"/>
              </a:lnSpc>
            </a:pPr>
            <a:r>
              <a:rPr lang="en-US" sz="42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КОНФІГУРАЦІЯ PROMETHEUS ДЛЯ NODE EXPORTER</a:t>
            </a:r>
            <a:r>
              <a:rPr lang="en-US" sz="42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1968" y="1231814"/>
            <a:ext cx="17524065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Щоб Prometheus міг збира</a:t>
            </a: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ти метрики з N</a:t>
            </a: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ode Exporter, у його головному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 конфігу</a:t>
            </a: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р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аційному ф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айлі prometheus.yml додається окрема секція. Вона описує джерело даних, яке потрібно опитувати.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2372" y="5225617"/>
            <a:ext cx="6559129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У цьому прикладі створюється завдання з назвою node. </a:t>
            </a:r>
          </a:p>
          <a:p>
            <a:pPr algn="just">
              <a:lnSpc>
                <a:spcPts val="3119"/>
              </a:lnSpc>
            </a:pP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У блоці targets вказується адреса, за якою Prometheus шука</a:t>
            </a: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тиме N</a:t>
            </a: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ode Exporter. </a:t>
            </a:r>
          </a:p>
          <a:p>
            <a:pPr algn="just">
              <a:lnSpc>
                <a:spcPts val="3119"/>
              </a:lnSpc>
            </a:pP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Я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кщо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 P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rometheus і Node Exporter працюють на одній машині, використовується localhost:9100.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16045" y="3148155"/>
            <a:ext cx="8440157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ЯКЩО Ж ІНФРАСТРУКТУРА РОЗПОДІЛЕНА, ТО ТУТ ПОТРІБНО ВКАЗАТИ IP-АДРЕСУ АБО DNS-ІМ’Я СЕРВЕРА, НАПРИКЛАД: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16045" y="5417923"/>
            <a:ext cx="8125548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Таким чином, навіть мінімальна конфігурація дозволяє вже з перших хвилин отрима</a:t>
            </a: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ти повний набір базових метрик апаратн</a:t>
            </a: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ого забезпечен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ня. Д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алі ці дані можна візу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алізувати у Grafana, налаштовувати алерти або розширювати моніторинг за допомогою інших експортерів.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296481"/>
            <a:ext cx="7457134" cy="5642565"/>
          </a:xfrm>
          <a:custGeom>
            <a:avLst/>
            <a:gdLst/>
            <a:ahLst/>
            <a:cxnLst/>
            <a:rect r="r" b="b" t="t" l="l"/>
            <a:pathLst>
              <a:path h="5642565" w="7457134">
                <a:moveTo>
                  <a:pt x="0" y="0"/>
                </a:moveTo>
                <a:lnTo>
                  <a:pt x="7457134" y="0"/>
                </a:lnTo>
                <a:lnTo>
                  <a:pt x="7457134" y="5642565"/>
                </a:lnTo>
                <a:lnTo>
                  <a:pt x="0" y="5642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22055" y="502274"/>
            <a:ext cx="15130710" cy="526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7"/>
              </a:lnSpc>
            </a:pPr>
            <a:r>
              <a:rPr lang="en-US" sz="42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ДАШБОРД GRAFANA ДЛЯ NODE EXPORTER</a:t>
            </a:r>
            <a:r>
              <a:rPr lang="en-US" sz="42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4625" y="1236541"/>
            <a:ext cx="16518751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Node Exporter збирає</a:t>
            </a: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 метрики про стан</a:t>
            </a: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 системи, а Grafana дозволяє їх візуалізувати у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 вигляді інте</a:t>
            </a:r>
            <a:r>
              <a:rPr lang="en-US" sz="2599" u="none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р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активних дашбордів. Зазвич</a:t>
            </a:r>
            <a:r>
              <a:rPr lang="en-US" sz="2599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ай такі дашборди складаються з кількох груп показників, що відображають стан апаратного забезпечення.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44399" y="2570041"/>
            <a:ext cx="5025736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3131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ОСНОВНІ ЕЛЕМЕНТИ ДАШБОРДУ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72822" y="3622114"/>
            <a:ext cx="4623738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3131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ЯК</a:t>
            </a:r>
            <a:r>
              <a:rPr lang="en-US" b="true" sz="2899">
                <a:solidFill>
                  <a:srgbClr val="FF3131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 ВИГЛЯДАЄ НА ПРАКТИЦІ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4853737"/>
            <a:ext cx="8481381" cy="199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НА ГРАФІКАХ ВИДНО ЗМІНИ ПОКАЗНИКІВ У ЧАСІ (НАПРИКЛАД, CPU ПІД НАВАНТАЖЕННЯМ).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ПАНЕЛІ МОЖНА НАЛАШТОВУВАТИ ПІД ВЛАСНІ ПОТРЕБИ: ДОДАВАТИ ФІЛЬТРИ, ЗМІНЮВАТИ ДІАПАЗОН ЧАСУ, СТАВИТИ АЛЕРТИ.</a:t>
            </a:r>
          </a:p>
          <a:p>
            <a:pPr algn="l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Є ГОТОВІ ДАШБОРДИ ДЛЯ NODE EXPORTER У КАТАЛОЗІ GRAFANA, ЯКІ МОЖНА ІМПОРТУВАТИ ЗА КІЛЬКА ХВИЛИН.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46952" y="1246066"/>
            <a:ext cx="6312456" cy="3086100"/>
            <a:chOff x="0" y="0"/>
            <a:chExt cx="166254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62540" cy="812800"/>
            </a:xfrm>
            <a:custGeom>
              <a:avLst/>
              <a:gdLst/>
              <a:ahLst/>
              <a:cxnLst/>
              <a:rect r="r" b="b" t="t" l="l"/>
              <a:pathLst>
                <a:path h="812800" w="1662540">
                  <a:moveTo>
                    <a:pt x="62549" y="0"/>
                  </a:moveTo>
                  <a:lnTo>
                    <a:pt x="1599991" y="0"/>
                  </a:lnTo>
                  <a:cubicBezTo>
                    <a:pt x="1634536" y="0"/>
                    <a:pt x="1662540" y="28004"/>
                    <a:pt x="1662540" y="62549"/>
                  </a:cubicBezTo>
                  <a:lnTo>
                    <a:pt x="1662540" y="750251"/>
                  </a:lnTo>
                  <a:cubicBezTo>
                    <a:pt x="1662540" y="784796"/>
                    <a:pt x="1634536" y="812800"/>
                    <a:pt x="1599991" y="812800"/>
                  </a:cubicBezTo>
                  <a:lnTo>
                    <a:pt x="62549" y="812800"/>
                  </a:lnTo>
                  <a:cubicBezTo>
                    <a:pt x="28004" y="812800"/>
                    <a:pt x="0" y="784796"/>
                    <a:pt x="0" y="750251"/>
                  </a:cubicBezTo>
                  <a:lnTo>
                    <a:pt x="0" y="62549"/>
                  </a:lnTo>
                  <a:cubicBezTo>
                    <a:pt x="0" y="28004"/>
                    <a:pt x="28004" y="0"/>
                    <a:pt x="62549" y="0"/>
                  </a:cubicBezTo>
                  <a:close/>
                </a:path>
              </a:pathLst>
            </a:custGeom>
            <a:solidFill>
              <a:srgbClr val="2B82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66254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19336" y="500565"/>
            <a:ext cx="15130710" cy="526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7"/>
              </a:lnSpc>
            </a:pPr>
            <a:r>
              <a:rPr lang="en-US" sz="42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СПОВІЩЕННЯ (ALERTING)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6145" y="1456886"/>
            <a:ext cx="5553815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b="true" sz="2599">
                <a:solidFill>
                  <a:srgbClr val="2B3F33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Сповіщення</a:t>
            </a:r>
            <a:r>
              <a:rPr lang="en-US" sz="2599">
                <a:solidFill>
                  <a:srgbClr val="2B3F33"/>
                </a:solidFill>
                <a:latin typeface="Anonymous Pro"/>
                <a:ea typeface="Anonymous Pro"/>
                <a:cs typeface="Anonymous Pro"/>
                <a:sym typeface="Anonymous Pro"/>
              </a:rPr>
              <a:t> — це механізм, який повідомляє адміністратора</a:t>
            </a:r>
            <a:r>
              <a:rPr lang="en-US" sz="2599" u="none">
                <a:solidFill>
                  <a:srgbClr val="2B3F33"/>
                </a:solidFill>
                <a:latin typeface="Anonymous Pro"/>
                <a:ea typeface="Anonymous Pro"/>
                <a:cs typeface="Anonymous Pro"/>
                <a:sym typeface="Anonymous Pro"/>
              </a:rPr>
              <a:t> або команду підтримки про критичні відхилення у роботі</a:t>
            </a:r>
            <a:r>
              <a:rPr lang="en-US" sz="2599" u="none">
                <a:solidFill>
                  <a:srgbClr val="2B3F33"/>
                </a:solidFill>
                <a:latin typeface="Anonymous Pro"/>
                <a:ea typeface="Anonymous Pro"/>
                <a:cs typeface="Anonymous Pro"/>
                <a:sym typeface="Anonymous Pro"/>
              </a:rPr>
              <a:t> системи. Вони дозволяють реагувати на</a:t>
            </a:r>
            <a:r>
              <a:rPr lang="en-US" sz="2599">
                <a:solidFill>
                  <a:srgbClr val="2B3F33"/>
                </a:solidFill>
                <a:latin typeface="Anonymous Pro"/>
                <a:ea typeface="Anonymous Pro"/>
                <a:cs typeface="Anonymous Pro"/>
                <a:sym typeface="Anonymous Pro"/>
              </a:rPr>
              <a:t> проблеми ще</a:t>
            </a:r>
            <a:r>
              <a:rPr lang="en-US" sz="2599">
                <a:solidFill>
                  <a:srgbClr val="2B3F33"/>
                </a:solidFill>
                <a:latin typeface="Anonymous Pro"/>
                <a:ea typeface="Anonymous Pro"/>
                <a:cs typeface="Anonymous Pro"/>
                <a:sym typeface="Anonymous Pro"/>
              </a:rPr>
              <a:t> до</a:t>
            </a:r>
            <a:r>
              <a:rPr lang="en-US" sz="2599">
                <a:solidFill>
                  <a:srgbClr val="2B3F33"/>
                </a:solidFill>
                <a:latin typeface="Anonymous Pro"/>
                <a:ea typeface="Anonymous Pro"/>
                <a:cs typeface="Anonymous Pro"/>
                <a:sym typeface="Anonymous Pro"/>
              </a:rPr>
              <a:t> того, як вони вплинуть на користувачів.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1272" y="1179391"/>
            <a:ext cx="6646286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 spc="51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ОСНО</a:t>
            </a:r>
            <a:r>
              <a:rPr lang="en-US" b="true" sz="2899" spc="51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ВНІ ПРИНЦИПИ ALERTING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1896306"/>
            <a:ext cx="8663274" cy="586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7" indent="-280669" lvl="1">
              <a:lnSpc>
                <a:spcPts val="3119"/>
              </a:lnSpc>
              <a:buAutoNum type="arabicPeriod" startAt="1"/>
            </a:pPr>
            <a:r>
              <a:rPr lang="en-US" sz="259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Пороги (Thresholds) - задаються правила, коли спрацьовує тривога (наприклад, CPU &gt; 90% протягом 5 хвилин).</a:t>
            </a:r>
          </a:p>
          <a:p>
            <a:pPr algn="just" marL="561337" indent="-280669" lvl="1">
              <a:lnSpc>
                <a:spcPts val="3119"/>
              </a:lnSpc>
              <a:buAutoNum type="arabicPeriod" startAt="1"/>
            </a:pPr>
            <a:r>
              <a:rPr lang="en-US" sz="259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Контекст - сповіщення мають містити інформацію</a:t>
            </a:r>
            <a:r>
              <a:rPr lang="en-US" sz="2599" u="none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про що саме йде мова: який сервер, який показник, що вийшло за межі норми.</a:t>
            </a:r>
          </a:p>
          <a:p>
            <a:pPr algn="just" marL="561337" indent="-280669" lvl="1">
              <a:lnSpc>
                <a:spcPts val="3119"/>
              </a:lnSpc>
              <a:buAutoNum type="arabicPeriod" startAt="1"/>
            </a:pPr>
            <a:r>
              <a:rPr lang="en-US" sz="2599" u="none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Пріоритетність - дрібні відхилення не повинні створювати “шум”, важливо відрізняти попередження (Warning) від критичних</a:t>
            </a:r>
            <a:r>
              <a:rPr lang="en-US" sz="259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подій (Critical).</a:t>
            </a:r>
          </a:p>
          <a:p>
            <a:pPr algn="just" marL="561337" indent="-280669" lvl="1">
              <a:lnSpc>
                <a:spcPts val="3119"/>
              </a:lnSpc>
              <a:buAutoNum type="arabicPeriod" startAt="1"/>
            </a:pPr>
            <a:r>
              <a:rPr lang="en-US" sz="259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Автоматизація реакцій</a:t>
            </a:r>
            <a:r>
              <a:rPr lang="en-US" sz="259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- у складних системах сповіщення можуть запускати автоматичні скрипти для виправлення проблем.</a:t>
            </a:r>
          </a:p>
          <a:p>
            <a:pPr algn="just">
              <a:lnSpc>
                <a:spcPts val="311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60422" y="4547749"/>
            <a:ext cx="5582841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 spc="51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ІН</a:t>
            </a:r>
            <a:r>
              <a:rPr lang="en-US" b="true" sz="2899" spc="51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СТРУМЕНТИ СПО</a:t>
            </a:r>
            <a:r>
              <a:rPr lang="en-US" b="true" sz="2899" spc="51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ВІЩЕНЬ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6024" y="5133975"/>
            <a:ext cx="7717701" cy="353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0068" indent="-250034" lvl="1">
              <a:lnSpc>
                <a:spcPts val="2779"/>
              </a:lnSpc>
              <a:buAutoNum type="arabicPeriod" startAt="1"/>
            </a:pPr>
            <a:r>
              <a:rPr lang="en-US" b="true" sz="2316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Prometheus Alertmanager</a:t>
            </a:r>
            <a:r>
              <a:rPr lang="en-US" sz="231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– компонент, що обробляє алерти, групує їх і надсилає у Slack, Email, PagerDuty тощо.</a:t>
            </a:r>
          </a:p>
          <a:p>
            <a:pPr algn="just" marL="500068" indent="-250034" lvl="1">
              <a:lnSpc>
                <a:spcPts val="2779"/>
              </a:lnSpc>
              <a:buAutoNum type="arabicPeriod" startAt="1"/>
            </a:pPr>
            <a:r>
              <a:rPr lang="en-US" b="true" sz="2316">
                <a:solidFill>
                  <a:srgbClr val="FF3131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Grafana</a:t>
            </a:r>
            <a:r>
              <a:rPr lang="en-US" b="true" sz="2316" u="none">
                <a:solidFill>
                  <a:srgbClr val="FF3131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 Alerting</a:t>
            </a:r>
            <a:r>
              <a:rPr lang="en-US" sz="2316" u="none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– дозволяє ставити правила прямо на графіках (наприклад, сигнал при падінні траф</a:t>
            </a:r>
            <a:r>
              <a:rPr lang="en-US" sz="231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іку).</a:t>
            </a:r>
          </a:p>
          <a:p>
            <a:pPr algn="just" marL="500068" indent="-250034" lvl="1">
              <a:lnSpc>
                <a:spcPts val="2779"/>
              </a:lnSpc>
              <a:buAutoNum type="arabicPeriod" startAt="1"/>
            </a:pPr>
            <a:r>
              <a:rPr lang="en-US" b="true" sz="2316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Інтеграції</a:t>
            </a:r>
            <a:r>
              <a:rPr lang="en-US" sz="231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– можна налаштувати сповіщення у популярні системи комунікацій: Slack, Microsoft Teams, Opsgenie.</a:t>
            </a:r>
          </a:p>
          <a:p>
            <a:pPr algn="just">
              <a:lnSpc>
                <a:spcPts val="277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05439" y="360289"/>
            <a:ext cx="15130710" cy="526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7"/>
              </a:lnSpc>
            </a:pPr>
            <a:r>
              <a:rPr lang="en-US" sz="42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ЛОГУВАННЯ JENKINS – ОСНОВНІ ПОНЯТТЯ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972366" y="1715013"/>
            <a:ext cx="6114617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 spc="51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ОСНО</a:t>
            </a:r>
            <a:r>
              <a:rPr lang="en-US" b="true" sz="2899" spc="510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ВНІ РІВНІ ЛОГУВАННЯ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491205"/>
            <a:ext cx="8663274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9"/>
              </a:lnSpc>
            </a:pPr>
            <a:r>
              <a:rPr lang="en-US" sz="25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Логування в Jenkins забезпечує відстеження всіх процесів, що відбуваються у системі:</a:t>
            </a:r>
            <a:r>
              <a:rPr lang="en-US" sz="2599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від старту сервера до виконання пайплайнів. Логи є основним інструментом для</a:t>
            </a:r>
            <a:r>
              <a:rPr lang="en-US" sz="25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діагностик</a:t>
            </a:r>
            <a:r>
              <a:rPr lang="en-US" sz="25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и проблем і аналізу роботи.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06311" y="2477135"/>
            <a:ext cx="6952989" cy="266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SYSTEM LOG – ЗАГАЛЬНІ СИСТЕМНІ ПОВІДОМЛЕННЯ JENKINS: ЗАПУСК, ПЛАГІНИ, ПОМИЛКИ JVM.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BUILD LOGS – ЖУРНАЛИ ВИКОНАННЯ КОНКРЕТНИХ JOB АБО PIPELINE (ВИВІД КОМАНД, ПОМИЛКИ, СТАТУСИ).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NODE LOGS – ІНФОРМАЦІЯ ВІД АГЕНТІВ (SLAVE/WORKER), ЯКІ ВИКОНУЮТЬ ЗАВДАННЯ.</a:t>
            </a:r>
          </a:p>
          <a:p>
            <a:pPr algn="just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PLUGIN LOGS – ОКРЕМІ МОДУЛІ JENKINS МОЖУТЬ МАТИ ВЛАСНІ ЛОГИ.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32132" y="4000695"/>
            <a:ext cx="5582841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 spc="510">
                <a:solidFill>
                  <a:srgbClr val="5CE1E6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ДЕ</a:t>
            </a:r>
            <a:r>
              <a:rPr lang="en-US" b="true" sz="2899" spc="510">
                <a:solidFill>
                  <a:srgbClr val="5CE1E6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 ЗБЕРІГАЮТЬСЯ ЛОГИ?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9592" y="5086350"/>
            <a:ext cx="8267920" cy="283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9"/>
              </a:lnSpc>
              <a:spcBef>
                <a:spcPct val="0"/>
              </a:spcBef>
            </a:pPr>
            <a:r>
              <a:rPr lang="en-US" sz="2307">
                <a:solidFill>
                  <a:srgbClr val="0097B2"/>
                </a:solidFill>
                <a:latin typeface="Anonymous Pro"/>
                <a:ea typeface="Anonymous Pro"/>
                <a:cs typeface="Anonymous Pro"/>
                <a:sym typeface="Anonymous Pro"/>
              </a:rPr>
              <a:t>ЧЕРЕЗ ВЕБ-ІНТЕРФЕЙС:</a:t>
            </a:r>
          </a:p>
          <a:p>
            <a:pPr algn="just">
              <a:lnSpc>
                <a:spcPts val="3229"/>
              </a:lnSpc>
              <a:spcBef>
                <a:spcPct val="0"/>
              </a:spcBef>
            </a:pPr>
            <a:r>
              <a:rPr lang="en-US" sz="2307">
                <a:solidFill>
                  <a:srgbClr val="0097B2"/>
                </a:solidFill>
                <a:latin typeface="Anonymous Pro"/>
                <a:ea typeface="Anonymous Pro"/>
                <a:cs typeface="Anonymous Pro"/>
                <a:sym typeface="Anonymous Pro"/>
              </a:rPr>
              <a:t>- У РОЗДІЛІ “MANAGE JENKINS → SYSTEM LOG” ТА БЕЗПОСЕРЕДНЬО В КОЖНОМУ JOB.</a:t>
            </a:r>
          </a:p>
          <a:p>
            <a:pPr algn="just">
              <a:lnSpc>
                <a:spcPts val="3229"/>
              </a:lnSpc>
              <a:spcBef>
                <a:spcPct val="0"/>
              </a:spcBef>
            </a:pPr>
            <a:r>
              <a:rPr lang="en-US" sz="2307">
                <a:solidFill>
                  <a:srgbClr val="0097B2"/>
                </a:solidFill>
                <a:latin typeface="Anonymous Pro"/>
                <a:ea typeface="Anonymous Pro"/>
                <a:cs typeface="Anonymous Pro"/>
                <a:sym typeface="Anonymous Pro"/>
              </a:rPr>
              <a:t>НА ФАЙЛОВІЙ СИСТЕМІ: </a:t>
            </a:r>
          </a:p>
          <a:p>
            <a:pPr algn="just">
              <a:lnSpc>
                <a:spcPts val="3229"/>
              </a:lnSpc>
              <a:spcBef>
                <a:spcPct val="0"/>
              </a:spcBef>
            </a:pPr>
            <a:r>
              <a:rPr lang="en-US" sz="2307">
                <a:solidFill>
                  <a:srgbClr val="0097B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– ЗА ЗАМОВЧУВАННЯМ JENKINS ПИШЕ ЛОГИ У JENKINS.LOG </a:t>
            </a:r>
          </a:p>
          <a:p>
            <a:pPr algn="just">
              <a:lnSpc>
                <a:spcPts val="3229"/>
              </a:lnSpc>
              <a:spcBef>
                <a:spcPct val="0"/>
              </a:spcBef>
            </a:pPr>
            <a:r>
              <a:rPr lang="en-US" sz="2307">
                <a:solidFill>
                  <a:srgbClr val="0097B2"/>
                </a:solidFill>
                <a:latin typeface="Anonymous Pro"/>
                <a:ea typeface="Anonymous Pro"/>
                <a:cs typeface="Anonymous Pro"/>
                <a:sym typeface="Anonymous Pro"/>
              </a:rPr>
              <a:t>У ЗОВНІШНІХ СИСТЕМАХ ЛОГУВАННЯ:</a:t>
            </a:r>
          </a:p>
          <a:p>
            <a:pPr algn="just">
              <a:lnSpc>
                <a:spcPts val="3229"/>
              </a:lnSpc>
              <a:spcBef>
                <a:spcPct val="0"/>
              </a:spcBef>
            </a:pPr>
            <a:r>
              <a:rPr lang="en-US" sz="2307">
                <a:solidFill>
                  <a:srgbClr val="0097B2"/>
                </a:solidFill>
                <a:latin typeface="Anonymous Pro"/>
                <a:ea typeface="Anonymous Pro"/>
                <a:cs typeface="Anonymous Pro"/>
                <a:sym typeface="Anonymous Pro"/>
              </a:rPr>
              <a:t>- МОЖЛИВЕ ІНТЕГРУВАННЯ З ELK, SPLUNK, GRAFANA LOKI.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276" y="2754606"/>
            <a:ext cx="8642225" cy="7037218"/>
            <a:chOff x="0" y="0"/>
            <a:chExt cx="2276142" cy="18534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76142" cy="1853423"/>
            </a:xfrm>
            <a:custGeom>
              <a:avLst/>
              <a:gdLst/>
              <a:ahLst/>
              <a:cxnLst/>
              <a:rect r="r" b="b" t="t" l="l"/>
              <a:pathLst>
                <a:path h="1853423" w="2276142">
                  <a:moveTo>
                    <a:pt x="45687" y="0"/>
                  </a:moveTo>
                  <a:lnTo>
                    <a:pt x="2230455" y="0"/>
                  </a:lnTo>
                  <a:cubicBezTo>
                    <a:pt x="2255687" y="0"/>
                    <a:pt x="2276142" y="20455"/>
                    <a:pt x="2276142" y="45687"/>
                  </a:cubicBezTo>
                  <a:lnTo>
                    <a:pt x="2276142" y="1807736"/>
                  </a:lnTo>
                  <a:cubicBezTo>
                    <a:pt x="2276142" y="1819853"/>
                    <a:pt x="2271328" y="1831474"/>
                    <a:pt x="2262760" y="1840042"/>
                  </a:cubicBezTo>
                  <a:cubicBezTo>
                    <a:pt x="2254192" y="1848610"/>
                    <a:pt x="2242572" y="1853423"/>
                    <a:pt x="2230455" y="1853423"/>
                  </a:cubicBezTo>
                  <a:lnTo>
                    <a:pt x="45687" y="1853423"/>
                  </a:lnTo>
                  <a:cubicBezTo>
                    <a:pt x="33570" y="1853423"/>
                    <a:pt x="21949" y="1848610"/>
                    <a:pt x="13381" y="1840042"/>
                  </a:cubicBezTo>
                  <a:cubicBezTo>
                    <a:pt x="4813" y="1831474"/>
                    <a:pt x="0" y="1819853"/>
                    <a:pt x="0" y="1807736"/>
                  </a:cubicBezTo>
                  <a:lnTo>
                    <a:pt x="0" y="45687"/>
                  </a:lnTo>
                  <a:cubicBezTo>
                    <a:pt x="0" y="33570"/>
                    <a:pt x="4813" y="21949"/>
                    <a:pt x="13381" y="13381"/>
                  </a:cubicBezTo>
                  <a:cubicBezTo>
                    <a:pt x="21949" y="4813"/>
                    <a:pt x="33570" y="0"/>
                    <a:pt x="45687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276142" cy="1901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3715584"/>
            <a:ext cx="8814108" cy="4721321"/>
          </a:xfrm>
          <a:custGeom>
            <a:avLst/>
            <a:gdLst/>
            <a:ahLst/>
            <a:cxnLst/>
            <a:rect r="r" b="b" t="t" l="l"/>
            <a:pathLst>
              <a:path h="4721321" w="8814108">
                <a:moveTo>
                  <a:pt x="0" y="0"/>
                </a:moveTo>
                <a:lnTo>
                  <a:pt x="8814108" y="0"/>
                </a:lnTo>
                <a:lnTo>
                  <a:pt x="8814108" y="4721321"/>
                </a:lnTo>
                <a:lnTo>
                  <a:pt x="0" y="47213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8668" y="364704"/>
            <a:ext cx="15130710" cy="526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7"/>
              </a:lnSpc>
            </a:pPr>
            <a:r>
              <a:rPr lang="en-US" sz="42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МОНІТОРИНГ ЛОГІВ JENKINS З ELK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8668" y="1113790"/>
            <a:ext cx="16442265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b="true" sz="2199" spc="387">
                <a:solidFill>
                  <a:srgbClr val="FF3131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ІНТЕГРАЦІЯ JENKINS З ELK-СТЕКОМ (ELASTICSEARCH, LOGSTASH, KIBANA) ДОЗВОЛЯЄ ЦЕНТРАЛІЗУВАТИ ЛОГУ</a:t>
            </a:r>
            <a:r>
              <a:rPr lang="en-US" b="true" sz="2199" spc="387">
                <a:solidFill>
                  <a:srgbClr val="FF3131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ВАННЯ, РОБИТИ ПОШУК ПО ВСІХ ЛОГАХ ТА БУДУВАТИ ЗРУЧНІ ДАШБОРДИ.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14252" y="2033575"/>
            <a:ext cx="3456060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 spc="510">
                <a:solidFill>
                  <a:srgbClr val="5CE1E6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ЯК</a:t>
            </a:r>
            <a:r>
              <a:rPr lang="en-US" b="true" sz="2899" spc="510">
                <a:solidFill>
                  <a:srgbClr val="5CE1E6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 ЦЕ ПРАЦЮЄ?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8668" y="2973681"/>
            <a:ext cx="8267920" cy="7045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9"/>
              </a:lnSpc>
              <a:spcBef>
                <a:spcPct val="0"/>
              </a:spcBef>
            </a:pPr>
            <a:r>
              <a:rPr lang="en-US" sz="2007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1) ЗБІ</a:t>
            </a:r>
            <a:r>
              <a:rPr lang="en-US" sz="2007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Р ЛОГІВ</a:t>
            </a:r>
          </a:p>
          <a:p>
            <a:pPr algn="just">
              <a:lnSpc>
                <a:spcPts val="2809"/>
              </a:lnSpc>
              <a:spcBef>
                <a:spcPct val="0"/>
              </a:spcBef>
            </a:pPr>
          </a:p>
          <a:p>
            <a:pPr algn="just" marL="433326" indent="-216663" lvl="1">
              <a:lnSpc>
                <a:spcPts val="2809"/>
              </a:lnSpc>
              <a:spcBef>
                <a:spcPct val="0"/>
              </a:spcBef>
              <a:buFont typeface="Arial"/>
              <a:buChar char="•"/>
            </a:pPr>
            <a:r>
              <a:rPr lang="en-US" sz="2007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JENKINS ГЕНЕРУЄ СИСТЕМНІ ТА BUILD-ЛОГИ.</a:t>
            </a:r>
          </a:p>
          <a:p>
            <a:pPr algn="just" marL="433326" indent="-216663" lvl="1">
              <a:lnSpc>
                <a:spcPts val="2809"/>
              </a:lnSpc>
              <a:spcBef>
                <a:spcPct val="0"/>
              </a:spcBef>
              <a:buFont typeface="Arial"/>
              <a:buChar char="•"/>
            </a:pPr>
            <a:r>
              <a:rPr lang="en-US" sz="2007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ВОНИ ЗЧИТУЮТЬСЯ АГЕНТОМ (НАПРИКЛАД, FILEBEAT АБО LOGSTASH INPUT).</a:t>
            </a:r>
          </a:p>
          <a:p>
            <a:pPr algn="just">
              <a:lnSpc>
                <a:spcPts val="2809"/>
              </a:lnSpc>
              <a:spcBef>
                <a:spcPct val="0"/>
              </a:spcBef>
            </a:pPr>
          </a:p>
          <a:p>
            <a:pPr algn="just">
              <a:lnSpc>
                <a:spcPts val="2809"/>
              </a:lnSpc>
              <a:spcBef>
                <a:spcPct val="0"/>
              </a:spcBef>
            </a:pPr>
            <a:r>
              <a:rPr lang="en-US" sz="2007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2) </a:t>
            </a:r>
            <a:r>
              <a:rPr lang="en-US" sz="2007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ОБРОБКА</a:t>
            </a:r>
          </a:p>
          <a:p>
            <a:pPr algn="just">
              <a:lnSpc>
                <a:spcPts val="2809"/>
              </a:lnSpc>
              <a:spcBef>
                <a:spcPct val="0"/>
              </a:spcBef>
            </a:pPr>
          </a:p>
          <a:p>
            <a:pPr algn="just" marL="433326" indent="-216663" lvl="1">
              <a:lnSpc>
                <a:spcPts val="2809"/>
              </a:lnSpc>
              <a:spcBef>
                <a:spcPct val="0"/>
              </a:spcBef>
              <a:buFont typeface="Arial"/>
              <a:buChar char="•"/>
            </a:pPr>
            <a:r>
              <a:rPr lang="en-US" sz="2007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LOGSTASH ПАРСИТЬ ЛОГИ, РОЗБИВАЄ ЇХ НА ПОЛЯ (ЧАС, ДЖЕРЕЛО, РІВЕНЬ ПОМИЛКИ, ПОВІДОМЛЕННЯ).</a:t>
            </a:r>
          </a:p>
          <a:p>
            <a:pPr algn="just">
              <a:lnSpc>
                <a:spcPts val="2809"/>
              </a:lnSpc>
              <a:spcBef>
                <a:spcPct val="0"/>
              </a:spcBef>
            </a:pPr>
          </a:p>
          <a:p>
            <a:pPr algn="just">
              <a:lnSpc>
                <a:spcPts val="2809"/>
              </a:lnSpc>
              <a:spcBef>
                <a:spcPct val="0"/>
              </a:spcBef>
            </a:pPr>
            <a:r>
              <a:rPr lang="en-US" sz="2007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3) </a:t>
            </a:r>
            <a:r>
              <a:rPr lang="en-US" sz="2007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ЗБЕРЕЖЕННЯ</a:t>
            </a:r>
          </a:p>
          <a:p>
            <a:pPr algn="just">
              <a:lnSpc>
                <a:spcPts val="2809"/>
              </a:lnSpc>
              <a:spcBef>
                <a:spcPct val="0"/>
              </a:spcBef>
            </a:pPr>
          </a:p>
          <a:p>
            <a:pPr algn="just" marL="433326" indent="-216663" lvl="1">
              <a:lnSpc>
                <a:spcPts val="2809"/>
              </a:lnSpc>
              <a:spcBef>
                <a:spcPct val="0"/>
              </a:spcBef>
              <a:buFont typeface="Arial"/>
              <a:buChar char="•"/>
            </a:pPr>
            <a:r>
              <a:rPr lang="en-US" sz="2007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ELASTICSEARCH ІНДЕКСУЄ ЛОГИ, РОБЛЯЧИ ЇХ ДОСТУПНИМИ ДЛЯ ШВИДКОГО ПОШУКУ.</a:t>
            </a:r>
          </a:p>
          <a:p>
            <a:pPr algn="just">
              <a:lnSpc>
                <a:spcPts val="2809"/>
              </a:lnSpc>
              <a:spcBef>
                <a:spcPct val="0"/>
              </a:spcBef>
            </a:pPr>
          </a:p>
          <a:p>
            <a:pPr algn="just">
              <a:lnSpc>
                <a:spcPts val="2809"/>
              </a:lnSpc>
              <a:spcBef>
                <a:spcPct val="0"/>
              </a:spcBef>
            </a:pPr>
            <a:r>
              <a:rPr lang="en-US" sz="2007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4) </a:t>
            </a:r>
            <a:r>
              <a:rPr lang="en-US" sz="2007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ВІЗУАЛІЗАЦІЯ</a:t>
            </a:r>
          </a:p>
          <a:p>
            <a:pPr algn="just" marL="433326" indent="-216663" lvl="1">
              <a:lnSpc>
                <a:spcPts val="2809"/>
              </a:lnSpc>
              <a:spcBef>
                <a:spcPct val="0"/>
              </a:spcBef>
              <a:buFont typeface="Arial"/>
              <a:buChar char="•"/>
            </a:pPr>
            <a:r>
              <a:rPr lang="en-US" sz="2007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KIBANA БУДУЄ ДАШБОРДИ: ГРАФІКИ ПОМИЛОК, СТАТИСТИКУ ЗАПУСКІВ, ФІЛЬТРИ ПО JOB ЧИ АГЕНТУ.</a:t>
            </a:r>
          </a:p>
          <a:p>
            <a:pPr algn="just">
              <a:lnSpc>
                <a:spcPts val="28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2642" y="1963350"/>
            <a:ext cx="7620935" cy="3465555"/>
          </a:xfrm>
          <a:custGeom>
            <a:avLst/>
            <a:gdLst/>
            <a:ahLst/>
            <a:cxnLst/>
            <a:rect r="r" b="b" t="t" l="l"/>
            <a:pathLst>
              <a:path h="3465555" w="7620935">
                <a:moveTo>
                  <a:pt x="0" y="0"/>
                </a:moveTo>
                <a:lnTo>
                  <a:pt x="7620935" y="0"/>
                </a:lnTo>
                <a:lnTo>
                  <a:pt x="7620935" y="3465555"/>
                </a:lnTo>
                <a:lnTo>
                  <a:pt x="0" y="3465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685956" y="1963350"/>
            <a:ext cx="6672779" cy="6348995"/>
          </a:xfrm>
          <a:custGeom>
            <a:avLst/>
            <a:gdLst/>
            <a:ahLst/>
            <a:cxnLst/>
            <a:rect r="r" b="b" t="t" l="l"/>
            <a:pathLst>
              <a:path h="6348995" w="6672779">
                <a:moveTo>
                  <a:pt x="0" y="0"/>
                </a:moveTo>
                <a:lnTo>
                  <a:pt x="6672779" y="0"/>
                </a:lnTo>
                <a:lnTo>
                  <a:pt x="6672779" y="6348995"/>
                </a:lnTo>
                <a:lnTo>
                  <a:pt x="0" y="6348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3837" y="589275"/>
            <a:ext cx="7818544" cy="100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7"/>
              </a:lnSpc>
            </a:pPr>
            <a:r>
              <a:rPr lang="en-US" sz="42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ПРИКЛАД КОНФІГУРАЦІЇ FILEBEAT ДЛЯ JENKINS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13073" y="589275"/>
            <a:ext cx="7818544" cy="100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7"/>
              </a:lnSpc>
            </a:pPr>
            <a:r>
              <a:rPr lang="en-US" sz="42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ПРИКЛАД КОНФІГУРАЦІЇ LOGSTASH ДЛЯ JENKINS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86286" y="8568055"/>
            <a:ext cx="7945331" cy="133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- ФІЛЬТР GROK: ПРИКЛАД РОЗПІЗНАВАННЯ ФОРМАТУ JENKINS-ЛОГУ ЗА ДОПОМОГОЮ REGEX. 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- ВИХІД: ІНДЕКСАЦІЯ ЛОГІВ У ELASTICSEARCH З ІМЕНЕМ НА ОСНОВІ ДАТИ.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0403" y="5926550"/>
            <a:ext cx="6805412" cy="133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- ПОЯСНЕННЯ БЛОКУ: 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- PATHS – ВКАЗУЄ НА JENKINS-ЛОГ. 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- MULTILINE – ОБ’ЄДНУЄ БАГАТОРЯДКОВІ ЗАПИСИ. 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- OUTPUT.LOGSTASH – ШЛІЙФ ПЕРЕДАЧІ ДО LOGSTASH.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62002" y="4111091"/>
            <a:ext cx="7928198" cy="4878891"/>
          </a:xfrm>
          <a:custGeom>
            <a:avLst/>
            <a:gdLst/>
            <a:ahLst/>
            <a:cxnLst/>
            <a:rect r="r" b="b" t="t" l="l"/>
            <a:pathLst>
              <a:path h="4878891" w="7928198">
                <a:moveTo>
                  <a:pt x="0" y="0"/>
                </a:moveTo>
                <a:lnTo>
                  <a:pt x="7928198" y="0"/>
                </a:lnTo>
                <a:lnTo>
                  <a:pt x="7928198" y="4878891"/>
                </a:lnTo>
                <a:lnTo>
                  <a:pt x="0" y="4878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18335" y="725159"/>
            <a:ext cx="14174206" cy="797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sz="65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ЛОГУВАННЯ ДОВІЛЬНИХ ЗАСТОСУНКІВ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1286" y="1703449"/>
            <a:ext cx="16005428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2"/>
              </a:lnSpc>
            </a:pPr>
            <a:r>
              <a:rPr lang="en-US" sz="282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У сучасних інформаційних системах важливо не лише моніторити інфраструктуру, а й збирати логи самих застосунків. Це дозволяє відстежувати внутрішні помилки, поведінку користувачів і взаємодію з іншими сервісами.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7713" y="3488717"/>
            <a:ext cx="4531510" cy="44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3595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ОСНОВНІ ПРИНЦИПИ: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512" y="4111091"/>
            <a:ext cx="9304926" cy="600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0284" indent="-305142" lvl="1">
              <a:lnSpc>
                <a:spcPts val="3392"/>
              </a:lnSpc>
              <a:buFont typeface="Arial"/>
              <a:buChar char="•"/>
            </a:pPr>
            <a:r>
              <a:rPr lang="en-US" sz="282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Структуровані логи - замість “сирого тексту” краще використовувати формат JSON, де є поля (час, рівень, повідомлення, ID користувача).</a:t>
            </a:r>
          </a:p>
          <a:p>
            <a:pPr algn="just" marL="610284" indent="-305142" lvl="1">
              <a:lnSpc>
                <a:spcPts val="3392"/>
              </a:lnSpc>
              <a:buFont typeface="Arial"/>
              <a:buChar char="•"/>
            </a:pPr>
            <a:r>
              <a:rPr lang="en-US" sz="282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Рівні логування - DEBUG (деталі розробки), INFO (статус роботи), WARNING (потенційні проблеми), ERROR (критичні збої), FATAL (зупинка системи).</a:t>
            </a:r>
          </a:p>
          <a:p>
            <a:pPr algn="just" marL="610284" indent="-305142" lvl="1">
              <a:lnSpc>
                <a:spcPts val="3392"/>
              </a:lnSpc>
              <a:buFont typeface="Arial"/>
              <a:buChar char="•"/>
            </a:pPr>
            <a:r>
              <a:rPr lang="en-US" sz="282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Централізація - логи з різних сервісів збираються у спільне сховище (наприклад, ELK, Grafana Loki).</a:t>
            </a:r>
          </a:p>
          <a:p>
            <a:pPr algn="just" marL="610284" indent="-305142" lvl="1">
              <a:lnSpc>
                <a:spcPts val="3392"/>
              </a:lnSpc>
              <a:buFont typeface="Arial"/>
              <a:buChar char="•"/>
            </a:pPr>
            <a:r>
              <a:rPr lang="en-US" sz="2826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Керування обсягом - налаштовується ротація логів (видалення старих або архівація) для економії диску.</a:t>
            </a:r>
          </a:p>
          <a:p>
            <a:pPr algn="just">
              <a:lnSpc>
                <a:spcPts val="3392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94604" y="2026288"/>
            <a:ext cx="10693742" cy="7501580"/>
          </a:xfrm>
          <a:custGeom>
            <a:avLst/>
            <a:gdLst/>
            <a:ahLst/>
            <a:cxnLst/>
            <a:rect r="r" b="b" t="t" l="l"/>
            <a:pathLst>
              <a:path h="7501580" w="10693742">
                <a:moveTo>
                  <a:pt x="0" y="0"/>
                </a:moveTo>
                <a:lnTo>
                  <a:pt x="10693743" y="0"/>
                </a:lnTo>
                <a:lnTo>
                  <a:pt x="10693743" y="7501581"/>
                </a:lnTo>
                <a:lnTo>
                  <a:pt x="0" y="7501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18335" y="725159"/>
            <a:ext cx="14174206" cy="797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sz="65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ВІЗУАЛІЗАЦІЯ ЛОГІВ У KIBANA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7262" y="4035951"/>
            <a:ext cx="5582084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Kibana</a:t>
            </a: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— це інструмент візуалізації та аналітики даних з Elasticsearch, який дозволяє зручно переглядати, фільтрувати та аналізувати логи у вигляді таблиць, графіків та дашбордів.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29506" y="2541766"/>
            <a:ext cx="7429794" cy="6716534"/>
            <a:chOff x="0" y="0"/>
            <a:chExt cx="6350000" cy="5740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1270" cy="5741670"/>
            </a:xfrm>
            <a:custGeom>
              <a:avLst/>
              <a:gdLst/>
              <a:ahLst/>
              <a:cxnLst/>
              <a:rect r="r" b="b" t="t" l="l"/>
              <a:pathLst>
                <a:path h="5741670" w="63512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3"/>
              <a:stretch>
                <a:fillRect l="-33621" t="0" r="-3362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4601757"/>
            <a:ext cx="7660708" cy="1171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8"/>
              </a:lnSpc>
            </a:pPr>
            <a:r>
              <a:rPr lang="en-US" sz="96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ПРАКТИКА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6996" y="539756"/>
            <a:ext cx="8517004" cy="488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3906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ПЕРЕВІРКА МЕТРИК PROMETHEUS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9144000" y="0"/>
            <a:ext cx="0" cy="1028700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480558" y="4101012"/>
            <a:ext cx="4253822" cy="250214"/>
            <a:chOff x="0" y="0"/>
            <a:chExt cx="1120348" cy="65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20348" cy="65900"/>
            </a:xfrm>
            <a:custGeom>
              <a:avLst/>
              <a:gdLst/>
              <a:ahLst/>
              <a:cxnLst/>
              <a:rect r="r" b="b" t="t" l="l"/>
              <a:pathLst>
                <a:path h="65900" w="1120348">
                  <a:moveTo>
                    <a:pt x="32950" y="0"/>
                  </a:moveTo>
                  <a:lnTo>
                    <a:pt x="1087398" y="0"/>
                  </a:lnTo>
                  <a:cubicBezTo>
                    <a:pt x="1105596" y="0"/>
                    <a:pt x="1120348" y="14752"/>
                    <a:pt x="1120348" y="32950"/>
                  </a:cubicBezTo>
                  <a:lnTo>
                    <a:pt x="1120348" y="32950"/>
                  </a:lnTo>
                  <a:cubicBezTo>
                    <a:pt x="1120348" y="51148"/>
                    <a:pt x="1105596" y="65900"/>
                    <a:pt x="1087398" y="65900"/>
                  </a:cubicBezTo>
                  <a:lnTo>
                    <a:pt x="32950" y="65900"/>
                  </a:lnTo>
                  <a:cubicBezTo>
                    <a:pt x="14752" y="65900"/>
                    <a:pt x="0" y="51148"/>
                    <a:pt x="0" y="32950"/>
                  </a:cubicBezTo>
                  <a:lnTo>
                    <a:pt x="0" y="32950"/>
                  </a:lnTo>
                  <a:cubicBezTo>
                    <a:pt x="0" y="14752"/>
                    <a:pt x="14752" y="0"/>
                    <a:pt x="32950" y="0"/>
                  </a:cubicBezTo>
                  <a:close/>
                </a:path>
              </a:pathLst>
            </a:custGeom>
            <a:solidFill>
              <a:srgbClr val="2B82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20348" cy="113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342693" y="4811773"/>
            <a:ext cx="8945307" cy="331727"/>
          </a:xfrm>
          <a:custGeom>
            <a:avLst/>
            <a:gdLst/>
            <a:ahLst/>
            <a:cxnLst/>
            <a:rect r="r" b="b" t="t" l="l"/>
            <a:pathLst>
              <a:path h="331727" w="8945307">
                <a:moveTo>
                  <a:pt x="0" y="0"/>
                </a:moveTo>
                <a:lnTo>
                  <a:pt x="8945307" y="0"/>
                </a:lnTo>
                <a:lnTo>
                  <a:pt x="8945307" y="331727"/>
                </a:lnTo>
                <a:lnTo>
                  <a:pt x="0" y="3317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04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2903" y="1512107"/>
            <a:ext cx="8683822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Після</a:t>
            </a:r>
            <a:r>
              <a:rPr lang="en-US" b="true" sz="2499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 запуску системи важливо переконатися, що Node Exporter дійсно передає метрики, а Prometheus успішно їх збирає. Це можна зробити двома способами.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5558" y="3732240"/>
            <a:ext cx="8878442" cy="1711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  <a:spcBef>
                <a:spcPct val="0"/>
              </a:spcBef>
            </a:pPr>
            <a:r>
              <a:rPr lang="en-US" sz="1981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ПО-ПЕРШЕ, ВІДКРИВШИ У БРАУЗЕРІ АБО ЧЕРЕЗ CURL АДРЕСУ </a:t>
            </a:r>
          </a:p>
          <a:p>
            <a:pPr algn="ctr">
              <a:lnSpc>
                <a:spcPts val="2774"/>
              </a:lnSpc>
              <a:spcBef>
                <a:spcPct val="0"/>
              </a:spcBef>
            </a:pPr>
            <a:r>
              <a:rPr lang="en-US" sz="1981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HTTP://LOCALHOST:9100/METRICS,</a:t>
            </a:r>
          </a:p>
          <a:p>
            <a:pPr algn="l">
              <a:lnSpc>
                <a:spcPts val="2774"/>
              </a:lnSpc>
              <a:spcBef>
                <a:spcPct val="0"/>
              </a:spcBef>
            </a:pPr>
            <a:r>
              <a:rPr lang="en-US" sz="1981">
                <a:solidFill>
                  <a:srgbClr val="5CE1E6"/>
                </a:solidFill>
                <a:latin typeface="Anonymous Pro"/>
                <a:ea typeface="Anonymous Pro"/>
                <a:cs typeface="Anonymous Pro"/>
                <a:sym typeface="Anonymous Pro"/>
              </a:rPr>
              <a:t> МИ ОТРИМАЄМО "СИРИЙ" СПИСОК МЕТРИК.ЦІ ДАНІ ПОКАЗУЮТЬ, ЩО NODE EXPORTER КОРЕКТНО НАДАЄ ІНФОРМАЦІЮ ПРО СТАН СИСТЕМИ, ЗОКРЕМА ВИКОРИСТАННЯ ПРОЦЕСОРА ТА ПАМ’ЯТІ.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5558" y="6171386"/>
            <a:ext cx="8683822" cy="1080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4"/>
              </a:lnSpc>
              <a:spcBef>
                <a:spcPct val="0"/>
              </a:spcBef>
            </a:pPr>
            <a:r>
              <a:rPr lang="en-US" sz="20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ПО-ДРУГЕ, У ВЕБ-ІНТЕРФЕЙСІ PROMETHEUS (НА ПОРТУ 9090)</a:t>
            </a:r>
          </a:p>
          <a:p>
            <a:pPr algn="just">
              <a:lnSpc>
                <a:spcPts val="2914"/>
              </a:lnSpc>
              <a:spcBef>
                <a:spcPct val="0"/>
              </a:spcBef>
            </a:pPr>
            <a:r>
              <a:rPr lang="en-US" sz="20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ДОСТУПНА ВКЛАДКА GRAPH, ДЕ МОЖНА ВИКОНУВАТИ ЗАПИТИ МОВОЮ PROMQL.ДЛЯ ЦЬОГО ПОТРІБНО ВИКОНАТИ ЗАПИТ PROMQL, НАПРИКЛАД: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08751" y="7607077"/>
            <a:ext cx="1997436" cy="498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4"/>
              </a:lnSpc>
              <a:spcBef>
                <a:spcPct val="0"/>
              </a:spcBef>
            </a:pPr>
            <a:r>
              <a:rPr lang="en-US" b="true" sz="2881">
                <a:solidFill>
                  <a:srgbClr val="FF3131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NODE_LOAD1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5558" y="8468527"/>
            <a:ext cx="8711167" cy="78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94"/>
              </a:lnSpc>
              <a:spcBef>
                <a:spcPct val="0"/>
              </a:spcBef>
            </a:pPr>
            <a:r>
              <a:rPr lang="en-US" sz="2281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РЕЗУЛЬТАТ: ГРАФІК СЕРЕДНЬОГО ЗАВАНТАЖЕННЯ СИСТЕМИ ЗА ОСТАННЮ ХВИЛИНУ.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42693" y="539756"/>
            <a:ext cx="9267683" cy="44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3"/>
              </a:lnSpc>
            </a:pPr>
            <a:r>
              <a:rPr lang="en-US" sz="3606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СТВОРЕННЯ ПРОСТОГО ДАШБОРДУ GRAFANA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42693" y="1512107"/>
            <a:ext cx="8683822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1) Додавання</a:t>
            </a: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джерела даних:</a:t>
            </a:r>
          </a:p>
          <a:p>
            <a:pPr algn="just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У Grafana → Configuration → Data Sources → Add Data Source обираємо Prometheus, вказуємо URL: </a:t>
            </a:r>
            <a:r>
              <a:rPr lang="en-US" b="true" sz="2499" u="sng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http://localhost:9090.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2) </a:t>
            </a: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Створення дашборду:</a:t>
            </a:r>
          </a:p>
          <a:p>
            <a:pPr algn="just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New Dashboard → Add Panel.</a:t>
            </a:r>
          </a:p>
          <a:p>
            <a:pPr algn="just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У запиті PromQL вказати: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42693" y="5396408"/>
            <a:ext cx="8683822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Тип</a:t>
            </a: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графіку: Time Series.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3) </a:t>
            </a: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Результат:</a:t>
            </a:r>
          </a:p>
          <a:p>
            <a:pPr algn="just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На панелі з’явиться графік, що показує відсоток вільної пам’яті в часі</a:t>
            </a:r>
            <a:r>
              <a:rPr lang="en-US" sz="2499" u="non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.</a:t>
            </a:r>
          </a:p>
          <a:p>
            <a:pPr algn="just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Це </a:t>
            </a:r>
            <a:r>
              <a:rPr lang="en-US" sz="24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вже дає базову візуалізацію стану сервера.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8287" y="1826835"/>
            <a:ext cx="8533609" cy="2803900"/>
          </a:xfrm>
          <a:custGeom>
            <a:avLst/>
            <a:gdLst/>
            <a:ahLst/>
            <a:cxnLst/>
            <a:rect r="r" b="b" t="t" l="l"/>
            <a:pathLst>
              <a:path h="2803900" w="8533609">
                <a:moveTo>
                  <a:pt x="0" y="0"/>
                </a:moveTo>
                <a:lnTo>
                  <a:pt x="8533609" y="0"/>
                </a:lnTo>
                <a:lnTo>
                  <a:pt x="8533609" y="2803900"/>
                </a:lnTo>
                <a:lnTo>
                  <a:pt x="0" y="2803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00324" y="460510"/>
            <a:ext cx="8517004" cy="56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3"/>
              </a:lnSpc>
            </a:pPr>
            <a:r>
              <a:rPr lang="en-US" sz="4606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НАЛАШТУВАННЯ ОПОВІЩЕНЬ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8287" y="1164061"/>
            <a:ext cx="4820624" cy="47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4"/>
              </a:lnSpc>
              <a:spcBef>
                <a:spcPct val="0"/>
              </a:spcBef>
            </a:pPr>
            <a:r>
              <a:rPr lang="en-US" b="true" sz="278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ПРИКЛАД ПРОСТОГО ПРАВИЛА: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8287" y="5086350"/>
            <a:ext cx="16347510" cy="364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14"/>
              </a:lnSpc>
              <a:spcBef>
                <a:spcPct val="0"/>
              </a:spcBef>
            </a:pPr>
            <a:r>
              <a:rPr lang="en-US" b="true" sz="2581" u="sng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ЦЕЙ ЗАПИС ОЗНАЧАЄ:</a:t>
            </a:r>
            <a:r>
              <a:rPr lang="en-US" sz="25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</a:p>
          <a:p>
            <a:pPr algn="just">
              <a:lnSpc>
                <a:spcPts val="3614"/>
              </a:lnSpc>
              <a:spcBef>
                <a:spcPct val="0"/>
              </a:spcBef>
            </a:pPr>
            <a:r>
              <a:rPr lang="en-US" sz="25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ЯКЩО СЕРЕДНЄ ЗНАЧЕННЯ </a:t>
            </a:r>
            <a:r>
              <a:rPr lang="en-US" b="true" sz="2581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IDLE-ЧАСУ CPU</a:t>
            </a:r>
            <a:r>
              <a:rPr lang="en-US" sz="25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ПРОТЯГОМ П’ЯТИ ХВИЛИН </a:t>
            </a:r>
            <a:r>
              <a:rPr lang="en-US" b="true" sz="2581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МЕНШЕ 20%</a:t>
            </a:r>
            <a:r>
              <a:rPr lang="en-US" sz="25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(ТОБТО ПРОЦЕСОР ЗАВАНТАЖЕНИЙ БІЛЬШЕ НІЖ НА 80%), ТО PROMETHEUS СТВОРИТЬ СПОВІЩЕННЯ. </a:t>
            </a:r>
          </a:p>
          <a:p>
            <a:pPr algn="just">
              <a:lnSpc>
                <a:spcPts val="3614"/>
              </a:lnSpc>
              <a:spcBef>
                <a:spcPct val="0"/>
              </a:spcBef>
            </a:pPr>
            <a:r>
              <a:rPr lang="en-US" sz="25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ПІСЛЯ ЦЬОГО ФАЙЛ З ПРАВИЛАМИ ПІДКЛЮЧАЄТЬСЯ ЧЕРЕЗ ПАРАМЕТР </a:t>
            </a:r>
            <a:r>
              <a:rPr lang="en-US" b="true" sz="2581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--RULE.FILE=ALERT.RULES</a:t>
            </a:r>
            <a:r>
              <a:rPr lang="en-US" sz="25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. ДЛЯ ВІДПРАВКИ ПОВІДОМЛЕНЬ У SLACK, EMAIL ЧИ ІНШІ КАНАЛИ ВИКОРИСТОВУЄТЬСЯ </a:t>
            </a:r>
            <a:r>
              <a:rPr lang="en-US" b="true" sz="2581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ALERTMANAGER</a:t>
            </a:r>
            <a:r>
              <a:rPr lang="en-US" sz="25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, ЯКИЙ ІНТЕГРУЄТЬСЯ З PROMETHEUS. ЯКЩО ПІД ЧАС ТЕСТУ (НАПРИКЛАД, ЗАПУСКУ ПРОГРАМИ STRESS ДЛЯ СТВОРЕННЯ НАВАНТАЖЕННЯ) НАВАНТАЖЕННЯ НА ПРОЦЕСОР СПРАВДІ ЗРОСТЕ, </a:t>
            </a:r>
            <a:r>
              <a:rPr lang="en-US" b="true" sz="2581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ALERTMANAGER</a:t>
            </a:r>
            <a:r>
              <a:rPr lang="en-US" sz="2581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 ЗГЕНЕРУЄ ПОПЕРЕДЖЕННЯ.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31554" y="2782171"/>
            <a:ext cx="12835307" cy="4956452"/>
            <a:chOff x="0" y="0"/>
            <a:chExt cx="3380492" cy="13054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0492" cy="1305403"/>
            </a:xfrm>
            <a:custGeom>
              <a:avLst/>
              <a:gdLst/>
              <a:ahLst/>
              <a:cxnLst/>
              <a:rect r="r" b="b" t="t" l="l"/>
              <a:pathLst>
                <a:path h="1305403" w="3380492">
                  <a:moveTo>
                    <a:pt x="30762" y="0"/>
                  </a:moveTo>
                  <a:lnTo>
                    <a:pt x="3349731" y="0"/>
                  </a:lnTo>
                  <a:cubicBezTo>
                    <a:pt x="3366720" y="0"/>
                    <a:pt x="3380492" y="13773"/>
                    <a:pt x="3380492" y="30762"/>
                  </a:cubicBezTo>
                  <a:lnTo>
                    <a:pt x="3380492" y="1274641"/>
                  </a:lnTo>
                  <a:cubicBezTo>
                    <a:pt x="3380492" y="1291630"/>
                    <a:pt x="3366720" y="1305403"/>
                    <a:pt x="3349731" y="1305403"/>
                  </a:cubicBezTo>
                  <a:lnTo>
                    <a:pt x="30762" y="1305403"/>
                  </a:lnTo>
                  <a:cubicBezTo>
                    <a:pt x="13773" y="1305403"/>
                    <a:pt x="0" y="1291630"/>
                    <a:pt x="0" y="1274641"/>
                  </a:cubicBezTo>
                  <a:lnTo>
                    <a:pt x="0" y="30762"/>
                  </a:lnTo>
                  <a:cubicBezTo>
                    <a:pt x="0" y="13773"/>
                    <a:pt x="13773" y="0"/>
                    <a:pt x="30762" y="0"/>
                  </a:cubicBezTo>
                  <a:close/>
                </a:path>
              </a:pathLst>
            </a:custGeom>
            <a:solidFill>
              <a:srgbClr val="2B82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380492" cy="13530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53661" y="3104551"/>
            <a:ext cx="11578114" cy="435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4"/>
              </a:lnSpc>
              <a:spcBef>
                <a:spcPct val="0"/>
              </a:spcBef>
            </a:pPr>
            <a:r>
              <a:rPr lang="en-US" b="true" sz="278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На заве</a:t>
            </a:r>
            <a:r>
              <a:rPr lang="en-US" b="true" sz="2781">
                <a:solidFill>
                  <a:srgbClr val="C1FF72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ршення зазначимо, що моніторинг і логування – це фундаментальні практики для стабільної роботи інфраструктури. Prometheus та Grafana дозволяють отримувати показники продуктивності й реагувати на події, а ELK-стек робить доступним глибинний аналіз логів. Використання обох підходів дає найповнішу картину: метрики показують що відбувається з системою, а логи – чому. У лекції ми розглянули базові кроки, а також конкретні приклади конфігурацій.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86191" y="1555013"/>
            <a:ext cx="8517004" cy="653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9"/>
              </a:lnSpc>
            </a:pPr>
            <a:r>
              <a:rPr lang="en-US" sz="5306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ВИСНОВКИ: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60660" y="3134269"/>
            <a:ext cx="11566680" cy="189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70"/>
              </a:lnSpc>
              <a:spcBef>
                <a:spcPct val="0"/>
              </a:spcBef>
            </a:pPr>
            <a:r>
              <a:rPr lang="en-US" sz="1097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ДЯКУЮ ЗА УВАГУ!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3092795"/>
            <a:ext cx="3423515" cy="2798724"/>
          </a:xfrm>
          <a:custGeom>
            <a:avLst/>
            <a:gdLst/>
            <a:ahLst/>
            <a:cxnLst/>
            <a:rect r="r" b="b" t="t" l="l"/>
            <a:pathLst>
              <a:path h="2798724" w="3423515">
                <a:moveTo>
                  <a:pt x="0" y="0"/>
                </a:moveTo>
                <a:lnTo>
                  <a:pt x="3423515" y="0"/>
                </a:lnTo>
                <a:lnTo>
                  <a:pt x="3423515" y="2798724"/>
                </a:lnTo>
                <a:lnTo>
                  <a:pt x="0" y="2798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517248" y="3092795"/>
            <a:ext cx="3423515" cy="2798724"/>
          </a:xfrm>
          <a:custGeom>
            <a:avLst/>
            <a:gdLst/>
            <a:ahLst/>
            <a:cxnLst/>
            <a:rect r="r" b="b" t="t" l="l"/>
            <a:pathLst>
              <a:path h="2798724" w="3423515">
                <a:moveTo>
                  <a:pt x="3423516" y="0"/>
                </a:moveTo>
                <a:lnTo>
                  <a:pt x="0" y="0"/>
                </a:lnTo>
                <a:lnTo>
                  <a:pt x="0" y="2798724"/>
                </a:lnTo>
                <a:lnTo>
                  <a:pt x="3423516" y="2798724"/>
                </a:lnTo>
                <a:lnTo>
                  <a:pt x="342351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5063866"/>
            <a:ext cx="637073" cy="159268"/>
          </a:xfrm>
          <a:custGeom>
            <a:avLst/>
            <a:gdLst/>
            <a:ahLst/>
            <a:cxnLst/>
            <a:rect r="r" b="b" t="t" l="l"/>
            <a:pathLst>
              <a:path h="159268" w="637073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22227" y="5063866"/>
            <a:ext cx="637073" cy="159268"/>
          </a:xfrm>
          <a:custGeom>
            <a:avLst/>
            <a:gdLst/>
            <a:ahLst/>
            <a:cxnLst/>
            <a:rect r="r" b="b" t="t" l="l"/>
            <a:pathLst>
              <a:path h="159268" w="637073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441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028700" y="8180971"/>
            <a:ext cx="7315200" cy="1077329"/>
          </a:xfrm>
          <a:custGeom>
            <a:avLst/>
            <a:gdLst/>
            <a:ahLst/>
            <a:cxnLst/>
            <a:rect r="r" b="b" t="t" l="l"/>
            <a:pathLst>
              <a:path h="1077329" w="7315200">
                <a:moveTo>
                  <a:pt x="7315200" y="0"/>
                </a:moveTo>
                <a:lnTo>
                  <a:pt x="0" y="0"/>
                </a:lnTo>
                <a:lnTo>
                  <a:pt x="0" y="1077329"/>
                </a:lnTo>
                <a:lnTo>
                  <a:pt x="7315200" y="10773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DAGxvuQGRdw</dc:identifier>
  <dcterms:modified xsi:type="dcterms:W3CDTF">2011-08-01T06:04:30Z</dcterms:modified>
  <cp:revision>1</cp:revision>
  <dc:title>Тема 14: Моніторинг і логування</dc:title>
</cp:coreProperties>
</file>
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82" r:id="rId27"/>
    <p:sldId id="284" r:id="rId28"/>
    <p:sldId id="287" r:id="rId29"/>
    <p:sldId id="288" r:id="rId30"/>
    <p:sldId id="289" r:id="rId31"/>
    <p:sldId id="290" r:id="rId32"/>
    <p:sldId id="292" r:id="rId33"/>
    <p:sldId id="293" r:id="rId34"/>
  </p:sldIdLst>
  <p:sldSz cx="18288000" cy="10287000"/>
  <p:notesSz cx="6858000" cy="9144000"/>
  <p:embeddedFontLst>
    <p:embeddedFont>
      <p:font typeface="Canva Sans" panose="020B0503030501040103" pitchFamily="34" charset="0"/>
      <p:regular r:id="rId35"/>
    </p:embeddedFont>
    <p:embeddedFont>
      <p:font typeface="Canva Sans Bold" panose="020B0803030501040103" pitchFamily="34" charset="0"/>
      <p:regular r:id="rId36"/>
      <p:bold r:id="rId37"/>
    </p:embeddedFont>
    <p:embeddedFont>
      <p:font typeface="Mokoto" pitchFamily="2" charset="0"/>
      <p:regular r:id="rId38"/>
    </p:embeddedFont>
    <p:embeddedFont>
      <p:font typeface="Roboto" panose="02000000000000000000" pitchFamily="2" charset="0"/>
      <p:regular r:id="rId39"/>
      <p:bold r:id="rId40"/>
      <p:italic r:id="rId4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26" autoAdjust="0"/>
  </p:normalViewPr>
  <p:slideViewPr>
    <p:cSldViewPr>
      <p:cViewPr varScale="1">
        <p:scale>
          <a:sx n="77" d="100"/>
          <a:sy n="77" d="100"/>
        </p:scale>
        <p:origin x="888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5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1.fntdata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4.fntdata"/><Relationship Id="rId20" Type="http://schemas.openxmlformats.org/officeDocument/2006/relationships/slide" Target="slides/slide19.xml"/><Relationship Id="rId41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12" Type="http://schemas.openxmlformats.org/officeDocument/2006/relationships/image" Target="../media/image12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1.png"/><Relationship Id="rId5" Type="http://schemas.openxmlformats.org/officeDocument/2006/relationships/image" Target="../media/image7.png"/><Relationship Id="rId10" Type="http://schemas.openxmlformats.org/officeDocument/2006/relationships/image" Target="../media/image10.svg"/><Relationship Id="rId4" Type="http://schemas.openxmlformats.org/officeDocument/2006/relationships/image" Target="../media/image6.sv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5" Type="http://schemas.openxmlformats.org/officeDocument/2006/relationships/image" Target="../media/image15.jpe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jpe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jpeg"/><Relationship Id="rId5" Type="http://schemas.openxmlformats.org/officeDocument/2006/relationships/image" Target="../media/image21.jpeg"/><Relationship Id="rId4" Type="http://schemas.openxmlformats.org/officeDocument/2006/relationships/image" Target="../media/image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4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4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24.png"/><Relationship Id="rId7" Type="http://schemas.openxmlformats.org/officeDocument/2006/relationships/image" Target="../media/image3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3.png"/><Relationship Id="rId4" Type="http://schemas.openxmlformats.org/officeDocument/2006/relationships/image" Target="../media/image4.sv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png"/><Relationship Id="rId4" Type="http://schemas.openxmlformats.org/officeDocument/2006/relationships/image" Target="../media/image4.sv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8944306" y="5180427"/>
            <a:ext cx="399388" cy="8135684"/>
          </a:xfrm>
          <a:custGeom>
            <a:avLst/>
            <a:gdLst/>
            <a:ahLst/>
            <a:cxnLst/>
            <a:rect l="l" t="t" r="r" b="b"/>
            <a:pathLst>
              <a:path w="399388" h="8135684">
                <a:moveTo>
                  <a:pt x="0" y="0"/>
                </a:moveTo>
                <a:lnTo>
                  <a:pt x="399388" y="0"/>
                </a:lnTo>
                <a:lnTo>
                  <a:pt x="399388" y="8135683"/>
                </a:lnTo>
                <a:lnTo>
                  <a:pt x="0" y="8135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 rot="-10800000">
            <a:off x="-895973" y="-128681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2"/>
                </a:lnTo>
                <a:lnTo>
                  <a:pt x="0" y="3604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Freeform 8"/>
          <p:cNvSpPr/>
          <p:nvPr/>
        </p:nvSpPr>
        <p:spPr>
          <a:xfrm rot="-10800000">
            <a:off x="15576737" y="7107131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1"/>
                </a:lnTo>
                <a:lnTo>
                  <a:pt x="0" y="3604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TextBox 9"/>
          <p:cNvSpPr txBox="1"/>
          <p:nvPr/>
        </p:nvSpPr>
        <p:spPr>
          <a:xfrm>
            <a:off x="1860477" y="3351756"/>
            <a:ext cx="14567046" cy="2139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9"/>
              </a:lnSpc>
            </a:pPr>
            <a:r>
              <a:rPr lang="en-US" sz="6128" spc="-61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ТЕМА 13: СЕКРЕТИ ТА БЕЗПЕКА В</a:t>
            </a:r>
          </a:p>
          <a:p>
            <a:pPr algn="ctr">
              <a:lnSpc>
                <a:spcPts val="8579"/>
              </a:lnSpc>
            </a:pPr>
            <a:r>
              <a:rPr lang="en-US" sz="6128" spc="-61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розгортанні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654845" y="5680440"/>
            <a:ext cx="8978311" cy="229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90"/>
              </a:lnSpc>
            </a:pPr>
            <a:r>
              <a:rPr lang="en-US" sz="4350" spc="-43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Курс: Технології розгортання</a:t>
            </a:r>
          </a:p>
          <a:p>
            <a:pPr algn="ctr">
              <a:lnSpc>
                <a:spcPts val="6090"/>
              </a:lnSpc>
            </a:pPr>
            <a:r>
              <a:rPr lang="en-US" sz="4350" spc="-43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інформаційних систем</a:t>
            </a:r>
          </a:p>
          <a:p>
            <a:pPr algn="ctr">
              <a:lnSpc>
                <a:spcPts val="6090"/>
              </a:lnSpc>
            </a:pPr>
            <a:endParaRPr lang="en-US" sz="4350" spc="-43">
              <a:solidFill>
                <a:srgbClr val="348BFF"/>
              </a:solidFill>
              <a:latin typeface="Mokoto"/>
              <a:ea typeface="Mokoto"/>
              <a:cs typeface="Mokoto"/>
              <a:sym typeface="Mok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109527"/>
            <a:chOff x="0" y="0"/>
            <a:chExt cx="4816593" cy="2662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662592"/>
            </a:xfrm>
            <a:custGeom>
              <a:avLst/>
              <a:gdLst/>
              <a:ahLst/>
              <a:cxnLst/>
              <a:rect l="l" t="t" r="r" b="b"/>
              <a:pathLst>
                <a:path w="4816592" h="2662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00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2177918" y="6830400"/>
            <a:ext cx="1480929" cy="1483627"/>
          </a:xfrm>
          <a:custGeom>
            <a:avLst/>
            <a:gdLst/>
            <a:ahLst/>
            <a:cxnLst/>
            <a:rect l="l" t="t" r="r" b="b"/>
            <a:pathLst>
              <a:path w="1480929" h="1483627">
                <a:moveTo>
                  <a:pt x="0" y="0"/>
                </a:moveTo>
                <a:lnTo>
                  <a:pt x="1480929" y="0"/>
                </a:lnTo>
                <a:lnTo>
                  <a:pt x="1480929" y="1483626"/>
                </a:lnTo>
                <a:lnTo>
                  <a:pt x="0" y="148362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>
            <a:off x="10086837" y="3866008"/>
            <a:ext cx="1785518" cy="1743315"/>
          </a:xfrm>
          <a:custGeom>
            <a:avLst/>
            <a:gdLst/>
            <a:ahLst/>
            <a:cxnLst/>
            <a:rect l="l" t="t" r="r" b="b"/>
            <a:pathLst>
              <a:path w="1785518" h="1743315">
                <a:moveTo>
                  <a:pt x="0" y="0"/>
                </a:moveTo>
                <a:lnTo>
                  <a:pt x="1785518" y="0"/>
                </a:lnTo>
                <a:lnTo>
                  <a:pt x="1785518" y="1743315"/>
                </a:lnTo>
                <a:lnTo>
                  <a:pt x="0" y="174331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AutoShape 8"/>
          <p:cNvSpPr/>
          <p:nvPr/>
        </p:nvSpPr>
        <p:spPr>
          <a:xfrm>
            <a:off x="2071982" y="3312621"/>
            <a:ext cx="6492240" cy="0"/>
          </a:xfrm>
          <a:prstGeom prst="line">
            <a:avLst/>
          </a:prstGeom>
          <a:ln w="19050" cap="flat">
            <a:solidFill>
              <a:srgbClr val="4059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9" name="Freeform 9"/>
          <p:cNvSpPr/>
          <p:nvPr/>
        </p:nvSpPr>
        <p:spPr>
          <a:xfrm rot="-10792239" flipH="1" flipV="1">
            <a:off x="-724606" y="8954135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0" name="Freeform 10"/>
          <p:cNvSpPr/>
          <p:nvPr/>
        </p:nvSpPr>
        <p:spPr>
          <a:xfrm rot="-10792239" flipH="1" flipV="1">
            <a:off x="16612207" y="-936064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1" name="Freeform 11"/>
          <p:cNvSpPr/>
          <p:nvPr/>
        </p:nvSpPr>
        <p:spPr>
          <a:xfrm>
            <a:off x="2114351" y="3866008"/>
            <a:ext cx="1608064" cy="1441410"/>
          </a:xfrm>
          <a:custGeom>
            <a:avLst/>
            <a:gdLst/>
            <a:ahLst/>
            <a:cxnLst/>
            <a:rect l="l" t="t" r="r" b="b"/>
            <a:pathLst>
              <a:path w="1608064" h="1441410">
                <a:moveTo>
                  <a:pt x="0" y="0"/>
                </a:moveTo>
                <a:lnTo>
                  <a:pt x="1608064" y="0"/>
                </a:lnTo>
                <a:lnTo>
                  <a:pt x="1608064" y="1441411"/>
                </a:lnTo>
                <a:lnTo>
                  <a:pt x="0" y="144141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2" name="Freeform 12"/>
          <p:cNvSpPr/>
          <p:nvPr/>
        </p:nvSpPr>
        <p:spPr>
          <a:xfrm>
            <a:off x="10186676" y="6728186"/>
            <a:ext cx="1585840" cy="1585840"/>
          </a:xfrm>
          <a:custGeom>
            <a:avLst/>
            <a:gdLst/>
            <a:ahLst/>
            <a:cxnLst/>
            <a:rect l="l" t="t" r="r" b="b"/>
            <a:pathLst>
              <a:path w="1585840" h="1585840">
                <a:moveTo>
                  <a:pt x="0" y="0"/>
                </a:moveTo>
                <a:lnTo>
                  <a:pt x="1585840" y="0"/>
                </a:lnTo>
                <a:lnTo>
                  <a:pt x="1585840" y="1585840"/>
                </a:lnTo>
                <a:lnTo>
                  <a:pt x="0" y="158584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3" name="TextBox 13"/>
          <p:cNvSpPr txBox="1"/>
          <p:nvPr/>
        </p:nvSpPr>
        <p:spPr>
          <a:xfrm>
            <a:off x="4310901" y="4168248"/>
            <a:ext cx="4225877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Управління секретами: Vault, Jenkins Credentials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83421" y="4265459"/>
            <a:ext cx="4225877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Захист доступів у Ansible та Terraform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10901" y="7353773"/>
            <a:ext cx="4092539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Best Practices з безпеки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383421" y="6982933"/>
            <a:ext cx="4092539" cy="789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Практика: підключення секретів у Jenkins Pipeline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2071982" y="2045935"/>
            <a:ext cx="8907614" cy="956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1"/>
              </a:lnSpc>
            </a:pPr>
            <a:r>
              <a:rPr lang="en-US" sz="5465" spc="-54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ПЛАН ТЕМИ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0" y="-28477"/>
            <a:ext cx="18288000" cy="10109527"/>
            <a:chOff x="0" y="0"/>
            <a:chExt cx="4816593" cy="2662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662592"/>
            </a:xfrm>
            <a:custGeom>
              <a:avLst/>
              <a:gdLst/>
              <a:ahLst/>
              <a:cxnLst/>
              <a:rect l="l" t="t" r="r" b="b"/>
              <a:pathLst>
                <a:path w="4816592" h="2662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00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2407264" flipH="1">
            <a:off x="13760017" y="6817824"/>
            <a:ext cx="4768277" cy="4551537"/>
          </a:xfrm>
          <a:custGeom>
            <a:avLst/>
            <a:gdLst/>
            <a:ahLst/>
            <a:cxnLst/>
            <a:rect l="l" t="t" r="r" b="b"/>
            <a:pathLst>
              <a:path w="4768277" h="4551537">
                <a:moveTo>
                  <a:pt x="4768277" y="0"/>
                </a:moveTo>
                <a:lnTo>
                  <a:pt x="0" y="0"/>
                </a:lnTo>
                <a:lnTo>
                  <a:pt x="0" y="4551537"/>
                </a:lnTo>
                <a:lnTo>
                  <a:pt x="4768277" y="4551537"/>
                </a:lnTo>
                <a:lnTo>
                  <a:pt x="476827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7" name="Group 7"/>
          <p:cNvGrpSpPr/>
          <p:nvPr/>
        </p:nvGrpSpPr>
        <p:grpSpPr>
          <a:xfrm rot="3275">
            <a:off x="12646576" y="-298239"/>
            <a:ext cx="6995160" cy="5246370"/>
            <a:chOff x="0" y="0"/>
            <a:chExt cx="812800" cy="6096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5"/>
              <a:stretch>
                <a:fillRect r="-13324"/>
              </a:stretch>
            </a:blipFill>
          </p:spPr>
          <p:txBody>
            <a:bodyPr/>
            <a:lstStyle/>
            <a:p>
              <a:endParaRPr lang="en-UA"/>
            </a:p>
          </p:txBody>
        </p:sp>
      </p:grpSp>
      <p:grpSp>
        <p:nvGrpSpPr>
          <p:cNvPr id="9" name="Group 9"/>
          <p:cNvGrpSpPr/>
          <p:nvPr/>
        </p:nvGrpSpPr>
        <p:grpSpPr>
          <a:xfrm rot="3275">
            <a:off x="-725017" y="5674776"/>
            <a:ext cx="6995160" cy="5246370"/>
            <a:chOff x="0" y="0"/>
            <a:chExt cx="812800" cy="6096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6"/>
              <a:stretch>
                <a:fillRect l="-6739" r="-5619"/>
              </a:stretch>
            </a:blipFill>
          </p:spPr>
          <p:txBody>
            <a:bodyPr/>
            <a:lstStyle/>
            <a:p>
              <a:endParaRPr lang="en-UA"/>
            </a:p>
          </p:txBody>
        </p:sp>
      </p:grpSp>
      <p:sp>
        <p:nvSpPr>
          <p:cNvPr id="11" name="AutoShape 11"/>
          <p:cNvSpPr/>
          <p:nvPr/>
        </p:nvSpPr>
        <p:spPr>
          <a:xfrm>
            <a:off x="2071982" y="3312621"/>
            <a:ext cx="6492240" cy="0"/>
          </a:xfrm>
          <a:prstGeom prst="line">
            <a:avLst/>
          </a:prstGeom>
          <a:ln w="19050" cap="flat">
            <a:solidFill>
              <a:srgbClr val="4059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12" name="Freeform 12"/>
          <p:cNvSpPr/>
          <p:nvPr/>
        </p:nvSpPr>
        <p:spPr>
          <a:xfrm rot="-10792239" flipH="1">
            <a:off x="-724606" y="8954135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0"/>
                </a:moveTo>
                <a:lnTo>
                  <a:pt x="0" y="0"/>
                </a:lnTo>
                <a:lnTo>
                  <a:pt x="0" y="2579840"/>
                </a:lnTo>
                <a:lnTo>
                  <a:pt x="2702689" y="2579840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3" name="TextBox 13"/>
          <p:cNvSpPr txBox="1"/>
          <p:nvPr/>
        </p:nvSpPr>
        <p:spPr>
          <a:xfrm>
            <a:off x="9601962" y="5319722"/>
            <a:ext cx="6505129" cy="47898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Їх мета — забезпечити доступ до критичних сервісів без розкриття чутливої інформації:</a:t>
            </a:r>
          </a:p>
          <a:p>
            <a:pPr algn="l">
              <a:lnSpc>
                <a:spcPts val="3220"/>
              </a:lnSpc>
            </a:pPr>
            <a:endParaRPr lang="en-US" sz="2300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Паролі до баз даних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API ключі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SSH ключі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Токени доступу (Bearer Token, OAuth)</a:t>
            </a:r>
          </a:p>
          <a:p>
            <a:pPr marL="496571" lvl="1" indent="-248285" algn="l">
              <a:lnSpc>
                <a:spcPts val="3220"/>
              </a:lnSpc>
              <a:buFont typeface="Arial"/>
              <a:buChar char="•"/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Конфігураційні параметри (наприклад, SMTP, Cloud credentials)</a:t>
            </a:r>
          </a:p>
          <a:p>
            <a:pPr algn="l">
              <a:lnSpc>
                <a:spcPts val="3220"/>
              </a:lnSpc>
            </a:pPr>
            <a:endParaRPr lang="en-US" sz="2300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220"/>
              </a:lnSpc>
            </a:pPr>
            <a:r>
              <a:rPr lang="en-US" sz="2300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980991" y="1298981"/>
            <a:ext cx="8720816" cy="192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1"/>
              </a:lnSpc>
            </a:pPr>
            <a:r>
              <a:rPr lang="en-US" sz="5465" spc="-54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ЩО ТАКЕ «СЕКРЕТИ» В РОЗГОРТАННІ?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5049" y="3633202"/>
            <a:ext cx="10172700" cy="128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51"/>
              </a:lnSpc>
              <a:spcBef>
                <a:spcPct val="0"/>
              </a:spcBef>
            </a:pPr>
            <a:r>
              <a:rPr lang="en-US" sz="2465" spc="-24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СЕКРЕТИ У РОЗГОРТАННІ — ЦЕ КОНФІДЕНЦІЙНІ ДАНІ, ЩО НЕОБХІДНІ ДЛЯ ЗАПУСКУ АБО КОНФІГУРАЦІЇ ПРОГРАМНОГО ЗАБЕЗПЕЧЕННЯ В СЕРЕДОВИЩІ ПРОДАКШНУ ЧИ ТЕСТУВАННЯ.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3" name="Freeform 3"/>
          <p:cNvSpPr/>
          <p:nvPr/>
        </p:nvSpPr>
        <p:spPr>
          <a:xfrm rot="2594913">
            <a:off x="-2201586" y="4156675"/>
            <a:ext cx="5419988" cy="5173625"/>
          </a:xfrm>
          <a:custGeom>
            <a:avLst/>
            <a:gdLst/>
            <a:ahLst/>
            <a:cxnLst/>
            <a:rect l="l" t="t" r="r" b="b"/>
            <a:pathLst>
              <a:path w="5419988" h="5173625">
                <a:moveTo>
                  <a:pt x="0" y="0"/>
                </a:moveTo>
                <a:lnTo>
                  <a:pt x="5419988" y="0"/>
                </a:lnTo>
                <a:lnTo>
                  <a:pt x="5419988" y="5173625"/>
                </a:lnTo>
                <a:lnTo>
                  <a:pt x="0" y="5173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8288000" cy="10109527"/>
            <a:chOff x="0" y="0"/>
            <a:chExt cx="4816593" cy="26625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662592"/>
            </a:xfrm>
            <a:custGeom>
              <a:avLst/>
              <a:gdLst/>
              <a:ahLst/>
              <a:cxnLst/>
              <a:rect l="l" t="t" r="r" b="b"/>
              <a:pathLst>
                <a:path w="4816592" h="2662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2700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9653258" y="3312621"/>
            <a:ext cx="5960269" cy="0"/>
          </a:xfrm>
          <a:prstGeom prst="line">
            <a:avLst/>
          </a:prstGeom>
          <a:ln w="19050" cap="flat">
            <a:solidFill>
              <a:srgbClr val="4059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grpSp>
        <p:nvGrpSpPr>
          <p:cNvPr id="8" name="Group 8"/>
          <p:cNvGrpSpPr/>
          <p:nvPr/>
        </p:nvGrpSpPr>
        <p:grpSpPr>
          <a:xfrm>
            <a:off x="802337" y="2169760"/>
            <a:ext cx="6995160" cy="6460212"/>
            <a:chOff x="0" y="0"/>
            <a:chExt cx="812800" cy="75064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750642"/>
            </a:xfrm>
            <a:custGeom>
              <a:avLst/>
              <a:gdLst/>
              <a:ahLst/>
              <a:cxnLst/>
              <a:rect l="l" t="t" r="r" b="b"/>
              <a:pathLst>
                <a:path w="812800" h="750642">
                  <a:moveTo>
                    <a:pt x="609600" y="0"/>
                  </a:moveTo>
                  <a:lnTo>
                    <a:pt x="0" y="0"/>
                  </a:lnTo>
                  <a:lnTo>
                    <a:pt x="203200" y="750642"/>
                  </a:lnTo>
                  <a:lnTo>
                    <a:pt x="812800" y="750642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5"/>
              <a:stretch>
                <a:fillRect l="-12489" t="-82821"/>
              </a:stretch>
            </a:blipFill>
          </p:spPr>
          <p:txBody>
            <a:bodyPr/>
            <a:lstStyle/>
            <a:p>
              <a:endParaRPr lang="en-UA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61495" y="2579783"/>
            <a:ext cx="6995160" cy="6460212"/>
            <a:chOff x="0" y="0"/>
            <a:chExt cx="812800" cy="75064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750642"/>
            </a:xfrm>
            <a:custGeom>
              <a:avLst/>
              <a:gdLst/>
              <a:ahLst/>
              <a:cxnLst/>
              <a:rect l="l" t="t" r="r" b="b"/>
              <a:pathLst>
                <a:path w="812800" h="750642">
                  <a:moveTo>
                    <a:pt x="609600" y="0"/>
                  </a:moveTo>
                  <a:lnTo>
                    <a:pt x="0" y="0"/>
                  </a:lnTo>
                  <a:lnTo>
                    <a:pt x="203200" y="750642"/>
                  </a:lnTo>
                  <a:lnTo>
                    <a:pt x="812800" y="750642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6"/>
              <a:stretch>
                <a:fillRect t="-38232" b="-24290"/>
              </a:stretch>
            </a:blipFill>
          </p:spPr>
          <p:txBody>
            <a:bodyPr/>
            <a:lstStyle/>
            <a:p>
              <a:endParaRPr lang="en-U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2167890" y="3038749"/>
            <a:ext cx="6995160" cy="6460212"/>
            <a:chOff x="0" y="0"/>
            <a:chExt cx="812800" cy="75064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750642"/>
            </a:xfrm>
            <a:custGeom>
              <a:avLst/>
              <a:gdLst/>
              <a:ahLst/>
              <a:cxnLst/>
              <a:rect l="l" t="t" r="r" b="b"/>
              <a:pathLst>
                <a:path w="812800" h="750642">
                  <a:moveTo>
                    <a:pt x="609600" y="0"/>
                  </a:moveTo>
                  <a:lnTo>
                    <a:pt x="0" y="0"/>
                  </a:lnTo>
                  <a:lnTo>
                    <a:pt x="203200" y="750642"/>
                  </a:lnTo>
                  <a:lnTo>
                    <a:pt x="812800" y="750642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7"/>
              <a:stretch>
                <a:fillRect l="-48049" r="-48049"/>
              </a:stretch>
            </a:blipFill>
          </p:spPr>
          <p:txBody>
            <a:bodyPr/>
            <a:lstStyle/>
            <a:p>
              <a:endParaRPr lang="en-UA"/>
            </a:p>
          </p:txBody>
        </p:sp>
      </p:grpSp>
      <p:sp>
        <p:nvSpPr>
          <p:cNvPr id="14" name="Freeform 14"/>
          <p:cNvSpPr/>
          <p:nvPr/>
        </p:nvSpPr>
        <p:spPr>
          <a:xfrm rot="-10792239" flipH="1">
            <a:off x="16488102" y="-1066193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0"/>
                </a:moveTo>
                <a:lnTo>
                  <a:pt x="0" y="0"/>
                </a:lnTo>
                <a:lnTo>
                  <a:pt x="0" y="2579839"/>
                </a:lnTo>
                <a:lnTo>
                  <a:pt x="2702689" y="2579839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5" name="TextBox 15"/>
          <p:cNvSpPr txBox="1"/>
          <p:nvPr/>
        </p:nvSpPr>
        <p:spPr>
          <a:xfrm>
            <a:off x="9468092" y="1110643"/>
            <a:ext cx="7606042" cy="192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1"/>
              </a:lnSpc>
            </a:pPr>
            <a:r>
              <a:rPr lang="en-US" sz="5465" spc="-54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ЧОМУ ВАЖЛИВО ЗАХИЩАТИ СЕКРЕТИ?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9653258" y="3815469"/>
            <a:ext cx="7801290" cy="4274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Статистика показує, що більшість витоків даних у хмарі відбуваються через неправильно оброблені секрети.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Ми часто концентруємось на функціоналі, забуваючи про безпеку. Але безпека має бути вбудованою частиною DevOps процесів.</a:t>
            </a:r>
          </a:p>
          <a:p>
            <a:pPr algn="l">
              <a:lnSpc>
                <a:spcPts val="3779"/>
              </a:lnSpc>
            </a:pPr>
            <a:r>
              <a:rPr lang="en-US" sz="26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Використання правильних інструментів дозволяє автоматизувати захист — і уникати людських помилок.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8944306" y="5180427"/>
            <a:ext cx="399388" cy="8135684"/>
          </a:xfrm>
          <a:custGeom>
            <a:avLst/>
            <a:gdLst/>
            <a:ahLst/>
            <a:cxnLst/>
            <a:rect l="l" t="t" r="r" b="b"/>
            <a:pathLst>
              <a:path w="399388" h="8135684">
                <a:moveTo>
                  <a:pt x="0" y="0"/>
                </a:moveTo>
                <a:lnTo>
                  <a:pt x="399388" y="0"/>
                </a:lnTo>
                <a:lnTo>
                  <a:pt x="399388" y="8135683"/>
                </a:lnTo>
                <a:lnTo>
                  <a:pt x="0" y="8135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 rot="-10800000">
            <a:off x="-895973" y="-128681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2"/>
                </a:lnTo>
                <a:lnTo>
                  <a:pt x="0" y="3604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Freeform 8"/>
          <p:cNvSpPr/>
          <p:nvPr/>
        </p:nvSpPr>
        <p:spPr>
          <a:xfrm rot="-10800000">
            <a:off x="15576737" y="7107131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1"/>
                </a:lnTo>
                <a:lnTo>
                  <a:pt x="0" y="3604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TextBox 9"/>
          <p:cNvSpPr txBox="1"/>
          <p:nvPr/>
        </p:nvSpPr>
        <p:spPr>
          <a:xfrm>
            <a:off x="1860477" y="4554579"/>
            <a:ext cx="14567046" cy="105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9"/>
              </a:lnSpc>
            </a:pPr>
            <a:r>
              <a:rPr lang="en-US" sz="6128" spc="-61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HASHICORP VAULT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3" name="Freeform 3"/>
          <p:cNvSpPr/>
          <p:nvPr/>
        </p:nvSpPr>
        <p:spPr>
          <a:xfrm rot="2594913">
            <a:off x="-2201586" y="4156675"/>
            <a:ext cx="5419988" cy="5173625"/>
          </a:xfrm>
          <a:custGeom>
            <a:avLst/>
            <a:gdLst/>
            <a:ahLst/>
            <a:cxnLst/>
            <a:rect l="l" t="t" r="r" b="b"/>
            <a:pathLst>
              <a:path w="5419988" h="5173625">
                <a:moveTo>
                  <a:pt x="0" y="0"/>
                </a:moveTo>
                <a:lnTo>
                  <a:pt x="5419988" y="0"/>
                </a:lnTo>
                <a:lnTo>
                  <a:pt x="5419988" y="5173625"/>
                </a:lnTo>
                <a:lnTo>
                  <a:pt x="0" y="517362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4" name="Group 4"/>
          <p:cNvGrpSpPr/>
          <p:nvPr/>
        </p:nvGrpSpPr>
        <p:grpSpPr>
          <a:xfrm>
            <a:off x="0" y="0"/>
            <a:ext cx="18288000" cy="10109527"/>
            <a:chOff x="0" y="0"/>
            <a:chExt cx="4816593" cy="26625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816592" cy="2662592"/>
            </a:xfrm>
            <a:custGeom>
              <a:avLst/>
              <a:gdLst/>
              <a:ahLst/>
              <a:cxnLst/>
              <a:rect l="l" t="t" r="r" b="b"/>
              <a:pathLst>
                <a:path w="4816592" h="2662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4816593" cy="2700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802337" y="2186076"/>
            <a:ext cx="6995160" cy="6460212"/>
            <a:chOff x="0" y="0"/>
            <a:chExt cx="812800" cy="75064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750642"/>
            </a:xfrm>
            <a:custGeom>
              <a:avLst/>
              <a:gdLst/>
              <a:ahLst/>
              <a:cxnLst/>
              <a:rect l="l" t="t" r="r" b="b"/>
              <a:pathLst>
                <a:path w="812800" h="750642">
                  <a:moveTo>
                    <a:pt x="609600" y="0"/>
                  </a:moveTo>
                  <a:lnTo>
                    <a:pt x="0" y="0"/>
                  </a:lnTo>
                  <a:lnTo>
                    <a:pt x="203200" y="750642"/>
                  </a:lnTo>
                  <a:lnTo>
                    <a:pt x="812800" y="750642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5"/>
              <a:stretch>
                <a:fillRect l="-19264" r="-19264"/>
              </a:stretch>
            </a:blipFill>
          </p:spPr>
          <p:txBody>
            <a:bodyPr/>
            <a:lstStyle/>
            <a:p>
              <a:endParaRPr lang="en-UA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1475123" y="2798088"/>
            <a:ext cx="6995160" cy="6460212"/>
            <a:chOff x="0" y="0"/>
            <a:chExt cx="812800" cy="750642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812800" cy="750642"/>
            </a:xfrm>
            <a:custGeom>
              <a:avLst/>
              <a:gdLst/>
              <a:ahLst/>
              <a:cxnLst/>
              <a:rect l="l" t="t" r="r" b="b"/>
              <a:pathLst>
                <a:path w="812800" h="750642">
                  <a:moveTo>
                    <a:pt x="609600" y="0"/>
                  </a:moveTo>
                  <a:lnTo>
                    <a:pt x="0" y="0"/>
                  </a:lnTo>
                  <a:lnTo>
                    <a:pt x="203200" y="750642"/>
                  </a:lnTo>
                  <a:lnTo>
                    <a:pt x="812800" y="750642"/>
                  </a:lnTo>
                  <a:lnTo>
                    <a:pt x="609600" y="0"/>
                  </a:lnTo>
                  <a:close/>
                </a:path>
              </a:pathLst>
            </a:custGeom>
            <a:blipFill>
              <a:blip r:embed="rId6"/>
              <a:stretch>
                <a:fillRect l="-82011" b="-10366"/>
              </a:stretch>
            </a:blipFill>
          </p:spPr>
          <p:txBody>
            <a:bodyPr/>
            <a:lstStyle/>
            <a:p>
              <a:endParaRPr lang="en-UA"/>
            </a:p>
          </p:txBody>
        </p:sp>
      </p:grpSp>
      <p:sp>
        <p:nvSpPr>
          <p:cNvPr id="11" name="Freeform 11"/>
          <p:cNvSpPr/>
          <p:nvPr/>
        </p:nvSpPr>
        <p:spPr>
          <a:xfrm rot="-10792239" flipH="1">
            <a:off x="16488102" y="-1066193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0"/>
                </a:moveTo>
                <a:lnTo>
                  <a:pt x="0" y="0"/>
                </a:lnTo>
                <a:lnTo>
                  <a:pt x="0" y="2579839"/>
                </a:lnTo>
                <a:lnTo>
                  <a:pt x="2702689" y="2579839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2" name="TextBox 12"/>
          <p:cNvSpPr txBox="1"/>
          <p:nvPr/>
        </p:nvSpPr>
        <p:spPr>
          <a:xfrm>
            <a:off x="9335306" y="2648852"/>
            <a:ext cx="6505129" cy="54775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Vault — система централізованого управління секретами</a:t>
            </a:r>
          </a:p>
          <a:p>
            <a:pPr algn="l">
              <a:lnSpc>
                <a:spcPts val="3639"/>
              </a:lnSpc>
            </a:pPr>
            <a:endParaRPr lang="en-US" sz="2599" b="1">
              <a:solidFill>
                <a:srgbClr val="FFFFFF"/>
              </a:solidFill>
              <a:latin typeface="Canva Sans Bold"/>
              <a:ea typeface="Canva Sans Bold"/>
              <a:cs typeface="Canva Sans Bold"/>
              <a:sym typeface="Canva Sans Bold"/>
            </a:endParaRPr>
          </a:p>
          <a:p>
            <a:pPr algn="l">
              <a:lnSpc>
                <a:spcPts val="3639"/>
              </a:lnSpc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Можливості:</a:t>
            </a: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Динамічні секрети (тимчасові логіни до бази)</a:t>
            </a: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Політики доступу (RBAC)</a:t>
            </a: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Інтеграція з LDAP, GitHub, Kubernetes</a:t>
            </a: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Шифрування даних "at rest" та "in transit"</a:t>
            </a:r>
          </a:p>
          <a:p>
            <a:pPr algn="l">
              <a:lnSpc>
                <a:spcPts val="3639"/>
              </a:lnSpc>
            </a:pPr>
            <a:endParaRPr lang="en-US" sz="25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8697470" y="340087"/>
            <a:ext cx="9590530" cy="68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648"/>
              </a:lnSpc>
            </a:pPr>
            <a:r>
              <a:rPr lang="en-US" sz="4034" spc="-40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HASHICORP VAULT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25446" y="88736"/>
            <a:ext cx="18288000" cy="10109527"/>
            <a:chOff x="0" y="0"/>
            <a:chExt cx="4816593" cy="2662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662592"/>
            </a:xfrm>
            <a:custGeom>
              <a:avLst/>
              <a:gdLst/>
              <a:ahLst/>
              <a:cxnLst/>
              <a:rect l="l" t="t" r="r" b="b"/>
              <a:pathLst>
                <a:path w="4816592" h="2662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00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5897880" y="2242773"/>
            <a:ext cx="6492240" cy="0"/>
          </a:xfrm>
          <a:prstGeom prst="line">
            <a:avLst/>
          </a:prstGeom>
          <a:ln w="19050" cap="flat">
            <a:solidFill>
              <a:srgbClr val="4059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 flipH="1" flipV="1">
            <a:off x="-719344" y="8954135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Freeform 8"/>
          <p:cNvSpPr/>
          <p:nvPr/>
        </p:nvSpPr>
        <p:spPr>
          <a:xfrm rot="-5400000" flipH="1">
            <a:off x="16666806" y="-1097009"/>
            <a:ext cx="2685507" cy="2563439"/>
          </a:xfrm>
          <a:custGeom>
            <a:avLst/>
            <a:gdLst/>
            <a:ahLst/>
            <a:cxnLst/>
            <a:rect l="l" t="t" r="r" b="b"/>
            <a:pathLst>
              <a:path w="2685507" h="2563439">
                <a:moveTo>
                  <a:pt x="2685507" y="0"/>
                </a:moveTo>
                <a:lnTo>
                  <a:pt x="0" y="0"/>
                </a:lnTo>
                <a:lnTo>
                  <a:pt x="0" y="2563439"/>
                </a:lnTo>
                <a:lnTo>
                  <a:pt x="2685507" y="2563439"/>
                </a:lnTo>
                <a:lnTo>
                  <a:pt x="26855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8241" y="1209740"/>
            <a:ext cx="12396395" cy="9419596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2505450" y="632320"/>
            <a:ext cx="12801976" cy="1491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71"/>
              </a:lnSpc>
            </a:pPr>
            <a:r>
              <a:rPr lang="en-US" sz="4265" spc="-42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ПРИКЛАД СТВОРЕННЯ І ВИТЯГУВАННЯ СЕКРЕТУ (KV ENGINE):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8944306" y="5180427"/>
            <a:ext cx="399388" cy="8135684"/>
          </a:xfrm>
          <a:custGeom>
            <a:avLst/>
            <a:gdLst/>
            <a:ahLst/>
            <a:cxnLst/>
            <a:rect l="l" t="t" r="r" b="b"/>
            <a:pathLst>
              <a:path w="399388" h="8135684">
                <a:moveTo>
                  <a:pt x="0" y="0"/>
                </a:moveTo>
                <a:lnTo>
                  <a:pt x="399388" y="0"/>
                </a:lnTo>
                <a:lnTo>
                  <a:pt x="399388" y="8135683"/>
                </a:lnTo>
                <a:lnTo>
                  <a:pt x="0" y="8135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 rot="-10800000">
            <a:off x="-895973" y="-128681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2"/>
                </a:lnTo>
                <a:lnTo>
                  <a:pt x="0" y="3604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Freeform 8"/>
          <p:cNvSpPr/>
          <p:nvPr/>
        </p:nvSpPr>
        <p:spPr>
          <a:xfrm rot="-10800000">
            <a:off x="15576737" y="7107131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1"/>
                </a:lnTo>
                <a:lnTo>
                  <a:pt x="0" y="3604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TextBox 9"/>
          <p:cNvSpPr txBox="1"/>
          <p:nvPr/>
        </p:nvSpPr>
        <p:spPr>
          <a:xfrm>
            <a:off x="1860477" y="4554579"/>
            <a:ext cx="14567046" cy="105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9"/>
              </a:lnSpc>
            </a:pPr>
            <a:r>
              <a:rPr lang="en-US" sz="6128" spc="-61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JENKINS CREDENTIALS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109527"/>
            <a:chOff x="0" y="0"/>
            <a:chExt cx="4816593" cy="2662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662592"/>
            </a:xfrm>
            <a:custGeom>
              <a:avLst/>
              <a:gdLst/>
              <a:ahLst/>
              <a:cxnLst/>
              <a:rect l="l" t="t" r="r" b="b"/>
              <a:pathLst>
                <a:path w="4816592" h="2662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00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87736" y="2100759"/>
            <a:ext cx="10935457" cy="6037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80"/>
              </a:lnSpc>
            </a:pPr>
            <a:r>
              <a:rPr lang="en-US" sz="248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Якщо Vault — це окрема система, то Jenkins має своє вбудоване сховище секретів.</a:t>
            </a:r>
          </a:p>
          <a:p>
            <a:pPr algn="l">
              <a:lnSpc>
                <a:spcPts val="3480"/>
              </a:lnSpc>
            </a:pPr>
            <a:endParaRPr lang="en-US" sz="2485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6706" lvl="1" indent="-268353" algn="l">
              <a:lnSpc>
                <a:spcPts val="3480"/>
              </a:lnSpc>
              <a:buFont typeface="Arial"/>
              <a:buChar char="•"/>
            </a:pPr>
            <a:r>
              <a:rPr lang="en-US" sz="248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Username + Password</a:t>
            </a:r>
          </a:p>
          <a:p>
            <a:pPr marL="536706" lvl="1" indent="-268353" algn="l">
              <a:lnSpc>
                <a:spcPts val="3480"/>
              </a:lnSpc>
              <a:buFont typeface="Arial"/>
              <a:buChar char="•"/>
            </a:pPr>
            <a:r>
              <a:rPr lang="en-US" sz="248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Secret Text</a:t>
            </a:r>
          </a:p>
          <a:p>
            <a:pPr marL="536706" lvl="1" indent="-268353" algn="l">
              <a:lnSpc>
                <a:spcPts val="3480"/>
              </a:lnSpc>
              <a:buFont typeface="Arial"/>
              <a:buChar char="•"/>
            </a:pPr>
            <a:r>
              <a:rPr lang="en-US" sz="248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SSH Key</a:t>
            </a:r>
          </a:p>
          <a:p>
            <a:pPr marL="536706" lvl="1" indent="-268353" algn="l">
              <a:lnSpc>
                <a:spcPts val="3480"/>
              </a:lnSpc>
              <a:buFont typeface="Arial"/>
              <a:buChar char="•"/>
            </a:pPr>
            <a:r>
              <a:rPr lang="en-US" sz="248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Certificate</a:t>
            </a:r>
          </a:p>
          <a:p>
            <a:pPr algn="l">
              <a:lnSpc>
                <a:spcPts val="3480"/>
              </a:lnSpc>
            </a:pPr>
            <a:endParaRPr lang="en-US" sz="2485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3480"/>
              </a:lnSpc>
            </a:pPr>
            <a:r>
              <a:rPr lang="en-US" sz="248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Переваги:</a:t>
            </a:r>
          </a:p>
          <a:p>
            <a:pPr algn="l">
              <a:lnSpc>
                <a:spcPts val="3480"/>
              </a:lnSpc>
            </a:pPr>
            <a:endParaRPr lang="en-US" sz="2485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536706" lvl="1" indent="-268353" algn="l">
              <a:lnSpc>
                <a:spcPts val="3480"/>
              </a:lnSpc>
              <a:buFont typeface="Arial"/>
              <a:buChar char="•"/>
            </a:pPr>
            <a:r>
              <a:rPr lang="en-US" sz="248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Зберігаються поза скриптом</a:t>
            </a:r>
          </a:p>
          <a:p>
            <a:pPr marL="536706" lvl="1" indent="-268353" algn="l">
              <a:lnSpc>
                <a:spcPts val="3480"/>
              </a:lnSpc>
              <a:buFont typeface="Arial"/>
              <a:buChar char="•"/>
            </a:pPr>
            <a:r>
              <a:rPr lang="en-US" sz="248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Можна обмежити область дії (global, folder, pipeline)</a:t>
            </a:r>
          </a:p>
          <a:p>
            <a:pPr marL="536706" lvl="1" indent="-268353" algn="l">
              <a:lnSpc>
                <a:spcPts val="3480"/>
              </a:lnSpc>
              <a:buFont typeface="Arial"/>
              <a:buChar char="•"/>
            </a:pPr>
            <a:r>
              <a:rPr lang="en-US" sz="2485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Доступ через credentialsId</a:t>
            </a:r>
          </a:p>
          <a:p>
            <a:pPr algn="l">
              <a:lnSpc>
                <a:spcPts val="3480"/>
              </a:lnSpc>
            </a:pPr>
            <a:endParaRPr lang="en-US" sz="2485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599260" y="396296"/>
            <a:ext cx="7416585" cy="6324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023"/>
              </a:lnSpc>
            </a:pPr>
            <a:r>
              <a:rPr lang="en-US" sz="3587" spc="-35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JENKINS CREDENTIALS</a:t>
            </a:r>
          </a:p>
        </p:txBody>
      </p:sp>
      <p:sp>
        <p:nvSpPr>
          <p:cNvPr id="8" name="AutoShape 8"/>
          <p:cNvSpPr/>
          <p:nvPr/>
        </p:nvSpPr>
        <p:spPr>
          <a:xfrm flipV="1">
            <a:off x="953864" y="1193787"/>
            <a:ext cx="8707377" cy="0"/>
          </a:xfrm>
          <a:prstGeom prst="line">
            <a:avLst/>
          </a:prstGeom>
          <a:ln w="19050" cap="flat">
            <a:solidFill>
              <a:srgbClr val="4059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9" name="Freeform 9"/>
          <p:cNvSpPr/>
          <p:nvPr/>
        </p:nvSpPr>
        <p:spPr>
          <a:xfrm rot="6758039" flipH="1">
            <a:off x="-1462713" y="8319239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0"/>
                </a:moveTo>
                <a:lnTo>
                  <a:pt x="0" y="0"/>
                </a:lnTo>
                <a:lnTo>
                  <a:pt x="0" y="2579840"/>
                </a:lnTo>
                <a:lnTo>
                  <a:pt x="2702689" y="2579840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10" name="Group 10"/>
          <p:cNvGrpSpPr/>
          <p:nvPr/>
        </p:nvGrpSpPr>
        <p:grpSpPr>
          <a:xfrm>
            <a:off x="14067484" y="-2546902"/>
            <a:ext cx="3252744" cy="5308602"/>
            <a:chOff x="0" y="0"/>
            <a:chExt cx="4677645" cy="763409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677645" cy="7634093"/>
            </a:xfrm>
            <a:custGeom>
              <a:avLst/>
              <a:gdLst/>
              <a:ahLst/>
              <a:cxnLst/>
              <a:rect l="l" t="t" r="r" b="b"/>
              <a:pathLst>
                <a:path w="4677645" h="7634093">
                  <a:moveTo>
                    <a:pt x="4677645" y="0"/>
                  </a:moveTo>
                  <a:lnTo>
                    <a:pt x="2994432" y="7634093"/>
                  </a:lnTo>
                  <a:lnTo>
                    <a:pt x="0" y="7634093"/>
                  </a:lnTo>
                  <a:lnTo>
                    <a:pt x="1663620" y="0"/>
                  </a:lnTo>
                  <a:lnTo>
                    <a:pt x="4677645" y="0"/>
                  </a:lnTo>
                  <a:close/>
                </a:path>
              </a:pathLst>
            </a:custGeom>
            <a:blipFill>
              <a:blip r:embed="rId5"/>
              <a:stretch>
                <a:fillRect l="-46057" b="-19324"/>
              </a:stretch>
            </a:blipFill>
          </p:spPr>
          <p:txBody>
            <a:bodyPr/>
            <a:lstStyle/>
            <a:p>
              <a:endParaRPr lang="en-UA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5207757" y="2556874"/>
            <a:ext cx="3252744" cy="5308602"/>
            <a:chOff x="0" y="0"/>
            <a:chExt cx="4677645" cy="763409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4677645" cy="7634093"/>
            </a:xfrm>
            <a:custGeom>
              <a:avLst/>
              <a:gdLst/>
              <a:ahLst/>
              <a:cxnLst/>
              <a:rect l="l" t="t" r="r" b="b"/>
              <a:pathLst>
                <a:path w="4677645" h="7634093">
                  <a:moveTo>
                    <a:pt x="4677645" y="0"/>
                  </a:moveTo>
                  <a:lnTo>
                    <a:pt x="2994432" y="7634093"/>
                  </a:lnTo>
                  <a:lnTo>
                    <a:pt x="0" y="7634093"/>
                  </a:lnTo>
                  <a:lnTo>
                    <a:pt x="1663620" y="0"/>
                  </a:lnTo>
                  <a:lnTo>
                    <a:pt x="4677645" y="0"/>
                  </a:lnTo>
                  <a:close/>
                </a:path>
              </a:pathLst>
            </a:custGeom>
            <a:blipFill>
              <a:blip r:embed="rId6"/>
              <a:stretch>
                <a:fillRect l="-91769" r="-53189"/>
              </a:stretch>
            </a:blipFill>
          </p:spPr>
          <p:txBody>
            <a:bodyPr/>
            <a:lstStyle/>
            <a:p>
              <a:endParaRPr lang="en-UA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25446" y="88736"/>
            <a:ext cx="18288000" cy="10109527"/>
            <a:chOff x="0" y="0"/>
            <a:chExt cx="4816593" cy="2662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662592"/>
            </a:xfrm>
            <a:custGeom>
              <a:avLst/>
              <a:gdLst/>
              <a:ahLst/>
              <a:cxnLst/>
              <a:rect l="l" t="t" r="r" b="b"/>
              <a:pathLst>
                <a:path w="4816592" h="2662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00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AutoShape 6"/>
          <p:cNvSpPr/>
          <p:nvPr/>
        </p:nvSpPr>
        <p:spPr>
          <a:xfrm>
            <a:off x="5897880" y="2242773"/>
            <a:ext cx="6492240" cy="0"/>
          </a:xfrm>
          <a:prstGeom prst="line">
            <a:avLst/>
          </a:prstGeom>
          <a:ln w="19050" cap="flat">
            <a:solidFill>
              <a:srgbClr val="4059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Box 7"/>
          <p:cNvSpPr txBox="1"/>
          <p:nvPr/>
        </p:nvSpPr>
        <p:spPr>
          <a:xfrm>
            <a:off x="1028700" y="987274"/>
            <a:ext cx="16172097" cy="956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51"/>
              </a:lnSpc>
            </a:pPr>
            <a:r>
              <a:rPr lang="en-US" sz="5465" spc="-54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JENKINS CREDENTIALS — ПРИКЛАД</a:t>
            </a:r>
          </a:p>
        </p:txBody>
      </p:sp>
      <p:sp>
        <p:nvSpPr>
          <p:cNvPr id="8" name="Freeform 8"/>
          <p:cNvSpPr/>
          <p:nvPr/>
        </p:nvSpPr>
        <p:spPr>
          <a:xfrm flipH="1" flipV="1">
            <a:off x="-719344" y="8954135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Freeform 9"/>
          <p:cNvSpPr/>
          <p:nvPr/>
        </p:nvSpPr>
        <p:spPr>
          <a:xfrm rot="-5400000" flipH="1">
            <a:off x="16666806" y="-1097009"/>
            <a:ext cx="2685507" cy="2563439"/>
          </a:xfrm>
          <a:custGeom>
            <a:avLst/>
            <a:gdLst/>
            <a:ahLst/>
            <a:cxnLst/>
            <a:rect l="l" t="t" r="r" b="b"/>
            <a:pathLst>
              <a:path w="2685507" h="2563439">
                <a:moveTo>
                  <a:pt x="2685507" y="0"/>
                </a:moveTo>
                <a:lnTo>
                  <a:pt x="0" y="0"/>
                </a:lnTo>
                <a:lnTo>
                  <a:pt x="0" y="2563439"/>
                </a:lnTo>
                <a:lnTo>
                  <a:pt x="2685507" y="2563439"/>
                </a:lnTo>
                <a:lnTo>
                  <a:pt x="26855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64301" y="1228238"/>
            <a:ext cx="12174418" cy="925092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8944306" y="5180427"/>
            <a:ext cx="399388" cy="8135684"/>
          </a:xfrm>
          <a:custGeom>
            <a:avLst/>
            <a:gdLst/>
            <a:ahLst/>
            <a:cxnLst/>
            <a:rect l="l" t="t" r="r" b="b"/>
            <a:pathLst>
              <a:path w="399388" h="8135684">
                <a:moveTo>
                  <a:pt x="0" y="0"/>
                </a:moveTo>
                <a:lnTo>
                  <a:pt x="399388" y="0"/>
                </a:lnTo>
                <a:lnTo>
                  <a:pt x="399388" y="8135683"/>
                </a:lnTo>
                <a:lnTo>
                  <a:pt x="0" y="8135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 rot="-10800000">
            <a:off x="-895973" y="-128681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2"/>
                </a:lnTo>
                <a:lnTo>
                  <a:pt x="0" y="3604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Freeform 8"/>
          <p:cNvSpPr/>
          <p:nvPr/>
        </p:nvSpPr>
        <p:spPr>
          <a:xfrm rot="-10800000">
            <a:off x="15576737" y="7107131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1"/>
                </a:lnTo>
                <a:lnTo>
                  <a:pt x="0" y="3604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TextBox 9"/>
          <p:cNvSpPr txBox="1"/>
          <p:nvPr/>
        </p:nvSpPr>
        <p:spPr>
          <a:xfrm>
            <a:off x="1860477" y="4011654"/>
            <a:ext cx="14567046" cy="21398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9"/>
              </a:lnSpc>
            </a:pPr>
            <a:r>
              <a:rPr lang="en-US" sz="6128" spc="-61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ЗАХИСТ ДОСТУПІВ У ANSIBLE та Terraform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-622533" y="-1700822"/>
            <a:ext cx="16027267" cy="12357683"/>
            <a:chOff x="0" y="0"/>
            <a:chExt cx="4221173" cy="32546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21173" cy="3254699"/>
            </a:xfrm>
            <a:custGeom>
              <a:avLst/>
              <a:gdLst/>
              <a:ahLst/>
              <a:cxnLst/>
              <a:rect l="l" t="t" r="r" b="b"/>
              <a:pathLst>
                <a:path w="4221173" h="3254699">
                  <a:moveTo>
                    <a:pt x="0" y="0"/>
                  </a:moveTo>
                  <a:lnTo>
                    <a:pt x="4221173" y="0"/>
                  </a:lnTo>
                  <a:lnTo>
                    <a:pt x="4221173" y="3254699"/>
                  </a:lnTo>
                  <a:lnTo>
                    <a:pt x="0" y="3254699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21173" cy="3292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5262544" y="2247053"/>
            <a:ext cx="284378" cy="5792893"/>
          </a:xfrm>
          <a:custGeom>
            <a:avLst/>
            <a:gdLst/>
            <a:ahLst/>
            <a:cxnLst/>
            <a:rect l="l" t="t" r="r" b="b"/>
            <a:pathLst>
              <a:path w="284378" h="5792893">
                <a:moveTo>
                  <a:pt x="0" y="0"/>
                </a:moveTo>
                <a:lnTo>
                  <a:pt x="284379" y="0"/>
                </a:lnTo>
                <a:lnTo>
                  <a:pt x="284379" y="5792894"/>
                </a:lnTo>
                <a:lnTo>
                  <a:pt x="0" y="57928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 rot="-10800000">
            <a:off x="13211842" y="-1556309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1"/>
                </a:lnTo>
                <a:lnTo>
                  <a:pt x="0" y="3604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Freeform 8"/>
          <p:cNvSpPr/>
          <p:nvPr/>
        </p:nvSpPr>
        <p:spPr>
          <a:xfrm rot="-10800000" flipH="1">
            <a:off x="13753500" y="8484869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3775893" y="0"/>
                </a:moveTo>
                <a:lnTo>
                  <a:pt x="0" y="0"/>
                </a:lnTo>
                <a:lnTo>
                  <a:pt x="0" y="3604262"/>
                </a:lnTo>
                <a:lnTo>
                  <a:pt x="3775893" y="3604262"/>
                </a:lnTo>
                <a:lnTo>
                  <a:pt x="37758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TextBox 9"/>
          <p:cNvSpPr txBox="1"/>
          <p:nvPr/>
        </p:nvSpPr>
        <p:spPr>
          <a:xfrm>
            <a:off x="1772560" y="2123228"/>
            <a:ext cx="12056166" cy="1094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6428" spc="-64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ANSIBLE VAULT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72560" y="4420870"/>
            <a:ext cx="13327228" cy="1967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Ansible Vault — це не зовсім сховище, а інструмент для шифрування файлів.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Наприклад, якщо в group_vars є файл з паролем, ми можемо його зашифрувати — тоді він буде непридатним для читання без ключа.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Vault інтегрується у ansible-playbook через параметр --ask-vault-pass.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-5178423" y="-532742"/>
            <a:ext cx="23466423" cy="10776797"/>
            <a:chOff x="0" y="0"/>
            <a:chExt cx="6180457" cy="2838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180457" cy="2838334"/>
            </a:xfrm>
            <a:custGeom>
              <a:avLst/>
              <a:gdLst/>
              <a:ahLst/>
              <a:cxnLst/>
              <a:rect l="l" t="t" r="r" b="b"/>
              <a:pathLst>
                <a:path w="6180457" h="2838334">
                  <a:moveTo>
                    <a:pt x="0" y="0"/>
                  </a:moveTo>
                  <a:lnTo>
                    <a:pt x="6180457" y="0"/>
                  </a:lnTo>
                  <a:lnTo>
                    <a:pt x="6180457" y="2838334"/>
                  </a:lnTo>
                  <a:lnTo>
                    <a:pt x="0" y="2838334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57150"/>
              <a:ext cx="6180457" cy="2895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919"/>
                </a:lnSpc>
                <a:spcBef>
                  <a:spcPct val="0"/>
                </a:spcBef>
              </a:pPr>
              <a:r>
                <a:rPr lang="en-US" sz="2799">
                  <a:solidFill>
                    <a:srgbClr val="FFFFFF">
                      <a:alpha val="69804"/>
                    </a:srgbClr>
                  </a:solidFill>
                  <a:latin typeface="Canva Sans"/>
                  <a:ea typeface="Canva Sans"/>
                  <a:cs typeface="Canva Sans"/>
                  <a:sym typeface="Canva Sans"/>
                </a:rPr>
                <a:t>Доступ до таких файлів у playbook відбувається прозоро: 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5897880" y="2242773"/>
            <a:ext cx="6492240" cy="0"/>
          </a:xfrm>
          <a:prstGeom prst="line">
            <a:avLst/>
          </a:prstGeom>
          <a:ln w="19050" cap="flat">
            <a:solidFill>
              <a:srgbClr val="4059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7" name="TextBox 7"/>
          <p:cNvSpPr txBox="1"/>
          <p:nvPr/>
        </p:nvSpPr>
        <p:spPr>
          <a:xfrm>
            <a:off x="1083397" y="1182219"/>
            <a:ext cx="16172097" cy="614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91"/>
              </a:lnSpc>
            </a:pPr>
            <a:r>
              <a:rPr lang="en-US" sz="3565" spc="-35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ПРИКЛАД СТВОРЕННЯ ЗАШИФРОВАНОГО ФАЙЛУ VARS.YML :</a:t>
            </a:r>
          </a:p>
        </p:txBody>
      </p:sp>
      <p:sp>
        <p:nvSpPr>
          <p:cNvPr id="8" name="Freeform 8"/>
          <p:cNvSpPr/>
          <p:nvPr/>
        </p:nvSpPr>
        <p:spPr>
          <a:xfrm flipH="1" flipV="1">
            <a:off x="-719344" y="8954135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2579840"/>
                </a:moveTo>
                <a:lnTo>
                  <a:pt x="0" y="2579840"/>
                </a:lnTo>
                <a:lnTo>
                  <a:pt x="0" y="0"/>
                </a:lnTo>
                <a:lnTo>
                  <a:pt x="2702689" y="0"/>
                </a:lnTo>
                <a:lnTo>
                  <a:pt x="2702689" y="257984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Freeform 9"/>
          <p:cNvSpPr/>
          <p:nvPr/>
        </p:nvSpPr>
        <p:spPr>
          <a:xfrm rot="-5400000" flipH="1">
            <a:off x="16666806" y="-1097009"/>
            <a:ext cx="2685507" cy="2563439"/>
          </a:xfrm>
          <a:custGeom>
            <a:avLst/>
            <a:gdLst/>
            <a:ahLst/>
            <a:cxnLst/>
            <a:rect l="l" t="t" r="r" b="b"/>
            <a:pathLst>
              <a:path w="2685507" h="2563439">
                <a:moveTo>
                  <a:pt x="2685507" y="0"/>
                </a:moveTo>
                <a:lnTo>
                  <a:pt x="0" y="0"/>
                </a:lnTo>
                <a:lnTo>
                  <a:pt x="0" y="2563439"/>
                </a:lnTo>
                <a:lnTo>
                  <a:pt x="2685507" y="2563439"/>
                </a:lnTo>
                <a:lnTo>
                  <a:pt x="268550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0" name="Freeform 10"/>
          <p:cNvSpPr/>
          <p:nvPr/>
        </p:nvSpPr>
        <p:spPr>
          <a:xfrm>
            <a:off x="4671373" y="2690448"/>
            <a:ext cx="8337232" cy="1446255"/>
          </a:xfrm>
          <a:custGeom>
            <a:avLst/>
            <a:gdLst/>
            <a:ahLst/>
            <a:cxnLst/>
            <a:rect l="l" t="t" r="r" b="b"/>
            <a:pathLst>
              <a:path w="8337232" h="1446255">
                <a:moveTo>
                  <a:pt x="0" y="0"/>
                </a:moveTo>
                <a:lnTo>
                  <a:pt x="8337232" y="0"/>
                </a:lnTo>
                <a:lnTo>
                  <a:pt x="8337232" y="1446255"/>
                </a:lnTo>
                <a:lnTo>
                  <a:pt x="0" y="144625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1" name="Freeform 11"/>
          <p:cNvSpPr/>
          <p:nvPr/>
        </p:nvSpPr>
        <p:spPr>
          <a:xfrm>
            <a:off x="4162746" y="5778067"/>
            <a:ext cx="9962509" cy="2956909"/>
          </a:xfrm>
          <a:custGeom>
            <a:avLst/>
            <a:gdLst/>
            <a:ahLst/>
            <a:cxnLst/>
            <a:rect l="l" t="t" r="r" b="b"/>
            <a:pathLst>
              <a:path w="9962509" h="2956909">
                <a:moveTo>
                  <a:pt x="0" y="0"/>
                </a:moveTo>
                <a:lnTo>
                  <a:pt x="9962508" y="0"/>
                </a:lnTo>
                <a:lnTo>
                  <a:pt x="9962508" y="2956909"/>
                </a:lnTo>
                <a:lnTo>
                  <a:pt x="0" y="295690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-622533" y="-1700822"/>
            <a:ext cx="16027267" cy="12357683"/>
            <a:chOff x="0" y="0"/>
            <a:chExt cx="4221173" cy="32546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21173" cy="3254699"/>
            </a:xfrm>
            <a:custGeom>
              <a:avLst/>
              <a:gdLst/>
              <a:ahLst/>
              <a:cxnLst/>
              <a:rect l="l" t="t" r="r" b="b"/>
              <a:pathLst>
                <a:path w="4221173" h="3254699">
                  <a:moveTo>
                    <a:pt x="0" y="0"/>
                  </a:moveTo>
                  <a:lnTo>
                    <a:pt x="4221173" y="0"/>
                  </a:lnTo>
                  <a:lnTo>
                    <a:pt x="4221173" y="3254699"/>
                  </a:lnTo>
                  <a:lnTo>
                    <a:pt x="0" y="3254699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21173" cy="3292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5262544" y="2247053"/>
            <a:ext cx="284378" cy="5792893"/>
          </a:xfrm>
          <a:custGeom>
            <a:avLst/>
            <a:gdLst/>
            <a:ahLst/>
            <a:cxnLst/>
            <a:rect l="l" t="t" r="r" b="b"/>
            <a:pathLst>
              <a:path w="284378" h="5792893">
                <a:moveTo>
                  <a:pt x="0" y="0"/>
                </a:moveTo>
                <a:lnTo>
                  <a:pt x="284379" y="0"/>
                </a:lnTo>
                <a:lnTo>
                  <a:pt x="284379" y="5792894"/>
                </a:lnTo>
                <a:lnTo>
                  <a:pt x="0" y="57928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>
            <a:off x="1808989" y="2481116"/>
            <a:ext cx="14670021" cy="6430396"/>
          </a:xfrm>
          <a:custGeom>
            <a:avLst/>
            <a:gdLst/>
            <a:ahLst/>
            <a:cxnLst/>
            <a:rect l="l" t="t" r="r" b="b"/>
            <a:pathLst>
              <a:path w="14670021" h="6430396">
                <a:moveTo>
                  <a:pt x="0" y="0"/>
                </a:moveTo>
                <a:lnTo>
                  <a:pt x="14670022" y="0"/>
                </a:lnTo>
                <a:lnTo>
                  <a:pt x="14670022" y="6430396"/>
                </a:lnTo>
                <a:lnTo>
                  <a:pt x="0" y="64303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TextBox 8"/>
          <p:cNvSpPr txBox="1"/>
          <p:nvPr/>
        </p:nvSpPr>
        <p:spPr>
          <a:xfrm>
            <a:off x="1028700" y="914400"/>
            <a:ext cx="13774362" cy="921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59"/>
              </a:lnSpc>
            </a:pPr>
            <a:r>
              <a:rPr lang="en-US" sz="5328" spc="-53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ІНШІ КОРИСНІ КОМАНДИ VAULT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-622533" y="-1700822"/>
            <a:ext cx="16027267" cy="12357683"/>
            <a:chOff x="0" y="0"/>
            <a:chExt cx="4221173" cy="32546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21173" cy="3254699"/>
            </a:xfrm>
            <a:custGeom>
              <a:avLst/>
              <a:gdLst/>
              <a:ahLst/>
              <a:cxnLst/>
              <a:rect l="l" t="t" r="r" b="b"/>
              <a:pathLst>
                <a:path w="4221173" h="3254699">
                  <a:moveTo>
                    <a:pt x="0" y="0"/>
                  </a:moveTo>
                  <a:lnTo>
                    <a:pt x="4221173" y="0"/>
                  </a:lnTo>
                  <a:lnTo>
                    <a:pt x="4221173" y="3254699"/>
                  </a:lnTo>
                  <a:lnTo>
                    <a:pt x="0" y="3254699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21173" cy="3292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5262544" y="2247053"/>
            <a:ext cx="284378" cy="5792893"/>
          </a:xfrm>
          <a:custGeom>
            <a:avLst/>
            <a:gdLst/>
            <a:ahLst/>
            <a:cxnLst/>
            <a:rect l="l" t="t" r="r" b="b"/>
            <a:pathLst>
              <a:path w="284378" h="5792893">
                <a:moveTo>
                  <a:pt x="0" y="0"/>
                </a:moveTo>
                <a:lnTo>
                  <a:pt x="284379" y="0"/>
                </a:lnTo>
                <a:lnTo>
                  <a:pt x="284379" y="5792894"/>
                </a:lnTo>
                <a:lnTo>
                  <a:pt x="0" y="57928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 rot="-10800000">
            <a:off x="13211842" y="-1556309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1"/>
                </a:lnTo>
                <a:lnTo>
                  <a:pt x="0" y="3604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Freeform 8"/>
          <p:cNvSpPr/>
          <p:nvPr/>
        </p:nvSpPr>
        <p:spPr>
          <a:xfrm rot="-10800000" flipH="1">
            <a:off x="13753500" y="8484869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3775893" y="0"/>
                </a:moveTo>
                <a:lnTo>
                  <a:pt x="0" y="0"/>
                </a:lnTo>
                <a:lnTo>
                  <a:pt x="0" y="3604262"/>
                </a:lnTo>
                <a:lnTo>
                  <a:pt x="3775893" y="3604262"/>
                </a:lnTo>
                <a:lnTo>
                  <a:pt x="37758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TextBox 9"/>
          <p:cNvSpPr txBox="1"/>
          <p:nvPr/>
        </p:nvSpPr>
        <p:spPr>
          <a:xfrm>
            <a:off x="1363017" y="1439028"/>
            <a:ext cx="12056166" cy="10940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999"/>
              </a:lnSpc>
            </a:pPr>
            <a:r>
              <a:rPr lang="en-US" sz="6428" spc="-64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БАЗОВІ РЕКОМЕНДАЦІЇ: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72560" y="3100916"/>
            <a:ext cx="13327228" cy="4939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Шифруйте тільки те, що дійсно є секретним, а не всі файли підряд. 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Зберігайте пароль Vault поза репозиторієм (наприклад, у захищеному файлі з обмеженим доступом). 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Регулярно змінюйте (rotate) ключі шифрування через команду ansible-vault rekey . 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При потребі використовуйте кілька ключів (Vault IDs) для різних наборів секретів (наприклад, окремі для dev та prod) та забезпечуйте автоматичне підключення пароля (через середовище чи CI/CD) для безперервної роботи.</a:t>
            </a:r>
          </a:p>
          <a:p>
            <a:pPr algn="l">
              <a:lnSpc>
                <a:spcPts val="3919"/>
              </a:lnSpc>
            </a:pPr>
            <a:endParaRPr lang="en-US" sz="27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109527"/>
            <a:chOff x="0" y="0"/>
            <a:chExt cx="4816593" cy="2662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662592"/>
            </a:xfrm>
            <a:custGeom>
              <a:avLst/>
              <a:gdLst/>
              <a:ahLst/>
              <a:cxnLst/>
              <a:rect l="l" t="t" r="r" b="b"/>
              <a:pathLst>
                <a:path w="4816592" h="2662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00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3275">
            <a:off x="16098193" y="-307764"/>
            <a:ext cx="6995160" cy="5246370"/>
            <a:chOff x="0" y="0"/>
            <a:chExt cx="812800" cy="609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3"/>
              <a:stretch>
                <a:fillRect l="-12570"/>
              </a:stretch>
            </a:blipFill>
          </p:spPr>
          <p:txBody>
            <a:bodyPr/>
            <a:lstStyle/>
            <a:p>
              <a:endParaRPr lang="en-UA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23320" y="4214334"/>
            <a:ext cx="13553840" cy="22435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25"/>
              </a:lnSpc>
            </a:pPr>
            <a:r>
              <a:rPr lang="en-US" sz="25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В Terraform також важливо не захардкоджувати ключі чи токени у файлах конфігурацій. </a:t>
            </a:r>
          </a:p>
          <a:p>
            <a:pPr algn="l">
              <a:lnSpc>
                <a:spcPts val="3625"/>
              </a:lnSpc>
            </a:pPr>
            <a:r>
              <a:rPr lang="en-US" sz="25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Замість цього використовують зовнішні механізми: вбудовані провайдери Vault/AWS/Azure, або змінні, які передаються через середовище чи зашифровані tfvars.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904875"/>
            <a:ext cx="6505129" cy="192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1"/>
              </a:lnSpc>
            </a:pPr>
            <a:r>
              <a:rPr lang="en-US" sz="5465" spc="-54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TERRAFORM ТА СЕКРЕТИ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028700" y="3293453"/>
            <a:ext cx="5060905" cy="0"/>
          </a:xfrm>
          <a:prstGeom prst="line">
            <a:avLst/>
          </a:prstGeom>
          <a:ln w="19050" cap="flat">
            <a:solidFill>
              <a:srgbClr val="4059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11" name="Freeform 11"/>
          <p:cNvSpPr/>
          <p:nvPr/>
        </p:nvSpPr>
        <p:spPr>
          <a:xfrm rot="-1513427" flipH="1">
            <a:off x="-1051562" y="8334923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0"/>
                </a:moveTo>
                <a:lnTo>
                  <a:pt x="0" y="0"/>
                </a:lnTo>
                <a:lnTo>
                  <a:pt x="0" y="2579839"/>
                </a:lnTo>
                <a:lnTo>
                  <a:pt x="2702689" y="2579839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12" name="Group 12"/>
          <p:cNvGrpSpPr/>
          <p:nvPr/>
        </p:nvGrpSpPr>
        <p:grpSpPr>
          <a:xfrm rot="3275">
            <a:off x="14255001" y="5142785"/>
            <a:ext cx="6995160" cy="5246370"/>
            <a:chOff x="0" y="0"/>
            <a:chExt cx="812800" cy="6096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609600"/>
            </a:xfrm>
            <a:custGeom>
              <a:avLst/>
              <a:gdLst/>
              <a:ahLst/>
              <a:cxnLst/>
              <a:rect l="l" t="t" r="r" b="b"/>
              <a:pathLst>
                <a:path w="812800" h="609600">
                  <a:moveTo>
                    <a:pt x="203200" y="0"/>
                  </a:moveTo>
                  <a:lnTo>
                    <a:pt x="812800" y="0"/>
                  </a:lnTo>
                  <a:lnTo>
                    <a:pt x="609600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  <p:txBody>
            <a:bodyPr/>
            <a:lstStyle/>
            <a:p>
              <a:endParaRPr lang="en-UA"/>
            </a:p>
          </p:txBody>
        </p: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-97752" y="-1561807"/>
            <a:ext cx="16027267" cy="12357683"/>
            <a:chOff x="0" y="0"/>
            <a:chExt cx="4221173" cy="32546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21173" cy="3254699"/>
            </a:xfrm>
            <a:custGeom>
              <a:avLst/>
              <a:gdLst/>
              <a:ahLst/>
              <a:cxnLst/>
              <a:rect l="l" t="t" r="r" b="b"/>
              <a:pathLst>
                <a:path w="4221173" h="3254699">
                  <a:moveTo>
                    <a:pt x="0" y="0"/>
                  </a:moveTo>
                  <a:lnTo>
                    <a:pt x="4221173" y="0"/>
                  </a:lnTo>
                  <a:lnTo>
                    <a:pt x="4221173" y="3254699"/>
                  </a:lnTo>
                  <a:lnTo>
                    <a:pt x="0" y="3254699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21173" cy="3292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5262544" y="2247053"/>
            <a:ext cx="284378" cy="5792893"/>
          </a:xfrm>
          <a:custGeom>
            <a:avLst/>
            <a:gdLst/>
            <a:ahLst/>
            <a:cxnLst/>
            <a:rect l="l" t="t" r="r" b="b"/>
            <a:pathLst>
              <a:path w="284378" h="5792893">
                <a:moveTo>
                  <a:pt x="0" y="0"/>
                </a:moveTo>
                <a:lnTo>
                  <a:pt x="284379" y="0"/>
                </a:lnTo>
                <a:lnTo>
                  <a:pt x="284379" y="5792894"/>
                </a:lnTo>
                <a:lnTo>
                  <a:pt x="0" y="57928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>
            <a:off x="1028700" y="4246990"/>
            <a:ext cx="8626776" cy="5011310"/>
          </a:xfrm>
          <a:custGeom>
            <a:avLst/>
            <a:gdLst/>
            <a:ahLst/>
            <a:cxnLst/>
            <a:rect l="l" t="t" r="r" b="b"/>
            <a:pathLst>
              <a:path w="8626776" h="5011310">
                <a:moveTo>
                  <a:pt x="0" y="0"/>
                </a:moveTo>
                <a:lnTo>
                  <a:pt x="8626776" y="0"/>
                </a:lnTo>
                <a:lnTo>
                  <a:pt x="8626776" y="5011310"/>
                </a:lnTo>
                <a:lnTo>
                  <a:pt x="0" y="501131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TextBox 8"/>
          <p:cNvSpPr txBox="1"/>
          <p:nvPr/>
        </p:nvSpPr>
        <p:spPr>
          <a:xfrm>
            <a:off x="1028700" y="510581"/>
            <a:ext cx="13774362" cy="18649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59"/>
              </a:lnSpc>
            </a:pPr>
            <a:r>
              <a:rPr lang="en-US" sz="5328" spc="-53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ПРИКЛАД З ВИКОРИСТАННЯМ TERRAFORM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8474" y="2824185"/>
            <a:ext cx="16035980" cy="1054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    У самих файлах можна визначити змінні з позначкою sensitive = true , щоб Terraform не виводив їх у логах або UI 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-97752" y="-1561807"/>
            <a:ext cx="16027267" cy="12357683"/>
            <a:chOff x="0" y="0"/>
            <a:chExt cx="4221173" cy="32546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21173" cy="3254699"/>
            </a:xfrm>
            <a:custGeom>
              <a:avLst/>
              <a:gdLst/>
              <a:ahLst/>
              <a:cxnLst/>
              <a:rect l="l" t="t" r="r" b="b"/>
              <a:pathLst>
                <a:path w="4221173" h="3254699">
                  <a:moveTo>
                    <a:pt x="0" y="0"/>
                  </a:moveTo>
                  <a:lnTo>
                    <a:pt x="4221173" y="0"/>
                  </a:lnTo>
                  <a:lnTo>
                    <a:pt x="4221173" y="3254699"/>
                  </a:lnTo>
                  <a:lnTo>
                    <a:pt x="0" y="3254699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21173" cy="3292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5262544" y="2247053"/>
            <a:ext cx="284378" cy="5792893"/>
          </a:xfrm>
          <a:custGeom>
            <a:avLst/>
            <a:gdLst/>
            <a:ahLst/>
            <a:cxnLst/>
            <a:rect l="l" t="t" r="r" b="b"/>
            <a:pathLst>
              <a:path w="284378" h="5792893">
                <a:moveTo>
                  <a:pt x="0" y="0"/>
                </a:moveTo>
                <a:lnTo>
                  <a:pt x="284379" y="0"/>
                </a:lnTo>
                <a:lnTo>
                  <a:pt x="284379" y="5792894"/>
                </a:lnTo>
                <a:lnTo>
                  <a:pt x="0" y="57928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>
            <a:off x="778474" y="6051931"/>
            <a:ext cx="10811870" cy="3521297"/>
          </a:xfrm>
          <a:custGeom>
            <a:avLst/>
            <a:gdLst/>
            <a:ahLst/>
            <a:cxnLst/>
            <a:rect l="l" t="t" r="r" b="b"/>
            <a:pathLst>
              <a:path w="10811870" h="3521297">
                <a:moveTo>
                  <a:pt x="0" y="0"/>
                </a:moveTo>
                <a:lnTo>
                  <a:pt x="10811870" y="0"/>
                </a:lnTo>
                <a:lnTo>
                  <a:pt x="10811870" y="3521297"/>
                </a:lnTo>
                <a:lnTo>
                  <a:pt x="0" y="352129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TextBox 8"/>
          <p:cNvSpPr txBox="1"/>
          <p:nvPr/>
        </p:nvSpPr>
        <p:spPr>
          <a:xfrm>
            <a:off x="1028700" y="914400"/>
            <a:ext cx="13774362" cy="921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59"/>
              </a:lnSpc>
            </a:pPr>
            <a:r>
              <a:rPr lang="en-US" sz="5328" spc="-53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TERRAFORM STATE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78474" y="2824185"/>
            <a:ext cx="16035980" cy="1597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Стан Terraform (state) містить багато інформації про інфраструктуру, тому його слід зберігати в безпечному бекенді: наприклад, у S3 з увімкненим шифруванням на стороні сервера (SSE) і контролем доступу (IAM, KMS) 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8474" y="5076825"/>
            <a:ext cx="7863537" cy="5638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У конфігурації це може виглядати так: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-97752" y="-1561807"/>
            <a:ext cx="16027267" cy="12357683"/>
            <a:chOff x="0" y="0"/>
            <a:chExt cx="4221173" cy="32546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21173" cy="3254699"/>
            </a:xfrm>
            <a:custGeom>
              <a:avLst/>
              <a:gdLst/>
              <a:ahLst/>
              <a:cxnLst/>
              <a:rect l="l" t="t" r="r" b="b"/>
              <a:pathLst>
                <a:path w="4221173" h="3254699">
                  <a:moveTo>
                    <a:pt x="0" y="0"/>
                  </a:moveTo>
                  <a:lnTo>
                    <a:pt x="4221173" y="0"/>
                  </a:lnTo>
                  <a:lnTo>
                    <a:pt x="4221173" y="3254699"/>
                  </a:lnTo>
                  <a:lnTo>
                    <a:pt x="0" y="3254699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21173" cy="3292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5262544" y="2247053"/>
            <a:ext cx="284378" cy="5792893"/>
          </a:xfrm>
          <a:custGeom>
            <a:avLst/>
            <a:gdLst/>
            <a:ahLst/>
            <a:cxnLst/>
            <a:rect l="l" t="t" r="r" b="b"/>
            <a:pathLst>
              <a:path w="284378" h="5792893">
                <a:moveTo>
                  <a:pt x="0" y="0"/>
                </a:moveTo>
                <a:lnTo>
                  <a:pt x="284379" y="0"/>
                </a:lnTo>
                <a:lnTo>
                  <a:pt x="284379" y="5792894"/>
                </a:lnTo>
                <a:lnTo>
                  <a:pt x="0" y="57928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>
            <a:off x="3739850" y="4617034"/>
            <a:ext cx="10808300" cy="5048287"/>
          </a:xfrm>
          <a:custGeom>
            <a:avLst/>
            <a:gdLst/>
            <a:ahLst/>
            <a:cxnLst/>
            <a:rect l="l" t="t" r="r" b="b"/>
            <a:pathLst>
              <a:path w="10808300" h="5048287">
                <a:moveTo>
                  <a:pt x="0" y="0"/>
                </a:moveTo>
                <a:lnTo>
                  <a:pt x="10808300" y="0"/>
                </a:lnTo>
                <a:lnTo>
                  <a:pt x="10808300" y="5048288"/>
                </a:lnTo>
                <a:lnTo>
                  <a:pt x="0" y="50482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TextBox 8"/>
          <p:cNvSpPr txBox="1"/>
          <p:nvPr/>
        </p:nvSpPr>
        <p:spPr>
          <a:xfrm>
            <a:off x="8517552" y="915541"/>
            <a:ext cx="13774362" cy="921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59"/>
              </a:lnSpc>
            </a:pPr>
            <a:r>
              <a:rPr lang="en-US" sz="5328" spc="-53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TERRAFORM STATE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99563" y="2199428"/>
            <a:ext cx="16035980" cy="26837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Найкраща практика – брати секрети безпосередньо з провайдера Vault або хмарного сховища. </a:t>
            </a:r>
          </a:p>
          <a:p>
            <a:pPr algn="just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Наприклад, використовуючи Vault Provider для Terraform можна отримати облікові дані динамічно : </a:t>
            </a:r>
          </a:p>
          <a:p>
            <a:pPr algn="just">
              <a:lnSpc>
                <a:spcPts val="4325"/>
              </a:lnSpc>
              <a:spcBef>
                <a:spcPct val="0"/>
              </a:spcBef>
            </a:pPr>
            <a:endParaRPr lang="en-US" sz="308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6027267" cy="12357683"/>
            <a:chOff x="0" y="0"/>
            <a:chExt cx="4221173" cy="32546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21173" cy="3254699"/>
            </a:xfrm>
            <a:custGeom>
              <a:avLst/>
              <a:gdLst/>
              <a:ahLst/>
              <a:cxnLst/>
              <a:rect l="l" t="t" r="r" b="b"/>
              <a:pathLst>
                <a:path w="4221173" h="3254699">
                  <a:moveTo>
                    <a:pt x="0" y="0"/>
                  </a:moveTo>
                  <a:lnTo>
                    <a:pt x="4221173" y="0"/>
                  </a:lnTo>
                  <a:lnTo>
                    <a:pt x="4221173" y="3254699"/>
                  </a:lnTo>
                  <a:lnTo>
                    <a:pt x="0" y="3254699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21173" cy="3292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5262544" y="2247053"/>
            <a:ext cx="284378" cy="5792893"/>
          </a:xfrm>
          <a:custGeom>
            <a:avLst/>
            <a:gdLst/>
            <a:ahLst/>
            <a:cxnLst/>
            <a:rect l="l" t="t" r="r" b="b"/>
            <a:pathLst>
              <a:path w="284378" h="5792893">
                <a:moveTo>
                  <a:pt x="0" y="0"/>
                </a:moveTo>
                <a:lnTo>
                  <a:pt x="284379" y="0"/>
                </a:lnTo>
                <a:lnTo>
                  <a:pt x="284379" y="5792894"/>
                </a:lnTo>
                <a:lnTo>
                  <a:pt x="0" y="57928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TextBox 7"/>
          <p:cNvSpPr txBox="1"/>
          <p:nvPr/>
        </p:nvSpPr>
        <p:spPr>
          <a:xfrm>
            <a:off x="2417964" y="914400"/>
            <a:ext cx="17927747" cy="9219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59"/>
              </a:lnSpc>
            </a:pPr>
            <a:r>
              <a:rPr lang="en-US" sz="5328" spc="-53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РЕКОМЕНДАЦІЇ ЩОДО TERRAFORM: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417964" y="2533063"/>
            <a:ext cx="14006367" cy="5941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7128" lvl="1" indent="-333564" algn="just">
              <a:lnSpc>
                <a:spcPts val="4325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Не хардкодьте ключі в коді, використовуйте зовнішні сховища. </a:t>
            </a:r>
          </a:p>
          <a:p>
            <a:pPr algn="just">
              <a:lnSpc>
                <a:spcPts val="4325"/>
              </a:lnSpc>
            </a:pPr>
            <a:endParaRPr lang="en-US" sz="308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67128" lvl="1" indent="-333564" algn="just">
              <a:lnSpc>
                <a:spcPts val="4325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Регулярно перевіряйте та оновлюйте змінні. </a:t>
            </a:r>
          </a:p>
          <a:p>
            <a:pPr algn="just">
              <a:lnSpc>
                <a:spcPts val="4325"/>
              </a:lnSpc>
            </a:pPr>
            <a:endParaRPr lang="en-US" sz="308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67128" lvl="1" indent="-333564" algn="just">
              <a:lnSpc>
                <a:spcPts val="4325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Обмежуйте доступ через RBAC: наприклад, якщо ви використовуєте Terraform Cloud/Enterprise, можна позначати змінні як sensitive, щоб в UI їх не було видно, і давати до них доступ лише необхідним користувачам . </a:t>
            </a:r>
          </a:p>
          <a:p>
            <a:pPr algn="just">
              <a:lnSpc>
                <a:spcPts val="4325"/>
              </a:lnSpc>
            </a:pPr>
            <a:endParaRPr lang="en-US" sz="308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marL="667128" lvl="1" indent="-333564" algn="just">
              <a:lnSpc>
                <a:spcPts val="4325"/>
              </a:lnSpc>
              <a:buFont typeface="Arial"/>
              <a:buChar char="•"/>
            </a:pPr>
            <a:r>
              <a:rPr lang="en-US" sz="30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Обов’язково шифруйте і бекапіть state-файли, адже там є метадані інфраструктури, які не повинні просочуватись. 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8944306" y="5180427"/>
            <a:ext cx="399388" cy="8135684"/>
          </a:xfrm>
          <a:custGeom>
            <a:avLst/>
            <a:gdLst/>
            <a:ahLst/>
            <a:cxnLst/>
            <a:rect l="l" t="t" r="r" b="b"/>
            <a:pathLst>
              <a:path w="399388" h="8135684">
                <a:moveTo>
                  <a:pt x="0" y="0"/>
                </a:moveTo>
                <a:lnTo>
                  <a:pt x="399388" y="0"/>
                </a:lnTo>
                <a:lnTo>
                  <a:pt x="399388" y="8135683"/>
                </a:lnTo>
                <a:lnTo>
                  <a:pt x="0" y="8135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 rot="-10800000">
            <a:off x="-895973" y="-128681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2"/>
                </a:lnTo>
                <a:lnTo>
                  <a:pt x="0" y="3604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Freeform 8"/>
          <p:cNvSpPr/>
          <p:nvPr/>
        </p:nvSpPr>
        <p:spPr>
          <a:xfrm rot="-10800000">
            <a:off x="15576737" y="7107131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1"/>
                </a:lnTo>
                <a:lnTo>
                  <a:pt x="0" y="3604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TextBox 9"/>
          <p:cNvSpPr txBox="1"/>
          <p:nvPr/>
        </p:nvSpPr>
        <p:spPr>
          <a:xfrm>
            <a:off x="1860477" y="4554579"/>
            <a:ext cx="14567046" cy="105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9"/>
              </a:lnSpc>
            </a:pPr>
            <a:r>
              <a:rPr lang="en-US" sz="6128" spc="-61">
                <a:solidFill>
                  <a:srgbClr val="F3F8FF"/>
                </a:solidFill>
                <a:latin typeface="Mokoto"/>
                <a:ea typeface="Mokoto"/>
                <a:cs typeface="Mokoto"/>
                <a:sym typeface="Mokoto"/>
              </a:rPr>
              <a:t>KUBERNETES SECRET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1232033" y="-1527815"/>
            <a:ext cx="16027267" cy="12357683"/>
            <a:chOff x="0" y="0"/>
            <a:chExt cx="4221173" cy="32546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21173" cy="3254699"/>
            </a:xfrm>
            <a:custGeom>
              <a:avLst/>
              <a:gdLst/>
              <a:ahLst/>
              <a:cxnLst/>
              <a:rect l="l" t="t" r="r" b="b"/>
              <a:pathLst>
                <a:path w="4221173" h="3254699">
                  <a:moveTo>
                    <a:pt x="0" y="0"/>
                  </a:moveTo>
                  <a:lnTo>
                    <a:pt x="4221173" y="0"/>
                  </a:lnTo>
                  <a:lnTo>
                    <a:pt x="4221173" y="3254699"/>
                  </a:lnTo>
                  <a:lnTo>
                    <a:pt x="0" y="3254699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21173" cy="3292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5262544" y="2247053"/>
            <a:ext cx="284378" cy="5792893"/>
          </a:xfrm>
          <a:custGeom>
            <a:avLst/>
            <a:gdLst/>
            <a:ahLst/>
            <a:cxnLst/>
            <a:rect l="l" t="t" r="r" b="b"/>
            <a:pathLst>
              <a:path w="284378" h="5792893">
                <a:moveTo>
                  <a:pt x="0" y="0"/>
                </a:moveTo>
                <a:lnTo>
                  <a:pt x="284379" y="0"/>
                </a:lnTo>
                <a:lnTo>
                  <a:pt x="284379" y="5792894"/>
                </a:lnTo>
                <a:lnTo>
                  <a:pt x="0" y="57928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TextBox 7"/>
          <p:cNvSpPr txBox="1"/>
          <p:nvPr/>
        </p:nvSpPr>
        <p:spPr>
          <a:xfrm>
            <a:off x="2057400" y="1984219"/>
            <a:ext cx="14876589" cy="11807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5"/>
              </a:lnSpc>
              <a:spcBef>
                <a:spcPct val="0"/>
              </a:spcBef>
            </a:pPr>
            <a:r>
              <a:rPr lang="en-US" sz="33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Kubernetes Secret </a:t>
            </a:r>
            <a:r>
              <a:rPr lang="en-US" sz="33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- це спеціальний об’єкт API, призначений для зберігання конфіденційної інформації: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860477" y="439779"/>
            <a:ext cx="14567046" cy="105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9"/>
              </a:lnSpc>
            </a:pPr>
            <a:r>
              <a:rPr lang="en-US" sz="6128" spc="-61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KUBERNETES SECRET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860477" y="3655362"/>
            <a:ext cx="3423315" cy="2909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18858" lvl="1" indent="-359429" algn="l">
              <a:lnSpc>
                <a:spcPts val="4661"/>
              </a:lnSpc>
              <a:buFont typeface="Arial"/>
              <a:buChar char="•"/>
            </a:pPr>
            <a:r>
              <a:rPr lang="en-US" sz="33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паролів</a:t>
            </a:r>
          </a:p>
          <a:p>
            <a:pPr marL="718858" lvl="1" indent="-359429" algn="l">
              <a:lnSpc>
                <a:spcPts val="4661"/>
              </a:lnSpc>
              <a:buFont typeface="Arial"/>
              <a:buChar char="•"/>
            </a:pPr>
            <a:r>
              <a:rPr lang="en-US" sz="33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токенів</a:t>
            </a:r>
          </a:p>
          <a:p>
            <a:pPr marL="718858" lvl="1" indent="-359429" algn="l">
              <a:lnSpc>
                <a:spcPts val="4661"/>
              </a:lnSpc>
              <a:buFont typeface="Arial"/>
              <a:buChar char="•"/>
            </a:pPr>
            <a:r>
              <a:rPr lang="en-US" sz="33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ключів</a:t>
            </a:r>
          </a:p>
          <a:p>
            <a:pPr marL="718858" lvl="1" indent="-359429" algn="l">
              <a:lnSpc>
                <a:spcPts val="4661"/>
              </a:lnSpc>
              <a:buFont typeface="Arial"/>
              <a:buChar char="•"/>
            </a:pPr>
            <a:r>
              <a:rPr lang="en-US" sz="33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сертифікатів </a:t>
            </a:r>
          </a:p>
          <a:p>
            <a:pPr marL="718858" lvl="1" indent="-359429" algn="l">
              <a:lnSpc>
                <a:spcPts val="4661"/>
              </a:lnSpc>
              <a:buFont typeface="Arial"/>
              <a:buChar char="•"/>
            </a:pPr>
            <a:r>
              <a:rPr lang="en-US" sz="332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тощо.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057400" y="6918637"/>
            <a:ext cx="14370123" cy="1471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Secret допомагає захищати ці дані від небажаного розголошення. За замовчуванням Kubernetes кодує значення секрету в base64, але зберігає їх незашифрованими в etcd (тому без додаткових заходів безпеки вони вразливі) 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3" name="Freeform 3"/>
          <p:cNvSpPr/>
          <p:nvPr/>
        </p:nvSpPr>
        <p:spPr>
          <a:xfrm rot="-10800000">
            <a:off x="15262544" y="2247053"/>
            <a:ext cx="284378" cy="5792893"/>
          </a:xfrm>
          <a:custGeom>
            <a:avLst/>
            <a:gdLst/>
            <a:ahLst/>
            <a:cxnLst/>
            <a:rect l="l" t="t" r="r" b="b"/>
            <a:pathLst>
              <a:path w="284378" h="5792893">
                <a:moveTo>
                  <a:pt x="0" y="0"/>
                </a:moveTo>
                <a:lnTo>
                  <a:pt x="284379" y="0"/>
                </a:lnTo>
                <a:lnTo>
                  <a:pt x="284379" y="5792894"/>
                </a:lnTo>
                <a:lnTo>
                  <a:pt x="0" y="57928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4" name="Freeform 4"/>
          <p:cNvSpPr/>
          <p:nvPr/>
        </p:nvSpPr>
        <p:spPr>
          <a:xfrm>
            <a:off x="670334" y="2165700"/>
            <a:ext cx="5384526" cy="1998381"/>
          </a:xfrm>
          <a:custGeom>
            <a:avLst/>
            <a:gdLst/>
            <a:ahLst/>
            <a:cxnLst/>
            <a:rect l="l" t="t" r="r" b="b"/>
            <a:pathLst>
              <a:path w="5384526" h="1998381">
                <a:moveTo>
                  <a:pt x="0" y="0"/>
                </a:moveTo>
                <a:lnTo>
                  <a:pt x="5384526" y="0"/>
                </a:lnTo>
                <a:lnTo>
                  <a:pt x="5384526" y="1998380"/>
                </a:lnTo>
                <a:lnTo>
                  <a:pt x="0" y="19983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5" name="Freeform 5"/>
          <p:cNvSpPr/>
          <p:nvPr/>
        </p:nvSpPr>
        <p:spPr>
          <a:xfrm>
            <a:off x="670334" y="5143500"/>
            <a:ext cx="5384526" cy="1945987"/>
          </a:xfrm>
          <a:custGeom>
            <a:avLst/>
            <a:gdLst/>
            <a:ahLst/>
            <a:cxnLst/>
            <a:rect l="l" t="t" r="r" b="b"/>
            <a:pathLst>
              <a:path w="5384526" h="1945987">
                <a:moveTo>
                  <a:pt x="0" y="0"/>
                </a:moveTo>
                <a:lnTo>
                  <a:pt x="5384526" y="0"/>
                </a:lnTo>
                <a:lnTo>
                  <a:pt x="5384526" y="1945987"/>
                </a:lnTo>
                <a:lnTo>
                  <a:pt x="0" y="194598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6" name="Freeform 6"/>
          <p:cNvSpPr/>
          <p:nvPr/>
        </p:nvSpPr>
        <p:spPr>
          <a:xfrm>
            <a:off x="670334" y="8034544"/>
            <a:ext cx="5384526" cy="1223756"/>
          </a:xfrm>
          <a:custGeom>
            <a:avLst/>
            <a:gdLst/>
            <a:ahLst/>
            <a:cxnLst/>
            <a:rect l="l" t="t" r="r" b="b"/>
            <a:pathLst>
              <a:path w="5384526" h="1223756">
                <a:moveTo>
                  <a:pt x="0" y="0"/>
                </a:moveTo>
                <a:lnTo>
                  <a:pt x="5384526" y="0"/>
                </a:lnTo>
                <a:lnTo>
                  <a:pt x="5384526" y="1223756"/>
                </a:lnTo>
                <a:lnTo>
                  <a:pt x="0" y="122375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>
            <a:off x="11798017" y="4653790"/>
            <a:ext cx="5146388" cy="1323357"/>
          </a:xfrm>
          <a:custGeom>
            <a:avLst/>
            <a:gdLst/>
            <a:ahLst/>
            <a:cxnLst/>
            <a:rect l="l" t="t" r="r" b="b"/>
            <a:pathLst>
              <a:path w="5146388" h="1323357">
                <a:moveTo>
                  <a:pt x="0" y="0"/>
                </a:moveTo>
                <a:lnTo>
                  <a:pt x="5146388" y="0"/>
                </a:lnTo>
                <a:lnTo>
                  <a:pt x="5146388" y="1323357"/>
                </a:lnTo>
                <a:lnTo>
                  <a:pt x="0" y="13233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Freeform 8"/>
          <p:cNvSpPr/>
          <p:nvPr/>
        </p:nvSpPr>
        <p:spPr>
          <a:xfrm>
            <a:off x="10891979" y="7764247"/>
            <a:ext cx="6958465" cy="1764350"/>
          </a:xfrm>
          <a:custGeom>
            <a:avLst/>
            <a:gdLst/>
            <a:ahLst/>
            <a:cxnLst/>
            <a:rect l="l" t="t" r="r" b="b"/>
            <a:pathLst>
              <a:path w="6958465" h="1764350">
                <a:moveTo>
                  <a:pt x="0" y="0"/>
                </a:moveTo>
                <a:lnTo>
                  <a:pt x="6958465" y="0"/>
                </a:lnTo>
                <a:lnTo>
                  <a:pt x="6958465" y="1764350"/>
                </a:lnTo>
                <a:lnTo>
                  <a:pt x="0" y="17643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Freeform 9"/>
          <p:cNvSpPr/>
          <p:nvPr/>
        </p:nvSpPr>
        <p:spPr>
          <a:xfrm>
            <a:off x="7505653" y="2577414"/>
            <a:ext cx="3026737" cy="4740672"/>
          </a:xfrm>
          <a:custGeom>
            <a:avLst/>
            <a:gdLst/>
            <a:ahLst/>
            <a:cxnLst/>
            <a:rect l="l" t="t" r="r" b="b"/>
            <a:pathLst>
              <a:path w="3026737" h="4740672">
                <a:moveTo>
                  <a:pt x="0" y="0"/>
                </a:moveTo>
                <a:lnTo>
                  <a:pt x="3026737" y="0"/>
                </a:lnTo>
                <a:lnTo>
                  <a:pt x="3026737" y="4740673"/>
                </a:lnTo>
                <a:lnTo>
                  <a:pt x="0" y="4740673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0" name="TextBox 10"/>
          <p:cNvSpPr txBox="1"/>
          <p:nvPr/>
        </p:nvSpPr>
        <p:spPr>
          <a:xfrm>
            <a:off x="1904236" y="1312821"/>
            <a:ext cx="2916721" cy="58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5"/>
              </a:lnSpc>
              <a:spcBef>
                <a:spcPct val="0"/>
              </a:spcBef>
            </a:pPr>
            <a:r>
              <a:rPr lang="en-US" sz="33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 літералів: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-1465568" y="582654"/>
            <a:ext cx="20834622" cy="796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sz="4628" spc="-46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СТВОРЕННЯ SECRET ЗА ДОПОМОГОЮ KUBECTL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04236" y="4330130"/>
            <a:ext cx="2916721" cy="58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5"/>
              </a:lnSpc>
              <a:spcBef>
                <a:spcPct val="0"/>
              </a:spcBef>
            </a:pPr>
            <a:r>
              <a:rPr lang="en-US" sz="33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 файлів: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904236" y="7251412"/>
            <a:ext cx="2916721" cy="58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5"/>
              </a:lnSpc>
              <a:spcBef>
                <a:spcPct val="0"/>
              </a:spcBef>
            </a:pPr>
            <a:r>
              <a:rPr lang="en-US" sz="33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TLS-секрет: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912851" y="3583436"/>
            <a:ext cx="2916721" cy="58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5"/>
              </a:lnSpc>
              <a:spcBef>
                <a:spcPct val="0"/>
              </a:spcBef>
            </a:pPr>
            <a:r>
              <a:rPr lang="en-US" sz="33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З env-файла: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564652" y="6765827"/>
            <a:ext cx="3613119" cy="58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5"/>
              </a:lnSpc>
              <a:spcBef>
                <a:spcPct val="0"/>
              </a:spcBef>
            </a:pPr>
            <a:r>
              <a:rPr lang="en-US" sz="33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Docker Registry: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278860" y="1666409"/>
            <a:ext cx="3613119" cy="58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5"/>
              </a:lnSpc>
              <a:spcBef>
                <a:spcPct val="0"/>
              </a:spcBef>
            </a:pPr>
            <a:r>
              <a:rPr lang="en-US" sz="33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YAML-приклад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3" name="Freeform 3"/>
          <p:cNvSpPr/>
          <p:nvPr/>
        </p:nvSpPr>
        <p:spPr>
          <a:xfrm rot="-10800000">
            <a:off x="15262544" y="2247053"/>
            <a:ext cx="284378" cy="5792893"/>
          </a:xfrm>
          <a:custGeom>
            <a:avLst/>
            <a:gdLst/>
            <a:ahLst/>
            <a:cxnLst/>
            <a:rect l="l" t="t" r="r" b="b"/>
            <a:pathLst>
              <a:path w="284378" h="5792893">
                <a:moveTo>
                  <a:pt x="0" y="0"/>
                </a:moveTo>
                <a:lnTo>
                  <a:pt x="284379" y="0"/>
                </a:lnTo>
                <a:lnTo>
                  <a:pt x="284379" y="5792894"/>
                </a:lnTo>
                <a:lnTo>
                  <a:pt x="0" y="57928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4" name="Freeform 4"/>
          <p:cNvSpPr/>
          <p:nvPr/>
        </p:nvSpPr>
        <p:spPr>
          <a:xfrm>
            <a:off x="2081545" y="2599478"/>
            <a:ext cx="3506341" cy="4037605"/>
          </a:xfrm>
          <a:custGeom>
            <a:avLst/>
            <a:gdLst/>
            <a:ahLst/>
            <a:cxnLst/>
            <a:rect l="l" t="t" r="r" b="b"/>
            <a:pathLst>
              <a:path w="3506341" h="4037605">
                <a:moveTo>
                  <a:pt x="0" y="0"/>
                </a:moveTo>
                <a:lnTo>
                  <a:pt x="3506341" y="0"/>
                </a:lnTo>
                <a:lnTo>
                  <a:pt x="3506341" y="4037606"/>
                </a:lnTo>
                <a:lnTo>
                  <a:pt x="0" y="403760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5" name="Freeform 5"/>
          <p:cNvSpPr/>
          <p:nvPr/>
        </p:nvSpPr>
        <p:spPr>
          <a:xfrm>
            <a:off x="7279762" y="4552230"/>
            <a:ext cx="4215694" cy="5220284"/>
          </a:xfrm>
          <a:custGeom>
            <a:avLst/>
            <a:gdLst/>
            <a:ahLst/>
            <a:cxnLst/>
            <a:rect l="l" t="t" r="r" b="b"/>
            <a:pathLst>
              <a:path w="4215694" h="5220284">
                <a:moveTo>
                  <a:pt x="0" y="0"/>
                </a:moveTo>
                <a:lnTo>
                  <a:pt x="4215693" y="0"/>
                </a:lnTo>
                <a:lnTo>
                  <a:pt x="4215693" y="5220284"/>
                </a:lnTo>
                <a:lnTo>
                  <a:pt x="0" y="52202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6" name="Freeform 6"/>
          <p:cNvSpPr/>
          <p:nvPr/>
        </p:nvSpPr>
        <p:spPr>
          <a:xfrm>
            <a:off x="13187331" y="3572140"/>
            <a:ext cx="3186370" cy="1571360"/>
          </a:xfrm>
          <a:custGeom>
            <a:avLst/>
            <a:gdLst/>
            <a:ahLst/>
            <a:cxnLst/>
            <a:rect l="l" t="t" r="r" b="b"/>
            <a:pathLst>
              <a:path w="3186370" h="1571360">
                <a:moveTo>
                  <a:pt x="0" y="0"/>
                </a:moveTo>
                <a:lnTo>
                  <a:pt x="3186369" y="0"/>
                </a:lnTo>
                <a:lnTo>
                  <a:pt x="3186369" y="1571360"/>
                </a:lnTo>
                <a:lnTo>
                  <a:pt x="0" y="157136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TextBox 7"/>
          <p:cNvSpPr txBox="1"/>
          <p:nvPr/>
        </p:nvSpPr>
        <p:spPr>
          <a:xfrm>
            <a:off x="1028700" y="1666409"/>
            <a:ext cx="6489542" cy="58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5"/>
              </a:lnSpc>
              <a:spcBef>
                <a:spcPct val="0"/>
              </a:spcBef>
            </a:pPr>
            <a:r>
              <a:rPr lang="en-US" sz="33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Через змінні середовища: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1465568" y="582654"/>
            <a:ext cx="20834622" cy="796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79"/>
              </a:lnSpc>
            </a:pPr>
            <a:r>
              <a:rPr lang="en-US" sz="4628" spc="-46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ВИКОРИСТАННЯ SECRETS У POD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279762" y="3649197"/>
            <a:ext cx="4642576" cy="5806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45"/>
              </a:lnSpc>
              <a:spcBef>
                <a:spcPct val="0"/>
              </a:spcBef>
            </a:pPr>
            <a:r>
              <a:rPr lang="en-US" sz="33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Як томи (volumes):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273031" y="2275819"/>
            <a:ext cx="7014969" cy="564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5"/>
              </a:lnSpc>
              <a:spcBef>
                <a:spcPct val="0"/>
              </a:spcBef>
            </a:pPr>
            <a:r>
              <a:rPr lang="en-US" sz="3289" b="1">
                <a:solidFill>
                  <a:srgbClr val="FFFFFF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Для приватних Docker-образів: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273031" y="2801853"/>
            <a:ext cx="7014969" cy="3234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46"/>
              </a:lnSpc>
              <a:spcBef>
                <a:spcPct val="0"/>
              </a:spcBef>
            </a:pPr>
            <a:r>
              <a:rPr lang="en-US" sz="1890" b="1">
                <a:solidFill>
                  <a:srgbClr val="FF3131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використовується тип kubernetes.io/dockerconfigjson.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8944306" y="5180427"/>
            <a:ext cx="399388" cy="8135684"/>
          </a:xfrm>
          <a:custGeom>
            <a:avLst/>
            <a:gdLst/>
            <a:ahLst/>
            <a:cxnLst/>
            <a:rect l="l" t="t" r="r" b="b"/>
            <a:pathLst>
              <a:path w="399388" h="8135684">
                <a:moveTo>
                  <a:pt x="0" y="0"/>
                </a:moveTo>
                <a:lnTo>
                  <a:pt x="399388" y="0"/>
                </a:lnTo>
                <a:lnTo>
                  <a:pt x="399388" y="8135683"/>
                </a:lnTo>
                <a:lnTo>
                  <a:pt x="0" y="8135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 rot="-10800000">
            <a:off x="-895973" y="-128681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2"/>
                </a:lnTo>
                <a:lnTo>
                  <a:pt x="0" y="36042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Freeform 8"/>
          <p:cNvSpPr/>
          <p:nvPr/>
        </p:nvSpPr>
        <p:spPr>
          <a:xfrm rot="-10800000">
            <a:off x="15576737" y="7107131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0" y="0"/>
                </a:moveTo>
                <a:lnTo>
                  <a:pt x="3775893" y="0"/>
                </a:lnTo>
                <a:lnTo>
                  <a:pt x="3775893" y="3604261"/>
                </a:lnTo>
                <a:lnTo>
                  <a:pt x="0" y="360426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TextBox 9"/>
          <p:cNvSpPr txBox="1"/>
          <p:nvPr/>
        </p:nvSpPr>
        <p:spPr>
          <a:xfrm>
            <a:off x="1860477" y="4554579"/>
            <a:ext cx="14567046" cy="105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9"/>
              </a:lnSpc>
            </a:pPr>
            <a:r>
              <a:rPr lang="en-US" sz="6128" spc="-61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MOZILLA SOPS 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-97752" y="-1561807"/>
            <a:ext cx="16027267" cy="12357683"/>
            <a:chOff x="0" y="0"/>
            <a:chExt cx="4221173" cy="32546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21173" cy="3254699"/>
            </a:xfrm>
            <a:custGeom>
              <a:avLst/>
              <a:gdLst/>
              <a:ahLst/>
              <a:cxnLst/>
              <a:rect l="l" t="t" r="r" b="b"/>
              <a:pathLst>
                <a:path w="4221173" h="3254699">
                  <a:moveTo>
                    <a:pt x="0" y="0"/>
                  </a:moveTo>
                  <a:lnTo>
                    <a:pt x="4221173" y="0"/>
                  </a:lnTo>
                  <a:lnTo>
                    <a:pt x="4221173" y="3254699"/>
                  </a:lnTo>
                  <a:lnTo>
                    <a:pt x="0" y="3254699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21173" cy="3292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5262544" y="2247053"/>
            <a:ext cx="284378" cy="5792893"/>
          </a:xfrm>
          <a:custGeom>
            <a:avLst/>
            <a:gdLst/>
            <a:ahLst/>
            <a:cxnLst/>
            <a:rect l="l" t="t" r="r" b="b"/>
            <a:pathLst>
              <a:path w="284378" h="5792893">
                <a:moveTo>
                  <a:pt x="0" y="0"/>
                </a:moveTo>
                <a:lnTo>
                  <a:pt x="284379" y="0"/>
                </a:lnTo>
                <a:lnTo>
                  <a:pt x="284379" y="5792894"/>
                </a:lnTo>
                <a:lnTo>
                  <a:pt x="0" y="57928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TextBox 7"/>
          <p:cNvSpPr txBox="1"/>
          <p:nvPr/>
        </p:nvSpPr>
        <p:spPr>
          <a:xfrm>
            <a:off x="624021" y="1464482"/>
            <a:ext cx="17663979" cy="15979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Mozilla SOPS (Secrets OPerationS) – це CLI-інструмент для шифрування та дешифрування файлів із конфіденційними даними (секретами). За його допомогою можна безпечно зберігати секрети прямо в репозиторії з контрольованою версією.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-2573281" y="189017"/>
            <a:ext cx="14567046" cy="105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9"/>
              </a:lnSpc>
            </a:pPr>
            <a:r>
              <a:rPr lang="en-US" sz="6128" spc="-61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MOZILLA SOPS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24021" y="4253951"/>
            <a:ext cx="14922902" cy="5126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SOPS шифрує лише значення полів (наприклад, паролі), залишаючи структуру файлу читабельною. 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Він розроблений так, щоб працювати з різними форматами файлів (YAML, JSON, ENV, INI, а також бінарними) і підтримувати багато сховищ ключів: OpenPGP, age, AWS KMS, GCP KMS, Azure Key Vault, HashiCorp Vault тощо . </a:t>
            </a:r>
          </a:p>
          <a:p>
            <a:pPr algn="l">
              <a:lnSpc>
                <a:spcPts val="4059"/>
              </a:lnSpc>
              <a:spcBef>
                <a:spcPct val="0"/>
              </a:spcBef>
            </a:pPr>
            <a:endParaRPr lang="en-US" sz="2899">
              <a:solidFill>
                <a:srgbClr val="FFFFFF"/>
              </a:solidFill>
              <a:latin typeface="Canva Sans"/>
              <a:ea typeface="Canva Sans"/>
              <a:cs typeface="Canva Sans"/>
              <a:sym typeface="Canva Sans"/>
            </a:endParaRPr>
          </a:p>
          <a:p>
            <a:pPr algn="l">
              <a:lnSpc>
                <a:spcPts val="4059"/>
              </a:lnSpc>
              <a:spcBef>
                <a:spcPct val="0"/>
              </a:spcBef>
            </a:pPr>
            <a:r>
              <a:rPr lang="en-US" sz="28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Це дозволяє вибрати найзручніший спосіб управління ключами шифрування. Таким чином SOPS вирішує проблему безпечного зберігання секретів поряд з іншими конфігураціями (наприклад, у Git), без розкриття чутливих даних у відкритому вигляді. 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-97752" y="-1561807"/>
            <a:ext cx="16027267" cy="12357683"/>
            <a:chOff x="0" y="0"/>
            <a:chExt cx="4221173" cy="325469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21173" cy="3254699"/>
            </a:xfrm>
            <a:custGeom>
              <a:avLst/>
              <a:gdLst/>
              <a:ahLst/>
              <a:cxnLst/>
              <a:rect l="l" t="t" r="r" b="b"/>
              <a:pathLst>
                <a:path w="4221173" h="3254699">
                  <a:moveTo>
                    <a:pt x="0" y="0"/>
                  </a:moveTo>
                  <a:lnTo>
                    <a:pt x="4221173" y="0"/>
                  </a:lnTo>
                  <a:lnTo>
                    <a:pt x="4221173" y="3254699"/>
                  </a:lnTo>
                  <a:lnTo>
                    <a:pt x="0" y="3254699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21173" cy="329279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0800000">
            <a:off x="15262544" y="2247053"/>
            <a:ext cx="284378" cy="5792893"/>
          </a:xfrm>
          <a:custGeom>
            <a:avLst/>
            <a:gdLst/>
            <a:ahLst/>
            <a:cxnLst/>
            <a:rect l="l" t="t" r="r" b="b"/>
            <a:pathLst>
              <a:path w="284378" h="5792893">
                <a:moveTo>
                  <a:pt x="0" y="0"/>
                </a:moveTo>
                <a:lnTo>
                  <a:pt x="284379" y="0"/>
                </a:lnTo>
                <a:lnTo>
                  <a:pt x="284379" y="5792894"/>
                </a:lnTo>
                <a:lnTo>
                  <a:pt x="0" y="579289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>
            <a:off x="7008733" y="3293336"/>
            <a:ext cx="10833362" cy="6711475"/>
          </a:xfrm>
          <a:custGeom>
            <a:avLst/>
            <a:gdLst/>
            <a:ahLst/>
            <a:cxnLst/>
            <a:rect l="l" t="t" r="r" b="b"/>
            <a:pathLst>
              <a:path w="10833362" h="6711475">
                <a:moveTo>
                  <a:pt x="0" y="0"/>
                </a:moveTo>
                <a:lnTo>
                  <a:pt x="10833362" y="0"/>
                </a:lnTo>
                <a:lnTo>
                  <a:pt x="10833362" y="6711475"/>
                </a:lnTo>
                <a:lnTo>
                  <a:pt x="0" y="671147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TextBox 8"/>
          <p:cNvSpPr txBox="1"/>
          <p:nvPr/>
        </p:nvSpPr>
        <p:spPr>
          <a:xfrm>
            <a:off x="624021" y="1961183"/>
            <a:ext cx="16882150" cy="10549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25"/>
              </a:lnSpc>
              <a:spcBef>
                <a:spcPct val="0"/>
              </a:spcBef>
            </a:pPr>
            <a:r>
              <a:rPr lang="en-US" sz="308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Після шифрування вихідний файл містить зашифровані поля у форматі ENC[…], а поля метаданих sops: із записами про ключі: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172487" y="439779"/>
            <a:ext cx="14567046" cy="1054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79"/>
              </a:lnSpc>
            </a:pPr>
            <a:r>
              <a:rPr lang="en-US" sz="6128" spc="-61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ПРИКЛАД ВИКОРИСТАННЯ SOPS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24021" y="5105400"/>
            <a:ext cx="6202793" cy="23253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348BFF"/>
                </a:solidFill>
                <a:latin typeface="Canva Sans"/>
                <a:ea typeface="Canva Sans"/>
                <a:cs typeface="Canva Sans"/>
                <a:sym typeface="Canva Sans"/>
              </a:rPr>
              <a:t>SOPS за замовчуванням кодує значення у базі64 (як і Kubernetes), а не шифрує метадані name чи namespace . Це означає, що структура файлів залишається читабельною: назви секретів і ключів видно, але їхні значення – зашифровані . 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109527"/>
            <a:chOff x="0" y="0"/>
            <a:chExt cx="4816593" cy="2662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662592"/>
            </a:xfrm>
            <a:custGeom>
              <a:avLst/>
              <a:gdLst/>
              <a:ahLst/>
              <a:cxnLst/>
              <a:rect l="l" t="t" r="r" b="b"/>
              <a:pathLst>
                <a:path w="4816592" h="2662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00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513427" flipH="1">
            <a:off x="16579242" y="-1394566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0"/>
                </a:moveTo>
                <a:lnTo>
                  <a:pt x="0" y="0"/>
                </a:lnTo>
                <a:lnTo>
                  <a:pt x="0" y="2579840"/>
                </a:lnTo>
                <a:lnTo>
                  <a:pt x="2702689" y="2579840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 rot="-1513427" flipH="1">
            <a:off x="-1051562" y="8334923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0"/>
                </a:moveTo>
                <a:lnTo>
                  <a:pt x="0" y="0"/>
                </a:lnTo>
                <a:lnTo>
                  <a:pt x="0" y="2579839"/>
                </a:lnTo>
                <a:lnTo>
                  <a:pt x="2702689" y="2579839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Freeform 8"/>
          <p:cNvSpPr/>
          <p:nvPr/>
        </p:nvSpPr>
        <p:spPr>
          <a:xfrm>
            <a:off x="3547526" y="1445066"/>
            <a:ext cx="11135316" cy="8664462"/>
          </a:xfrm>
          <a:custGeom>
            <a:avLst/>
            <a:gdLst/>
            <a:ahLst/>
            <a:cxnLst/>
            <a:rect l="l" t="t" r="r" b="b"/>
            <a:pathLst>
              <a:path w="11135316" h="8664462">
                <a:moveTo>
                  <a:pt x="0" y="0"/>
                </a:moveTo>
                <a:lnTo>
                  <a:pt x="11135316" y="0"/>
                </a:lnTo>
                <a:lnTo>
                  <a:pt x="11135316" y="8664461"/>
                </a:lnTo>
                <a:lnTo>
                  <a:pt x="0" y="866446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TextBox 9"/>
          <p:cNvSpPr txBox="1"/>
          <p:nvPr/>
        </p:nvSpPr>
        <p:spPr>
          <a:xfrm>
            <a:off x="2959341" y="488509"/>
            <a:ext cx="13199045" cy="956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1"/>
              </a:lnSpc>
            </a:pPr>
            <a:r>
              <a:rPr lang="en-US" sz="5465" spc="-54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BEST PRACTICES З БЕЗПЕКИ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109527"/>
            <a:chOff x="0" y="0"/>
            <a:chExt cx="4816593" cy="2662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662592"/>
            </a:xfrm>
            <a:custGeom>
              <a:avLst/>
              <a:gdLst/>
              <a:ahLst/>
              <a:cxnLst/>
              <a:rect l="l" t="t" r="r" b="b"/>
              <a:pathLst>
                <a:path w="4816592" h="2662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00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50341" y="4028798"/>
            <a:ext cx="15187318" cy="19281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651"/>
              </a:lnSpc>
            </a:pPr>
            <a:r>
              <a:rPr lang="en-US" sz="5465" spc="-54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ПРАКТИЧНА ЧАСТИНА: JENKINS PIPELINE З СЕКРЕТАМИ</a:t>
            </a:r>
          </a:p>
        </p:txBody>
      </p:sp>
      <p:sp>
        <p:nvSpPr>
          <p:cNvPr id="7" name="Freeform 7"/>
          <p:cNvSpPr/>
          <p:nvPr/>
        </p:nvSpPr>
        <p:spPr>
          <a:xfrm rot="-1513427" flipH="1">
            <a:off x="16579242" y="-1394566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0"/>
                </a:moveTo>
                <a:lnTo>
                  <a:pt x="0" y="0"/>
                </a:lnTo>
                <a:lnTo>
                  <a:pt x="0" y="2579840"/>
                </a:lnTo>
                <a:lnTo>
                  <a:pt x="2702689" y="2579840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Freeform 8"/>
          <p:cNvSpPr/>
          <p:nvPr/>
        </p:nvSpPr>
        <p:spPr>
          <a:xfrm rot="-1513427" flipH="1">
            <a:off x="-1051562" y="8334923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0"/>
                </a:moveTo>
                <a:lnTo>
                  <a:pt x="0" y="0"/>
                </a:lnTo>
                <a:lnTo>
                  <a:pt x="0" y="2579839"/>
                </a:lnTo>
                <a:lnTo>
                  <a:pt x="2702689" y="2579839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109527"/>
            <a:chOff x="0" y="0"/>
            <a:chExt cx="4816593" cy="2662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662592"/>
            </a:xfrm>
            <a:custGeom>
              <a:avLst/>
              <a:gdLst/>
              <a:ahLst/>
              <a:cxnLst/>
              <a:rect l="l" t="t" r="r" b="b"/>
              <a:pathLst>
                <a:path w="4816592" h="2662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00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34676" y="2732369"/>
            <a:ext cx="14515299" cy="956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1"/>
              </a:lnSpc>
            </a:pPr>
            <a:r>
              <a:rPr lang="en-US" sz="5465" spc="-54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КРОК 1. СТВОРЕННЯ CREDENTIALS:</a:t>
            </a:r>
          </a:p>
        </p:txBody>
      </p:sp>
      <p:sp>
        <p:nvSpPr>
          <p:cNvPr id="7" name="AutoShape 7"/>
          <p:cNvSpPr/>
          <p:nvPr/>
        </p:nvSpPr>
        <p:spPr>
          <a:xfrm>
            <a:off x="1334676" y="2856194"/>
            <a:ext cx="6072017" cy="0"/>
          </a:xfrm>
          <a:prstGeom prst="line">
            <a:avLst/>
          </a:prstGeom>
          <a:ln w="19050" cap="flat">
            <a:solidFill>
              <a:srgbClr val="40597C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A"/>
          </a:p>
        </p:txBody>
      </p:sp>
      <p:sp>
        <p:nvSpPr>
          <p:cNvPr id="8" name="TextBox 8"/>
          <p:cNvSpPr txBox="1"/>
          <p:nvPr/>
        </p:nvSpPr>
        <p:spPr>
          <a:xfrm>
            <a:off x="1334676" y="4342636"/>
            <a:ext cx="15187318" cy="1986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 веб-інтерфейсі Jenkins перейдіть в Manage Jenkins &gt; Credentials. 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 глобальному домені додайте новий обліковий запис (наприклад, тип «Secret text»).</a:t>
            </a:r>
          </a:p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 Задайте йому ім’я (ID) – наприклад my-token-id – і вставте значення вашого секрету (APIтокена, пароля тощо).</a:t>
            </a:r>
          </a:p>
        </p:txBody>
      </p:sp>
      <p:sp>
        <p:nvSpPr>
          <p:cNvPr id="9" name="Freeform 9"/>
          <p:cNvSpPr/>
          <p:nvPr/>
        </p:nvSpPr>
        <p:spPr>
          <a:xfrm rot="-1513427" flipH="1">
            <a:off x="16579242" y="-1394566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0"/>
                </a:moveTo>
                <a:lnTo>
                  <a:pt x="0" y="0"/>
                </a:lnTo>
                <a:lnTo>
                  <a:pt x="0" y="2579840"/>
                </a:lnTo>
                <a:lnTo>
                  <a:pt x="2702689" y="2579840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10" name="Freeform 10"/>
          <p:cNvSpPr/>
          <p:nvPr/>
        </p:nvSpPr>
        <p:spPr>
          <a:xfrm rot="-1513427" flipH="1">
            <a:off x="-1051562" y="8334923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0"/>
                </a:moveTo>
                <a:lnTo>
                  <a:pt x="0" y="0"/>
                </a:lnTo>
                <a:lnTo>
                  <a:pt x="0" y="2579839"/>
                </a:lnTo>
                <a:lnTo>
                  <a:pt x="2702689" y="2579839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109527"/>
            <a:chOff x="0" y="0"/>
            <a:chExt cx="4816593" cy="2662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662592"/>
            </a:xfrm>
            <a:custGeom>
              <a:avLst/>
              <a:gdLst/>
              <a:ahLst/>
              <a:cxnLst/>
              <a:rect l="l" t="t" r="r" b="b"/>
              <a:pathLst>
                <a:path w="4816592" h="2662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00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-1513427" flipH="1">
            <a:off x="16579242" y="-1394566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0"/>
                </a:moveTo>
                <a:lnTo>
                  <a:pt x="0" y="0"/>
                </a:lnTo>
                <a:lnTo>
                  <a:pt x="0" y="2579840"/>
                </a:lnTo>
                <a:lnTo>
                  <a:pt x="2702689" y="2579840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 rot="-1513427" flipH="1">
            <a:off x="-1051562" y="8334923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0"/>
                </a:moveTo>
                <a:lnTo>
                  <a:pt x="0" y="0"/>
                </a:lnTo>
                <a:lnTo>
                  <a:pt x="0" y="2579839"/>
                </a:lnTo>
                <a:lnTo>
                  <a:pt x="2702689" y="2579839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Freeform 8"/>
          <p:cNvSpPr/>
          <p:nvPr/>
        </p:nvSpPr>
        <p:spPr>
          <a:xfrm>
            <a:off x="4194500" y="2748143"/>
            <a:ext cx="9285989" cy="5357815"/>
          </a:xfrm>
          <a:custGeom>
            <a:avLst/>
            <a:gdLst/>
            <a:ahLst/>
            <a:cxnLst/>
            <a:rect l="l" t="t" r="r" b="b"/>
            <a:pathLst>
              <a:path w="9285989" h="5357815">
                <a:moveTo>
                  <a:pt x="0" y="0"/>
                </a:moveTo>
                <a:lnTo>
                  <a:pt x="9285989" y="0"/>
                </a:lnTo>
                <a:lnTo>
                  <a:pt x="9285989" y="5357815"/>
                </a:lnTo>
                <a:lnTo>
                  <a:pt x="0" y="53578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TextBox 9"/>
          <p:cNvSpPr txBox="1"/>
          <p:nvPr/>
        </p:nvSpPr>
        <p:spPr>
          <a:xfrm>
            <a:off x="702699" y="488509"/>
            <a:ext cx="14515299" cy="956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51"/>
              </a:lnSpc>
            </a:pPr>
            <a:r>
              <a:rPr lang="en-US" sz="5465" spc="-54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КРОК 2. НАПИСАННЯ JENKINSFILE: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02699" y="1561962"/>
            <a:ext cx="15187318" cy="9956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У репозиторії із вашим проектом створіть файл Jenkinsfile з наступним вмістом (Pipeline as Code). Наприклад, для демонстрації отримаємо секрет і передамо його в скрипт: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98991" y="8239308"/>
            <a:ext cx="15890017" cy="14719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В цьому прикладі блок withCredentials передає секретну змінну TOKEN . Ця змінна доступна всередині блоку і буде замаскована ( **** ) у консолі виконання, якщо команда випадково її виведе .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0" y="0"/>
            <a:ext cx="18288000" cy="10109527"/>
            <a:chOff x="0" y="0"/>
            <a:chExt cx="4816593" cy="2662592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662592"/>
            </a:xfrm>
            <a:custGeom>
              <a:avLst/>
              <a:gdLst/>
              <a:ahLst/>
              <a:cxnLst/>
              <a:rect l="l" t="t" r="r" b="b"/>
              <a:pathLst>
                <a:path w="4816592" h="2662592">
                  <a:moveTo>
                    <a:pt x="0" y="0"/>
                  </a:moveTo>
                  <a:lnTo>
                    <a:pt x="4816592" y="0"/>
                  </a:lnTo>
                  <a:lnTo>
                    <a:pt x="4816592" y="2662592"/>
                  </a:lnTo>
                  <a:lnTo>
                    <a:pt x="0" y="2662592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816593" cy="27006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776697" y="1495287"/>
            <a:ext cx="7072018" cy="11546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331"/>
              </a:lnSpc>
            </a:pPr>
            <a:r>
              <a:rPr lang="en-US" sz="6665" spc="-66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ВИСНОВКИ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140114" y="3789985"/>
            <a:ext cx="14790473" cy="33134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0412" lvl="1" indent="-410206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Секрети — критичний ресурс у DevOps</a:t>
            </a:r>
          </a:p>
          <a:p>
            <a:pPr marL="820412" lvl="1" indent="-410206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Існують спеціалізовані інструменти для захисту</a:t>
            </a:r>
          </a:p>
          <a:p>
            <a:pPr marL="820412" lvl="1" indent="-410206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Безпека має бути частиною кожного етапу </a:t>
            </a:r>
          </a:p>
          <a:p>
            <a:pPr marL="820412" lvl="1" indent="-410206" algn="l">
              <a:lnSpc>
                <a:spcPts val="5319"/>
              </a:lnSpc>
              <a:buFont typeface="Arial"/>
              <a:buChar char="•"/>
            </a:pPr>
            <a:r>
              <a:rPr lang="en-US" sz="3799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Лише автоматизований контроль дає гарантії</a:t>
            </a:r>
          </a:p>
          <a:p>
            <a:pPr algn="l">
              <a:lnSpc>
                <a:spcPts val="5319"/>
              </a:lnSpc>
            </a:pPr>
            <a:endParaRPr lang="en-US" sz="3799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" name="Freeform 8"/>
          <p:cNvSpPr/>
          <p:nvPr/>
        </p:nvSpPr>
        <p:spPr>
          <a:xfrm rot="-1513427" flipH="1">
            <a:off x="16579242" y="-1394566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0"/>
                </a:moveTo>
                <a:lnTo>
                  <a:pt x="0" y="0"/>
                </a:lnTo>
                <a:lnTo>
                  <a:pt x="0" y="2579840"/>
                </a:lnTo>
                <a:lnTo>
                  <a:pt x="2702689" y="2579840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Freeform 9"/>
          <p:cNvSpPr/>
          <p:nvPr/>
        </p:nvSpPr>
        <p:spPr>
          <a:xfrm rot="-1513427" flipH="1">
            <a:off x="-1051562" y="8334923"/>
            <a:ext cx="2702689" cy="2579840"/>
          </a:xfrm>
          <a:custGeom>
            <a:avLst/>
            <a:gdLst/>
            <a:ahLst/>
            <a:cxnLst/>
            <a:rect l="l" t="t" r="r" b="b"/>
            <a:pathLst>
              <a:path w="2702689" h="2579840">
                <a:moveTo>
                  <a:pt x="2702689" y="0"/>
                </a:moveTo>
                <a:lnTo>
                  <a:pt x="0" y="0"/>
                </a:lnTo>
                <a:lnTo>
                  <a:pt x="0" y="2579839"/>
                </a:lnTo>
                <a:lnTo>
                  <a:pt x="2702689" y="2579839"/>
                </a:lnTo>
                <a:lnTo>
                  <a:pt x="2702689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grpSp>
        <p:nvGrpSpPr>
          <p:cNvPr id="3" name="Group 3"/>
          <p:cNvGrpSpPr/>
          <p:nvPr/>
        </p:nvGrpSpPr>
        <p:grpSpPr>
          <a:xfrm>
            <a:off x="1028700" y="1028700"/>
            <a:ext cx="16230600" cy="8229600"/>
            <a:chOff x="0" y="0"/>
            <a:chExt cx="4274726" cy="216746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74726" cy="2167467"/>
            </a:xfrm>
            <a:custGeom>
              <a:avLst/>
              <a:gdLst/>
              <a:ahLst/>
              <a:cxnLst/>
              <a:rect l="l" t="t" r="r" b="b"/>
              <a:pathLst>
                <a:path w="4274726" h="2167467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000000">
                <a:alpha val="69804"/>
              </a:srgbClr>
            </a:solidFill>
            <a:ln w="123825" cap="sq">
              <a:solidFill>
                <a:srgbClr val="000000">
                  <a:alpha val="69804"/>
                </a:srgbClr>
              </a:solidFill>
              <a:prstDash val="solid"/>
              <a:miter/>
            </a:ln>
          </p:spPr>
          <p:txBody>
            <a:bodyPr/>
            <a:lstStyle/>
            <a:p>
              <a:endParaRPr lang="en-UA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274726" cy="22055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rot="5400000">
            <a:off x="8944306" y="5180427"/>
            <a:ext cx="399388" cy="8135684"/>
          </a:xfrm>
          <a:custGeom>
            <a:avLst/>
            <a:gdLst/>
            <a:ahLst/>
            <a:cxnLst/>
            <a:rect l="l" t="t" r="r" b="b"/>
            <a:pathLst>
              <a:path w="399388" h="8135684">
                <a:moveTo>
                  <a:pt x="0" y="0"/>
                </a:moveTo>
                <a:lnTo>
                  <a:pt x="399388" y="0"/>
                </a:lnTo>
                <a:lnTo>
                  <a:pt x="399388" y="8135683"/>
                </a:lnTo>
                <a:lnTo>
                  <a:pt x="0" y="813568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999"/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7" name="Freeform 7"/>
          <p:cNvSpPr/>
          <p:nvPr/>
        </p:nvSpPr>
        <p:spPr>
          <a:xfrm rot="-10800000" flipH="1">
            <a:off x="-895973" y="-128681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3775893" y="0"/>
                </a:moveTo>
                <a:lnTo>
                  <a:pt x="0" y="0"/>
                </a:lnTo>
                <a:lnTo>
                  <a:pt x="0" y="3604262"/>
                </a:lnTo>
                <a:lnTo>
                  <a:pt x="3775893" y="3604262"/>
                </a:lnTo>
                <a:lnTo>
                  <a:pt x="37758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8" name="Freeform 8"/>
          <p:cNvSpPr/>
          <p:nvPr/>
        </p:nvSpPr>
        <p:spPr>
          <a:xfrm rot="-10800000" flipH="1">
            <a:off x="15576737" y="7107131"/>
            <a:ext cx="3775893" cy="3604261"/>
          </a:xfrm>
          <a:custGeom>
            <a:avLst/>
            <a:gdLst/>
            <a:ahLst/>
            <a:cxnLst/>
            <a:rect l="l" t="t" r="r" b="b"/>
            <a:pathLst>
              <a:path w="3775893" h="3604261">
                <a:moveTo>
                  <a:pt x="3775893" y="0"/>
                </a:moveTo>
                <a:lnTo>
                  <a:pt x="0" y="0"/>
                </a:lnTo>
                <a:lnTo>
                  <a:pt x="0" y="3604261"/>
                </a:lnTo>
                <a:lnTo>
                  <a:pt x="3775893" y="3604261"/>
                </a:lnTo>
                <a:lnTo>
                  <a:pt x="3775893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A"/>
          </a:p>
        </p:txBody>
      </p:sp>
      <p:sp>
        <p:nvSpPr>
          <p:cNvPr id="9" name="TextBox 9"/>
          <p:cNvSpPr txBox="1"/>
          <p:nvPr/>
        </p:nvSpPr>
        <p:spPr>
          <a:xfrm>
            <a:off x="1756839" y="4198358"/>
            <a:ext cx="14774323" cy="19829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95"/>
              </a:lnSpc>
            </a:pPr>
            <a:r>
              <a:rPr lang="en-US" sz="11639" spc="-116">
                <a:solidFill>
                  <a:srgbClr val="348BFF"/>
                </a:solidFill>
                <a:latin typeface="Mokoto"/>
                <a:ea typeface="Mokoto"/>
                <a:cs typeface="Mokoto"/>
                <a:sym typeface="Mokoto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921</TotalTime>
  <Words>1108</Words>
  <Application>Microsoft Macintosh PowerPoint</Application>
  <PresentationFormat>Custom</PresentationFormat>
  <Paragraphs>127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0" baseType="lpstr">
      <vt:lpstr>Arial</vt:lpstr>
      <vt:lpstr>Mokoto</vt:lpstr>
      <vt:lpstr>Roboto</vt:lpstr>
      <vt:lpstr>Canva Sans Bold</vt:lpstr>
      <vt:lpstr>Calibri</vt:lpstr>
      <vt:lpstr>Canva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13: Секрети та безпека в розгортанні</dc:title>
  <cp:lastModifiedBy>Nazar Pleskanka</cp:lastModifiedBy>
  <cp:revision>2</cp:revision>
  <dcterms:created xsi:type="dcterms:W3CDTF">2006-08-16T00:00:00Z</dcterms:created>
  <dcterms:modified xsi:type="dcterms:W3CDTF">2025-12-09T06:57:50Z</dcterms:modified>
  <dc:identifier>DAGvUOtRmUg</dc:identifier>
</cp:coreProperties>
</file>
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3894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A1628">
              <a:alpha val="80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365760"/>
            <a:ext cx="256032" cy="256032"/>
          </a:xfrm>
          <a:prstGeom prst="ellipse">
            <a:avLst/>
          </a:prstGeom>
          <a:solidFill>
            <a:srgbClr val="00C2FF">
              <a:alpha val="40000"/>
            </a:srgbClr>
          </a:solidFill>
          <a:ln w="12700">
            <a:solidFill>
              <a:srgbClr val="00C2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03720" y="365760"/>
            <a:ext cx="256032" cy="256032"/>
          </a:xfrm>
          <a:prstGeom prst="ellipse">
            <a:avLst/>
          </a:prstGeom>
          <a:solidFill>
            <a:srgbClr val="00C2FF">
              <a:alpha val="32000"/>
            </a:srgbClr>
          </a:solidFill>
          <a:ln w="12700">
            <a:solidFill>
              <a:srgbClr val="00C2FF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365760"/>
            <a:ext cx="256032" cy="256032"/>
          </a:xfrm>
          <a:prstGeom prst="ellipse">
            <a:avLst/>
          </a:prstGeom>
          <a:solidFill>
            <a:srgbClr val="00C2FF">
              <a:alpha val="24000"/>
            </a:srgbClr>
          </a:solidFill>
          <a:ln w="12700">
            <a:solidFill>
              <a:srgbClr val="00C2FF">
                <a:alpha val="2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09560" y="365760"/>
            <a:ext cx="256032" cy="256032"/>
          </a:xfrm>
          <a:prstGeom prst="ellipse">
            <a:avLst/>
          </a:prstGeom>
          <a:solidFill>
            <a:srgbClr val="00C2FF">
              <a:alpha val="16000"/>
            </a:srgbClr>
          </a:solidFill>
          <a:ln w="12700">
            <a:solidFill>
              <a:srgbClr val="00C2FF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0" y="365760"/>
            <a:ext cx="256032" cy="256032"/>
          </a:xfrm>
          <a:prstGeom prst="ellipse">
            <a:avLst/>
          </a:prstGeom>
          <a:solidFill>
            <a:srgbClr val="00C2FF">
              <a:alpha val="8000"/>
            </a:srgbClr>
          </a:solidFill>
          <a:ln w="12700">
            <a:solidFill>
              <a:srgbClr val="00C2FF">
                <a:alpha val="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572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ПЕРЕДДИПЛОМНА ПРАКТИКА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914400"/>
            <a:ext cx="5212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динамічної</a:t>
            </a:r>
            <a:endParaRPr lang="en-US" sz="3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адаптації складності</a:t>
            </a:r>
            <a:endParaRPr lang="en-US" sz="3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ігровому середовищі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DDA — Dynamic Difficulty Adjustment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02336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Верещака Богдан, гр. ПП-44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Керівник БКР: асист. каф. САП Патерега Ю. І.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Національний університет «Львівська політехніка», 2026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26480" y="201168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· C# · ML-Agents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RL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Актуальність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260604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гравців залишають гру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невідповідну складність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91440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914400"/>
            <a:ext cx="260604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0515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337560" y="17373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десятиліття досліджень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DDA у науковій спільноті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91440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914400"/>
            <a:ext cx="260604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0515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217920" y="17373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парадигми адаптації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досліджуються в проекті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788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Статична складність у комп'ютерних іграх не враховує різноманітність гравців: їхні навички, темп навчання і рівень фрустрації змінюються від гравця до гравця і навіть протягом однієї сесії. Єдиний фіксований рівень складності не може задовольнити всю аудиторію.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D6EAF8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Рішення — DDA: автоматична адаптація параметрів гри в реальному часі на основі поведінкових метрик гравця.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 та завдання практики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804672"/>
          </a:xfrm>
          <a:prstGeom prst="rect">
            <a:avLst/>
          </a:prstGeom>
          <a:solidFill>
            <a:srgbClr val="EDE7F6"/>
          </a:solidFill>
          <a:ln w="19050">
            <a:solidFill>
              <a:srgbClr val="7B2FB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868680"/>
            <a:ext cx="7955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Мета: розроблення та дослідження евристичної системи DDA для 3D-платформера на Unity, що аналізує поведінкові метрики гравця і непомітно адаптує параметри перешкод для підтримки стану «потоку».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256032" cy="25603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74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78308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Рефакторинг системи реєстрації смертей: структура DeathRecord, ізоляція статистики між рівнями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386584"/>
            <a:ext cx="256032" cy="25603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86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2295144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Реалізація DDA-менеджера: кластеризація смертей, центроїд, зважений вплив за відстанню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898648"/>
            <a:ext cx="256032" cy="25603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98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2807208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Рефакторинг усіх перешкод під інтерфейс IDynamicObstacle з базовим класом DynamicObstacleBase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410712"/>
            <a:ext cx="256032" cy="25603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10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" y="3319272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Логіка ускладнення при домінуванні: чекпоінти, ліміти Min/Max, індивідуальна вага (Weight)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922776"/>
            <a:ext cx="256032" cy="25603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922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" y="3831336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Перехід до 3D-персонажа: PlayerMovement, LastSafePosition, Animator, TransitionManager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434840"/>
            <a:ext cx="256032" cy="25603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434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" y="434340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ScriptableObject-архітектура аудіосистеми: AudioEvent, SurfaceLibrary, MusicTrack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 DDA-системи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4864" cy="84124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PlayerTracker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43584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LastSafePosition, трекінг позиції щокадру при контакті з поверхнею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3931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74520"/>
            <a:ext cx="54864" cy="84124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202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KillPlane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203704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Передає усереднену координату смерті (Lerp між LastSafePos і точкою падіння)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3931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34640"/>
            <a:ext cx="54864" cy="84124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803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GameSession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163824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DeathRecord list, деathWindow фільтрація, генерація подій OnDeathCluster / OnPlayerDominating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794760"/>
            <a:ext cx="3931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794760"/>
            <a:ext cx="54864" cy="84124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8404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DDAManager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123944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Pattern, центроїд кластера, зважений Mathf.Lerp за відстанню, AdjustDifficulty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 перешкод  ·  IDynamicObstacle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371600"/>
            <a:ext cx="4114800" cy="6858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4264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FallingPlatform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92040" y="17007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шкала shakingTime, Min/Max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176272"/>
            <a:ext cx="4114800" cy="6858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2311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MovingPlatform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92040" y="25054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швидкість ÷ multiplier, Min/Max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2980944"/>
            <a:ext cx="4114800" cy="6858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0358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SpikyPlatform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92040" y="33101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затримка обертання, Min/Max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785616"/>
            <a:ext cx="4114800" cy="6858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840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SimpleDynamicPlatform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92040" y="4114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 X/Z, захист 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4572000"/>
            <a:ext cx="411480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45902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B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TransitionManager: зміни видимі лише під затемнення екрану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евристичної DDA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57276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960120"/>
            <a:ext cx="438912" cy="43891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960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4904" y="15087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Реєстрація смерті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4904" y="2029968"/>
            <a:ext cx="1463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KillPlane передає Vector3.Lerp(lastSafePos, fallPos, 0.5f) → DeathRecord { position, timestamp 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92808" y="2697480"/>
            <a:ext cx="146304" cy="0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84248" y="2542032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39112" y="960120"/>
            <a:ext cx="157276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960120"/>
            <a:ext cx="438912" cy="43891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960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93976" y="15087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Фільтрація вікна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093976" y="2029968"/>
            <a:ext cx="1463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recentDeaths.RemoveAll(d =&gt; Time.time − d.timestamp &gt; deathWindow)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Видаляє застарілі записи, запобігає помилковим кластерам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11880" y="2697480"/>
            <a:ext cx="146304" cy="0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2542032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58184" y="960120"/>
            <a:ext cx="157276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25112" y="960120"/>
            <a:ext cx="438912" cy="43891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25112" y="960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13048" y="15087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Перевірка кластера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13048" y="2029968"/>
            <a:ext cx="1463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(recentDeaths.Count &gt;= deathThreshold) → GameEvents.OnDeathClusterDetected(centroid)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 = середнє арифметичне позицій смертей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30952" y="2697480"/>
            <a:ext cx="146304" cy="0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22392" y="2542032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77256" y="960120"/>
            <a:ext cx="157276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44184" y="960120"/>
            <a:ext cx="438912" cy="43891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44184" y="960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32120" y="15087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Зважений вплив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532120" y="2029968"/>
            <a:ext cx="1463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normalizedDist = dist / adaptationRadius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effectiveMultiplier = Mathf.Lerp(easingFactor, 1.0f, normalizedDist)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050024" y="2697480"/>
            <a:ext cx="146304" cy="0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41464" y="2542032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196328" y="960120"/>
            <a:ext cx="157276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763256" y="960120"/>
            <a:ext cx="438912" cy="43891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63256" y="960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251192" y="15087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Застосування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251192" y="2029968"/>
            <a:ext cx="1463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ApplyDDA(effectiveMultiplier) для кожної IDynamicObstacle в радіусі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Захист: нове значення застосовується лише якщо воно сильніше за поточне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E0F2FE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68172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Ускладнення: при проходженні чекпоінта без смертей → OnPlayerDominating → complicationFactor=1.15 до перешкод попереду без fade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Технологічний стек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965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196596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4241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Engine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14813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Ігровий рушій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38912" y="1828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Фізика, рендер, аудіо, сцени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87168" y="914400"/>
            <a:ext cx="1965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87168" y="914400"/>
            <a:ext cx="196596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04241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OOP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14813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Ігрова логіка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60320" y="1828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Інтерфейси, патерни Registry, ScriptableObject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08576" y="914400"/>
            <a:ext cx="1965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08576" y="914400"/>
            <a:ext cx="196596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104241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System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81728" y="14813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Управління вводом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81728" y="1828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Гнучкий контролер гравця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29984" y="914400"/>
            <a:ext cx="1965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9984" y="914400"/>
            <a:ext cx="196596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104241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Cinemachine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03136" y="14813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Камери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03136" y="1828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Плавні переходи, Virtual Camera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743200"/>
            <a:ext cx="1965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743200"/>
            <a:ext cx="1965960" cy="640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287121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ProBuilder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8912" y="33101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Левел-дизайн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38912" y="3657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Швидке прототипування геометрії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487168" y="2743200"/>
            <a:ext cx="1965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487168" y="2743200"/>
            <a:ext cx="1965960" cy="640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0" y="287121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ScriptableObject Audio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60320" y="33101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Аудіосистема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560320" y="3657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AudioEvent, SurfaceLibrary, MusicTrack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08576" y="2743200"/>
            <a:ext cx="1965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08576" y="2743200"/>
            <a:ext cx="1965960" cy="640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1728" y="287121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ML-Agents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81728" y="33101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681728" y="3657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+ Director, Self-Play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729984" y="2743200"/>
            <a:ext cx="1965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729984" y="2743200"/>
            <a:ext cx="1965960" cy="640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03136" y="287121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/ Unity Sentis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03136" y="33101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ML-інференс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803136" y="3657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Random Forest в Unity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аналітики та метрики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Збір вхідних даних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4023360" cy="45720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3502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Координати смерті + LastSafePosition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19656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562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Часові мітки → DeathRecord (time window)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40864"/>
            <a:ext cx="4023360" cy="45720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774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Частота натискань клавіш (APM)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62072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986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Бездіяльність після смерті (Idle Time)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4023360" cy="45720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41985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Успішність взаємодії з перешкодами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04488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94106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Активація чекпоінтів, час рівня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84124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Результати аналітики (NDJSON)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298448"/>
            <a:ext cx="402336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33502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55080" y="133502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координата, причина, спроба №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819656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85623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death_cluster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18562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центроїд, радіус, кількість смертей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340864"/>
            <a:ext cx="402336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3774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obstacle_result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55080" y="23774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спроби, успіхи, % прохідності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862072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89864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level_start / end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55080" y="28986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 проходження, к-ть смертей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383280"/>
            <a:ext cx="402336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41985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55080" y="341985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позиція, деathsSinceLastCheckpoint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904488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94106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input_rate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55080" y="394106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APM, тривалість натискань кнопок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Дорожня карта БКР: 4 підходи до DDA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965960" cy="3566160"/>
          </a:xfrm>
          <a:prstGeom prst="rect">
            <a:avLst/>
          </a:prstGeom>
          <a:solidFill>
            <a:srgbClr val="DCFCE7"/>
          </a:solidFill>
          <a:ln w="19050">
            <a:solidFill>
              <a:srgbClr val="86E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960120"/>
            <a:ext cx="640080" cy="64008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682496"/>
            <a:ext cx="1417320" cy="292608"/>
          </a:xfrm>
          <a:prstGeom prst="rect">
            <a:avLst/>
          </a:prstGeom>
          <a:solidFill>
            <a:srgbClr val="16653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ВИКОНАНО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38912" y="2057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Статична база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578608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DDA — контрольна група для A/B тестів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145536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аналітики NDJSON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712464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Базовий ігровий прототип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87168" y="960120"/>
            <a:ext cx="1965960" cy="3566160"/>
          </a:xfrm>
          <a:prstGeom prst="rect">
            <a:avLst/>
          </a:prstGeom>
          <a:solidFill>
            <a:srgbClr val="DCFCE7"/>
          </a:solidFill>
          <a:ln w="19050">
            <a:solidFill>
              <a:srgbClr val="86E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45536" y="960120"/>
            <a:ext cx="640080" cy="64008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45536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61488" y="1682496"/>
            <a:ext cx="1417320" cy="292608"/>
          </a:xfrm>
          <a:prstGeom prst="rect">
            <a:avLst/>
          </a:prstGeom>
          <a:solidFill>
            <a:srgbClr val="16653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61488" y="16916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ВИКОНАНО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560320" y="2057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Евристична DDA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578608" y="2578608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DeathRecord + кластеризація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78608" y="3145536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Зважений вплив за відстанню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78608" y="3712464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TransitionManager + ускладнення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08576" y="960120"/>
            <a:ext cx="1965960" cy="3566160"/>
          </a:xfrm>
          <a:prstGeom prst="rect">
            <a:avLst/>
          </a:prstGeom>
          <a:solidFill>
            <a:srgbClr val="DBEAFE"/>
          </a:solidFill>
          <a:ln w="19050">
            <a:solidFill>
              <a:srgbClr val="93C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266944" y="960120"/>
            <a:ext cx="640080" cy="64008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66944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82896" y="1682496"/>
            <a:ext cx="141732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82896" y="16916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ПЛАНІ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681728" y="2057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00016" y="2578608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 із плейтестів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00016" y="3145536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scikit-learn навчання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00016" y="3712464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Інтеграція через ONNX / Unity Sentis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729984" y="960120"/>
            <a:ext cx="1965960" cy="3566160"/>
          </a:xfrm>
          <a:prstGeom prst="rect">
            <a:avLst/>
          </a:prstGeom>
          <a:solidFill>
            <a:srgbClr val="EDE9FE"/>
          </a:solidFill>
          <a:ln w="1905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88352" y="960120"/>
            <a:ext cx="640080" cy="64008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88352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004304" y="1682496"/>
            <a:ext cx="1417320" cy="292608"/>
          </a:xfrm>
          <a:prstGeom prst="rect">
            <a:avLst/>
          </a:prstGeom>
          <a:solidFill>
            <a:srgbClr val="6D28D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04304" y="16916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ПЛАНІ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803136" y="2057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821424" y="2578608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ML-Agents Toolkit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21424" y="3145536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Бот-гравець + Режисер (Self-Play)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821424" y="3712464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Adversarial Training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Порівняння за метриками: Completion Rate · Session Time · Непомітність змін для гравця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Результати практики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02336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0058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Евристична DDA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Кластеризація смертей (DeathRecord)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4708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Зважений вплив, захист параметрів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27685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Ускладнення при домінуванні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14400"/>
            <a:ext cx="402336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241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66360" y="10058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41732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Pattern (DDAManager)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184708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IDynamicObstacle + DynamicObstacleBase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27685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типи адаптивних перешкод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01752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017520"/>
            <a:ext cx="4023360" cy="640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1272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31089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Гравець і світ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352044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3D-модель, Animator, Quaternion.Slerp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95020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LastSafePosition у PlayerTracker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37997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TransitionManager (fade in/out)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01752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017520"/>
            <a:ext cx="4023360" cy="640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1272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66360" y="31089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Аудіо і UI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352044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ScriptableObject: AudioEvent, Surface-Library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92040" y="395020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Рандомізована гучність і тон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437997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UI: смерті, таймер рівня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Висновки та подальші кроки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29184" cy="329184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96112" y="105156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Евристична DDA-система повністю реалізована і протестована: кластеризація смертей, зважений вплив, ускладнення при домінуванні.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01952"/>
            <a:ext cx="329184" cy="329184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01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1856232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 проекту свідомо орієнтована на масштабованість — заміна евристики на ML відбудеться без змін у коді перешкод.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706624"/>
            <a:ext cx="329184" cy="329184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06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96112" y="2660904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Аналітична підсистема формує структуровані NDJSON-логи для навчання майбутніх ML-моделей.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511296"/>
            <a:ext cx="329184" cy="329184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11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6112" y="3465576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Концепція Asymmetric Self-Play (бот-гравець + бот-режисер) забезпечить мільйони симуляцій для RL без участі людей.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462272"/>
            <a:ext cx="8229600" cy="457200"/>
          </a:xfrm>
          <a:prstGeom prst="rect">
            <a:avLst/>
          </a:prstGeom>
          <a:solidFill>
            <a:srgbClr val="7B2FBE">
              <a:alpha val="9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480560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Наступний крок: плейтести → датасет → Random Forest (scikit-learn + ONNX) → ML-Agents RL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897</Words>
  <Application>Microsoft Office PowerPoint</Application>
  <PresentationFormat>On-screen Show (16:9)</PresentationFormat>
  <Paragraphs>194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DDA — Система динамічної адаптації складності</dc:title>
  <dc:subject>PptxGenJS Presentation</dc:subject>
  <dc:creator>PptxGenJS</dc:creator>
  <cp:lastModifiedBy>Богдан Верещак</cp:lastModifiedBy>
  <cp:revision>2</cp:revision>
  <dcterms:created xsi:type="dcterms:W3CDTF">2026-05-10T18:54:19Z</dcterms:created>
  <dcterms:modified xsi:type="dcterms:W3CDTF">2026-05-15T13:26:55Z</dcterms:modified>
</cp:coreProperties>
</file>
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Roboto Slab"/>
      <p:regular r:id="rId13"/>
      <p:bold r:id="rId14"/>
    </p:embeddedFont>
    <p:embeddedFont>
      <p:font typeface="Robo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Slab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regular.fntdata"/><Relationship Id="rId14" Type="http://schemas.openxmlformats.org/officeDocument/2006/relationships/font" Target="fonts/RobotoSlab-bold.fntdata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10.jpg"/><Relationship Id="rId5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19750" y="1394519"/>
            <a:ext cx="9525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510551" y="2442269"/>
            <a:ext cx="7170896" cy="1462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ECF0F1"/>
                </a:solidFill>
                <a:latin typeface="Roboto Slab"/>
                <a:ea typeface="Roboto Slab"/>
                <a:cs typeface="Roboto Slab"/>
                <a:sym typeface="Roboto Slab"/>
              </a:rPr>
              <a:t>Домедична допомога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ECF0F1"/>
                </a:solidFill>
                <a:latin typeface="Roboto Slab"/>
                <a:ea typeface="Roboto Slab"/>
                <a:cs typeface="Roboto Slab"/>
                <a:sym typeface="Roboto Slab"/>
              </a:rPr>
              <a:t> при електротравмі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619750" y="4286250"/>
            <a:ext cx="952500" cy="57150"/>
          </a:xfrm>
          <a:prstGeom prst="roundRect">
            <a:avLst>
              <a:gd fmla="val 50000" name="adj"/>
            </a:avLst>
          </a:prstGeom>
          <a:solidFill>
            <a:srgbClr val="E67E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3390900" y="4819650"/>
            <a:ext cx="541020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ECF0F1"/>
                </a:solidFill>
                <a:latin typeface="Roboto"/>
                <a:ea typeface="Roboto"/>
                <a:cs typeface="Roboto"/>
                <a:sym typeface="Roboto"/>
              </a:rPr>
              <a:t>Виконав студент групи ПП-44 Верещак Богдан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571500" y="481012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C3E50"/>
                </a:solidFill>
                <a:latin typeface="Roboto Slab"/>
                <a:ea typeface="Roboto Slab"/>
                <a:cs typeface="Roboto Slab"/>
                <a:sym typeface="Roboto Slab"/>
              </a:rPr>
              <a:t>Визначення та небезпека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571500" y="1100137"/>
            <a:ext cx="11049000" cy="381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1709725"/>
            <a:ext cx="88848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Електротравма</a:t>
            </a:r>
            <a:r>
              <a:rPr b="0" i="0" lang="en-US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— це місцеві та загальні пошкодження, що виникають в результаті впливу електричного струму великої сили або розряду блискавки.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2571625"/>
            <a:ext cx="86628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B97700"/>
                </a:solidFill>
                <a:latin typeface="Roboto"/>
                <a:ea typeface="Roboto"/>
                <a:cs typeface="Roboto"/>
                <a:sym typeface="Roboto"/>
              </a:rPr>
              <a:t>Судоми м'язів часто унеможливлюють самостійне від'єднання потерпілого від провідника. Будь-яке зволікання призводить до загибелі людини.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04875" y="3424237"/>
            <a:ext cx="4953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Дія струму порушує роботу серцево-судинної системи.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904875" y="3907537"/>
            <a:ext cx="4953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Викликає термічні опіки в місцях контакту ("мітки струму").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904875" y="4605337"/>
            <a:ext cx="4953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Призводить до зупинки дихання та втрати свідомості.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443287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926587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4624387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01775" y="2872975"/>
            <a:ext cx="4646766" cy="348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1002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571500" y="59055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C3E50"/>
                </a:solidFill>
                <a:latin typeface="Roboto Slab"/>
                <a:ea typeface="Roboto Slab"/>
                <a:cs typeface="Roboto Slab"/>
                <a:sym typeface="Roboto Slab"/>
              </a:rPr>
              <a:t>Звільнення від дії струму (до 1000 В)</a:t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571500" y="1209675"/>
            <a:ext cx="11049000" cy="381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904875" y="2290762"/>
            <a:ext cx="4953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Відключення напруги:</a:t>
            </a:r>
            <a:r>
              <a:rPr b="0" i="0" lang="en-US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Найперша дія — вимкнути рубильник або вимикач.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904875" y="3186112"/>
            <a:ext cx="4953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Використання ізоляції:</a:t>
            </a:r>
            <a:r>
              <a:rPr b="0" i="0" lang="en-US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Використовувати суху палицю, дошку, одяг, шапку або діелектричні рукавиці.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904875" y="4081462"/>
            <a:ext cx="4953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Перерізання проводів:</a:t>
            </a:r>
            <a:r>
              <a:rPr b="0" i="0" lang="en-US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Інструментом з ізольованими ручками або сокирою з сухим дерев’яним топорищем.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16" name="Google Shape;116;p15"/>
          <p:cNvPicPr preferRelativeResize="0"/>
          <p:nvPr/>
        </p:nvPicPr>
        <p:blipFill rotWithShape="1">
          <a:blip r:embed="rId4">
            <a:alphaModFix/>
          </a:blip>
          <a:srcRect b="2025" l="0" r="0" t="2015"/>
          <a:stretch/>
        </p:blipFill>
        <p:spPr>
          <a:xfrm>
            <a:off x="6343650" y="2109787"/>
            <a:ext cx="5267325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309812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205162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100512"/>
            <a:ext cx="1143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6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571500" y="59055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C3E50"/>
                </a:solidFill>
                <a:latin typeface="Roboto Slab"/>
                <a:ea typeface="Roboto Slab"/>
                <a:cs typeface="Roboto Slab"/>
                <a:sym typeface="Roboto Slab"/>
              </a:rPr>
              <a:t>Заходи власної безпеки</a:t>
            </a:r>
            <a:endParaRPr/>
          </a:p>
        </p:txBody>
      </p:sp>
      <p:sp>
        <p:nvSpPr>
          <p:cNvPr id="126" name="Google Shape;126;p16"/>
          <p:cNvSpPr/>
          <p:nvPr/>
        </p:nvSpPr>
        <p:spPr>
          <a:xfrm>
            <a:off x="571500" y="1209675"/>
            <a:ext cx="11049000" cy="381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921150" y="1628775"/>
            <a:ext cx="9048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b="1" i="0" lang="en-US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При відтягуванні за одяг:</a:t>
            </a:r>
            <a:r>
              <a:rPr b="0" i="0" lang="en-US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Уникати дотику до металевих предметів та відкритих частин тіла потерпілого.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921150" y="2476500"/>
            <a:ext cx="9048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b="1" i="0" lang="en-US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Захист ніг:</a:t>
            </a:r>
            <a:r>
              <a:rPr b="0" i="0" lang="en-US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Не можна торкатися взуття потерпілого (може бути сирим).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921150" y="3019425"/>
            <a:ext cx="9048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b="1" i="0" lang="en-US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Самоізоляція:</a:t>
            </a:r>
            <a:r>
              <a:rPr b="0" i="0" lang="en-US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Слід стати на гумовий килимок або суху дошку.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921150" y="3562350"/>
            <a:ext cx="9048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b="1" i="0" lang="en-US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Захист рук:</a:t>
            </a:r>
            <a:r>
              <a:rPr b="0" i="0" lang="en-US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Обмотати руки шарфом або натягнути рукав піджака, якщо немає спеціальних рукавиць.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024062"/>
            <a:ext cx="3492549" cy="396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799" y="2024062"/>
            <a:ext cx="3492549" cy="396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8099" y="2024062"/>
            <a:ext cx="3492549" cy="396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 txBox="1"/>
          <p:nvPr/>
        </p:nvSpPr>
        <p:spPr>
          <a:xfrm>
            <a:off x="571500" y="59055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C3E50"/>
                </a:solidFill>
                <a:latin typeface="Roboto Slab"/>
                <a:ea typeface="Roboto Slab"/>
                <a:cs typeface="Roboto Slab"/>
                <a:sym typeface="Roboto Slab"/>
              </a:rPr>
              <a:t>Класифікація станів потерпілого</a:t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571500" y="1209675"/>
            <a:ext cx="11049000" cy="381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 txBox="1"/>
          <p:nvPr/>
        </p:nvSpPr>
        <p:spPr>
          <a:xfrm>
            <a:off x="704213" y="3071812"/>
            <a:ext cx="3227122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C3E50"/>
                </a:solidFill>
                <a:latin typeface="Roboto Slab"/>
                <a:ea typeface="Roboto Slab"/>
                <a:cs typeface="Roboto Slab"/>
                <a:sym typeface="Roboto Slab"/>
              </a:rPr>
              <a:t>I Стан</a:t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781050" y="3567112"/>
            <a:ext cx="3073449" cy="190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781050" y="3967162"/>
            <a:ext cx="3073500" cy="15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При свідомості.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Забезпечити спокій, спостереження 2-3 години, обов'язковий виклик лікаря.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4" name="Google Shape;144;p17"/>
          <p:cNvSpPr txBox="1"/>
          <p:nvPr/>
        </p:nvSpPr>
        <p:spPr>
          <a:xfrm>
            <a:off x="4482513" y="3071812"/>
            <a:ext cx="3227122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57F17"/>
                </a:solidFill>
                <a:latin typeface="Roboto Slab"/>
                <a:ea typeface="Roboto Slab"/>
                <a:cs typeface="Roboto Slab"/>
                <a:sym typeface="Roboto Slab"/>
              </a:rPr>
              <a:t>II Стан</a:t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4559349" y="3567112"/>
            <a:ext cx="3073449" cy="19050"/>
          </a:xfrm>
          <a:prstGeom prst="rect">
            <a:avLst/>
          </a:prstGeom>
          <a:solidFill>
            <a:srgbClr val="FFE0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 txBox="1"/>
          <p:nvPr/>
        </p:nvSpPr>
        <p:spPr>
          <a:xfrm>
            <a:off x="4559349" y="3967162"/>
            <a:ext cx="3073500" cy="15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Непритомний, дихає.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Покласти горизонтально, розстебнути тісний одяг, дати нашатирний спирт.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7" name="Google Shape;147;p17"/>
          <p:cNvSpPr txBox="1"/>
          <p:nvPr/>
        </p:nvSpPr>
        <p:spPr>
          <a:xfrm>
            <a:off x="8260812" y="3071812"/>
            <a:ext cx="3227122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62828"/>
                </a:solidFill>
                <a:latin typeface="Roboto Slab"/>
                <a:ea typeface="Roboto Slab"/>
                <a:cs typeface="Roboto Slab"/>
                <a:sym typeface="Roboto Slab"/>
              </a:rPr>
              <a:t>III Стан</a:t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8337649" y="3567112"/>
            <a:ext cx="3073449" cy="19050"/>
          </a:xfrm>
          <a:prstGeom prst="rect">
            <a:avLst/>
          </a:prstGeom>
          <a:solidFill>
            <a:srgbClr val="EF9A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 txBox="1"/>
          <p:nvPr/>
        </p:nvSpPr>
        <p:spPr>
          <a:xfrm>
            <a:off x="8337649" y="3967162"/>
            <a:ext cx="3073500" cy="1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Не дихає / уривчасто.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Негайно почати штучне дихання та непрямий масаж серця.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4" name="Google Shape;15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157412"/>
            <a:ext cx="5286375" cy="3695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157412"/>
            <a:ext cx="5286375" cy="3695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 txBox="1"/>
          <p:nvPr/>
        </p:nvSpPr>
        <p:spPr>
          <a:xfrm>
            <a:off x="571500" y="59055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C3E50"/>
                </a:solidFill>
                <a:latin typeface="Roboto Slab"/>
                <a:ea typeface="Roboto Slab"/>
                <a:cs typeface="Roboto Slab"/>
                <a:sym typeface="Roboto Slab"/>
              </a:rPr>
              <a:t>Послідовність дій (Домедична допомога)</a:t>
            </a:r>
            <a:endParaRPr/>
          </a:p>
        </p:txBody>
      </p:sp>
      <p:sp>
        <p:nvSpPr>
          <p:cNvPr id="158" name="Google Shape;158;p18"/>
          <p:cNvSpPr/>
          <p:nvPr/>
        </p:nvSpPr>
        <p:spPr>
          <a:xfrm>
            <a:off x="571500" y="1209675"/>
            <a:ext cx="11049000" cy="381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 txBox="1"/>
          <p:nvPr/>
        </p:nvSpPr>
        <p:spPr>
          <a:xfrm>
            <a:off x="849391" y="2547937"/>
            <a:ext cx="4730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Першочергові кроки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962025" y="3043237"/>
            <a:ext cx="45053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 txBox="1"/>
          <p:nvPr/>
        </p:nvSpPr>
        <p:spPr>
          <a:xfrm>
            <a:off x="6612016" y="2547937"/>
            <a:ext cx="4730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Медичне втручання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6724650" y="3043237"/>
            <a:ext cx="45053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 txBox="1"/>
          <p:nvPr/>
        </p:nvSpPr>
        <p:spPr>
          <a:xfrm>
            <a:off x="1047750" y="3252775"/>
            <a:ext cx="200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4495E"/>
                </a:solidFill>
                <a:latin typeface="Roboto"/>
                <a:ea typeface="Roboto"/>
                <a:cs typeface="Roboto"/>
                <a:sym typeface="Roboto"/>
              </a:rPr>
              <a:t>1.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1247775" y="3252787"/>
            <a:ext cx="4219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Переконатися у відсутності небезпеки для себе.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5" name="Google Shape;165;p18"/>
          <p:cNvSpPr txBox="1"/>
          <p:nvPr/>
        </p:nvSpPr>
        <p:spPr>
          <a:xfrm>
            <a:off x="1047750" y="4033825"/>
            <a:ext cx="200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4495E"/>
                </a:solidFill>
                <a:latin typeface="Roboto"/>
                <a:ea typeface="Roboto"/>
                <a:cs typeface="Roboto"/>
                <a:sym typeface="Roboto"/>
              </a:rPr>
              <a:t>2.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1247775" y="4033837"/>
            <a:ext cx="4219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Припинити дію струму на потерпілого.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7" name="Google Shape;167;p18"/>
          <p:cNvSpPr txBox="1"/>
          <p:nvPr/>
        </p:nvSpPr>
        <p:spPr>
          <a:xfrm>
            <a:off x="1047750" y="4510075"/>
            <a:ext cx="200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4495E"/>
                </a:solidFill>
                <a:latin typeface="Roboto"/>
                <a:ea typeface="Roboto"/>
                <a:cs typeface="Roboto"/>
                <a:sym typeface="Roboto"/>
              </a:rPr>
              <a:t>3.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1247775" y="4510087"/>
            <a:ext cx="4219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Провести огляд (свідомість, дихання).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9" name="Google Shape;169;p18"/>
          <p:cNvSpPr txBox="1"/>
          <p:nvPr/>
        </p:nvSpPr>
        <p:spPr>
          <a:xfrm>
            <a:off x="1047750" y="4986325"/>
            <a:ext cx="200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4495E"/>
                </a:solidFill>
                <a:latin typeface="Roboto"/>
                <a:ea typeface="Roboto"/>
                <a:cs typeface="Roboto"/>
                <a:sym typeface="Roboto"/>
              </a:rPr>
              <a:t>4.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1247775" y="4986337"/>
            <a:ext cx="4219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Викликати бригаду ЕМД (103).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1" name="Google Shape;171;p18"/>
          <p:cNvSpPr txBox="1"/>
          <p:nvPr/>
        </p:nvSpPr>
        <p:spPr>
          <a:xfrm>
            <a:off x="6810375" y="3252775"/>
            <a:ext cx="200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4495E"/>
                </a:solidFill>
                <a:latin typeface="Roboto"/>
                <a:ea typeface="Roboto"/>
                <a:cs typeface="Roboto"/>
                <a:sym typeface="Roboto"/>
              </a:rPr>
              <a:t>1.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7010400" y="3252787"/>
            <a:ext cx="4219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Почати СЛР (якщо дихання відсутнє).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3" name="Google Shape;173;p18"/>
          <p:cNvSpPr txBox="1"/>
          <p:nvPr/>
        </p:nvSpPr>
        <p:spPr>
          <a:xfrm>
            <a:off x="6810375" y="3729025"/>
            <a:ext cx="200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4495E"/>
                </a:solidFill>
                <a:latin typeface="Roboto"/>
                <a:ea typeface="Roboto"/>
                <a:cs typeface="Roboto"/>
                <a:sym typeface="Roboto"/>
              </a:rPr>
              <a:t>2.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7010400" y="3729037"/>
            <a:ext cx="4219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Надати стабільного положення (якщо без свідомості, але дихає).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5" name="Google Shape;175;p18"/>
          <p:cNvSpPr txBox="1"/>
          <p:nvPr/>
        </p:nvSpPr>
        <p:spPr>
          <a:xfrm>
            <a:off x="6810375" y="4510075"/>
            <a:ext cx="200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4495E"/>
                </a:solidFill>
                <a:latin typeface="Roboto"/>
                <a:ea typeface="Roboto"/>
                <a:cs typeface="Roboto"/>
                <a:sym typeface="Roboto"/>
              </a:rPr>
              <a:t>3.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7010400" y="4510087"/>
            <a:ext cx="4219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Накласти чисті пов’язки на опіки.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7" name="Google Shape;177;p18"/>
          <p:cNvSpPr txBox="1"/>
          <p:nvPr/>
        </p:nvSpPr>
        <p:spPr>
          <a:xfrm>
            <a:off x="6810375" y="4986325"/>
            <a:ext cx="200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4495E"/>
                </a:solidFill>
                <a:latin typeface="Roboto"/>
                <a:ea typeface="Roboto"/>
                <a:cs typeface="Roboto"/>
                <a:sym typeface="Roboto"/>
              </a:rPr>
              <a:t>4.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7010400" y="4986337"/>
            <a:ext cx="4219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Постійний нагляд до приїзду лікарів.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3" name="Google Shape;18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1002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 txBox="1"/>
          <p:nvPr/>
        </p:nvSpPr>
        <p:spPr>
          <a:xfrm>
            <a:off x="571500" y="59055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C3E50"/>
                </a:solidFill>
                <a:latin typeface="Roboto Slab"/>
                <a:ea typeface="Roboto Slab"/>
                <a:cs typeface="Roboto Slab"/>
                <a:sym typeface="Roboto Slab"/>
              </a:rPr>
              <a:t>Віддалені наслідки</a:t>
            </a:r>
            <a:endParaRPr/>
          </a:p>
        </p:txBody>
      </p:sp>
      <p:sp>
        <p:nvSpPr>
          <p:cNvPr id="186" name="Google Shape;186;p19"/>
          <p:cNvSpPr/>
          <p:nvPr/>
        </p:nvSpPr>
        <p:spPr>
          <a:xfrm>
            <a:off x="571500" y="1209675"/>
            <a:ext cx="11049000" cy="381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 txBox="1"/>
          <p:nvPr/>
        </p:nvSpPr>
        <p:spPr>
          <a:xfrm>
            <a:off x="571500" y="2290762"/>
            <a:ext cx="5286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Навіть якщо потерпілий прийшов до тями: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8" name="Google Shape;188;p19"/>
          <p:cNvSpPr txBox="1"/>
          <p:nvPr/>
        </p:nvSpPr>
        <p:spPr>
          <a:xfrm>
            <a:off x="904875" y="2833687"/>
            <a:ext cx="4953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Заборонено відпускати додому або до роботи!</a:t>
            </a:r>
            <a:endParaRPr b="1" sz="1300">
              <a:solidFill>
                <a:schemeClr val="dk1"/>
              </a:solidFill>
            </a:endParaRPr>
          </a:p>
        </p:txBody>
      </p:sp>
      <p:sp>
        <p:nvSpPr>
          <p:cNvPr id="189" name="Google Shape;189;p19"/>
          <p:cNvSpPr txBox="1"/>
          <p:nvPr/>
        </p:nvSpPr>
        <p:spPr>
          <a:xfrm>
            <a:off x="904875" y="3359348"/>
            <a:ext cx="4953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Наслідки дії струму можуть проявитися через кілька годин.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0" name="Google Shape;190;p19"/>
          <p:cNvSpPr txBox="1"/>
          <p:nvPr/>
        </p:nvSpPr>
        <p:spPr>
          <a:xfrm>
            <a:off x="904875" y="4159448"/>
            <a:ext cx="4953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Можлива раптова зупинка серця або спазм судин.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1" name="Google Shape;191;p19"/>
          <p:cNvSpPr txBox="1"/>
          <p:nvPr/>
        </p:nvSpPr>
        <p:spPr>
          <a:xfrm>
            <a:off x="904875" y="4654748"/>
            <a:ext cx="4953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Обов’язкова госпіталізація для клінічного спостереження.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image.png" id="192" name="Google Shape;19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43650" y="2109787"/>
            <a:ext cx="5267325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852737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378398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178498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673798"/>
            <a:ext cx="1143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